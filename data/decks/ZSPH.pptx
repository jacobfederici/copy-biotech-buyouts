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Sheet1!$A$2:$A$80</c:f>
              <c:strCache>
                <c:ptCount val="79"/>
                <c:pt idx="0">
                  <c:v>Jun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Aug '14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Sep '14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Nov '14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Jan '15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Feb '15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Apr '15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May '15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Jul '15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Sep '15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'15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Dec '15</c:v>
                </c:pt>
                <c:pt idx="78">
                  <c:v/>
                </c:pt>
              </c:strCache>
            </c:strRef>
          </c:cat>
          <c:val>
            <c:numRef>
              <c:f>Sheet1!$B$2:$B$80</c:f>
              <c:numCache>
                <c:formatCode>General</c:formatCode>
                <c:ptCount val="79"/>
                <c:pt idx="0">
                  <c:v>28.5</c:v>
                </c:pt>
                <c:pt idx="1">
                  <c:v>27.15</c:v>
                </c:pt>
                <c:pt idx="2">
                  <c:v>28.69</c:v>
                </c:pt>
                <c:pt idx="3">
                  <c:v>29.49</c:v>
                </c:pt>
                <c:pt idx="4">
                  <c:v>29.48</c:v>
                </c:pt>
                <c:pt idx="5">
                  <c:v>28.85</c:v>
                </c:pt>
                <c:pt idx="6">
                  <c:v>27.49</c:v>
                </c:pt>
                <c:pt idx="7">
                  <c:v>28.15</c:v>
                </c:pt>
                <c:pt idx="8">
                  <c:v>29.9</c:v>
                </c:pt>
                <c:pt idx="9">
                  <c:v>32.56</c:v>
                </c:pt>
                <c:pt idx="10">
                  <c:v>40.29</c:v>
                </c:pt>
                <c:pt idx="11">
                  <c:v>38.97</c:v>
                </c:pt>
                <c:pt idx="12">
                  <c:v>39.5</c:v>
                </c:pt>
                <c:pt idx="13">
                  <c:v>36.03</c:v>
                </c:pt>
                <c:pt idx="14">
                  <c:v>37.35</c:v>
                </c:pt>
                <c:pt idx="15">
                  <c:v>38.55</c:v>
                </c:pt>
                <c:pt idx="16">
                  <c:v>35.76</c:v>
                </c:pt>
                <c:pt idx="17">
                  <c:v>34.68</c:v>
                </c:pt>
                <c:pt idx="18">
                  <c:v>33.47</c:v>
                </c:pt>
                <c:pt idx="19">
                  <c:v>37.62</c:v>
                </c:pt>
                <c:pt idx="20">
                  <c:v>36.16</c:v>
                </c:pt>
                <c:pt idx="21">
                  <c:v>38.17</c:v>
                </c:pt>
                <c:pt idx="22">
                  <c:v>40.75</c:v>
                </c:pt>
                <c:pt idx="23">
                  <c:v>42.96</c:v>
                </c:pt>
                <c:pt idx="24">
                  <c:v>45.93</c:v>
                </c:pt>
                <c:pt idx="25">
                  <c:v>48.58</c:v>
                </c:pt>
                <c:pt idx="26">
                  <c:v>44.47</c:v>
                </c:pt>
                <c:pt idx="27">
                  <c:v>43.61</c:v>
                </c:pt>
                <c:pt idx="28">
                  <c:v>45.12</c:v>
                </c:pt>
                <c:pt idx="29">
                  <c:v>41.02</c:v>
                </c:pt>
                <c:pt idx="30">
                  <c:v>42.51</c:v>
                </c:pt>
                <c:pt idx="31">
                  <c:v>46.0</c:v>
                </c:pt>
                <c:pt idx="32">
                  <c:v>44.93</c:v>
                </c:pt>
                <c:pt idx="33">
                  <c:v>45.7</c:v>
                </c:pt>
                <c:pt idx="34">
                  <c:v>46.77</c:v>
                </c:pt>
                <c:pt idx="35">
                  <c:v>50.51</c:v>
                </c:pt>
                <c:pt idx="36">
                  <c:v>49.47</c:v>
                </c:pt>
                <c:pt idx="37">
                  <c:v>48.42</c:v>
                </c:pt>
                <c:pt idx="38">
                  <c:v>47.24</c:v>
                </c:pt>
                <c:pt idx="39">
                  <c:v>49.38</c:v>
                </c:pt>
                <c:pt idx="40">
                  <c:v>40.93</c:v>
                </c:pt>
                <c:pt idx="41">
                  <c:v>41.64</c:v>
                </c:pt>
                <c:pt idx="42">
                  <c:v>43.0</c:v>
                </c:pt>
                <c:pt idx="43">
                  <c:v>40.53</c:v>
                </c:pt>
                <c:pt idx="44">
                  <c:v>40.97</c:v>
                </c:pt>
                <c:pt idx="45">
                  <c:v>39.01</c:v>
                </c:pt>
                <c:pt idx="46">
                  <c:v>48.75</c:v>
                </c:pt>
                <c:pt idx="47">
                  <c:v>49.05</c:v>
                </c:pt>
                <c:pt idx="48">
                  <c:v>57.94</c:v>
                </c:pt>
                <c:pt idx="49">
                  <c:v>58.5</c:v>
                </c:pt>
                <c:pt idx="50">
                  <c:v>57.98</c:v>
                </c:pt>
                <c:pt idx="51">
                  <c:v>54.69</c:v>
                </c:pt>
                <c:pt idx="52">
                  <c:v>54.1</c:v>
                </c:pt>
                <c:pt idx="53">
                  <c:v>51.49</c:v>
                </c:pt>
                <c:pt idx="54">
                  <c:v>57.25</c:v>
                </c:pt>
                <c:pt idx="55">
                  <c:v>58.93</c:v>
                </c:pt>
                <c:pt idx="56">
                  <c:v>63.84</c:v>
                </c:pt>
                <c:pt idx="57">
                  <c:v>61.16</c:v>
                </c:pt>
                <c:pt idx="58">
                  <c:v>59.73</c:v>
                </c:pt>
                <c:pt idx="59">
                  <c:v>56.51</c:v>
                </c:pt>
                <c:pt idx="60">
                  <c:v>50.23</c:v>
                </c:pt>
                <c:pt idx="61">
                  <c:v>49.5</c:v>
                </c:pt>
                <c:pt idx="62">
                  <c:v>52.32</c:v>
                </c:pt>
                <c:pt idx="63">
                  <c:v>54.78</c:v>
                </c:pt>
                <c:pt idx="64">
                  <c:v>76.99</c:v>
                </c:pt>
                <c:pt idx="65">
                  <c:v>73.43</c:v>
                </c:pt>
                <c:pt idx="66">
                  <c:v>65.64</c:v>
                </c:pt>
                <c:pt idx="67">
                  <c:v>74.34</c:v>
                </c:pt>
                <c:pt idx="68">
                  <c:v>66.89</c:v>
                </c:pt>
                <c:pt idx="69">
                  <c:v>65.09</c:v>
                </c:pt>
                <c:pt idx="70">
                  <c:v>65.45</c:v>
                </c:pt>
                <c:pt idx="71">
                  <c:v>65.01</c:v>
                </c:pt>
                <c:pt idx="72">
                  <c:v>89.04</c:v>
                </c:pt>
                <c:pt idx="73">
                  <c:v>89.56</c:v>
                </c:pt>
                <c:pt idx="74">
                  <c:v>89.98</c:v>
                </c:pt>
                <c:pt idx="75">
                  <c:v>89.99</c:v>
                </c:pt>
                <c:pt idx="76">
                  <c:v>89.69</c:v>
                </c:pt>
                <c:pt idx="77">
                  <c:v>89.84</c:v>
                </c:pt>
                <c:pt idx="78">
                  <c:v>89.98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Sheet1!$A$2:$A$80</c:f>
              <c:strCache>
                <c:ptCount val="79"/>
                <c:pt idx="0">
                  <c:v>Jun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Aug '14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Sep '14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Nov '14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Jan '15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Feb '15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Apr '15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May '15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Jul '15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Sep '15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'15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Dec '15</c:v>
                </c:pt>
                <c:pt idx="78">
                  <c:v/>
                </c:pt>
              </c:strCache>
            </c:strRef>
          </c:cat>
          <c:val>
            <c:numRef>
              <c:f>Sheet1!$C$2:$C$80</c:f>
              <c:numCache>
                <c:formatCode>General</c:formatCode>
                <c:ptCount val="79"/>
                <c:pt idx="9">
                  <c:v>32.56</c:v>
                </c:pt>
                <c:pt idx="45">
                  <c:v>39.01</c:v>
                </c:pt>
                <c:pt idx="63">
                  <c:v>54.78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Sheet1!$A$2:$A$80</c:f>
              <c:strCache>
                <c:ptCount val="79"/>
                <c:pt idx="0">
                  <c:v>Jun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Aug '14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Sep '14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Nov '14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Jan '15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Feb '15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Apr '15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May '15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Jul '15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Sep '15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'15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Dec '15</c:v>
                </c:pt>
                <c:pt idx="78">
                  <c:v/>
                </c:pt>
              </c:strCache>
            </c:strRef>
          </c:cat>
          <c:val>
            <c:numRef>
              <c:f>Sheet1!$D$2:$D$80</c:f>
              <c:numCache>
                <c:formatCode>General</c:formatCode>
                <c:ptCount val="79"/>
                <c:pt idx="72">
                  <c:v>89.04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ZS Pharma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ZSPH  ·  acquired by AstraZeneca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Nov 06, 2015   ·   Closed Dec 17, 2015   ·   Status: completed   ·   Pre-ann. volume 1.04×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ZS Pharma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ZS Pharma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4516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3076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439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62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055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647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178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363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893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163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941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656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310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8414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372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9030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7418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2726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1349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Dec 2015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26, 2015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ZS Pharma submits New Drug Application (NDA) to the FDA for…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18, 2015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ZS Pharma receives an unsolicited non-binding proposal from…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04, 2015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increases its proposal to $89.00 per share.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07, 2015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ZS Pharma Board authorizes a market check; Goldman Sachs is…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10, 2015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Media reports of a $2.5 billion offer from Party A lead to…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11, 2015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CEO Pascal Soriot meets with ZS Pharma CEO…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17, 2015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submits a proposal at $92.50 per share.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18, 2015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submits a proposal at $91.00 per share.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13, 2015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revises proposal to $93.00 per share.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22, 2015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withdraws from the process.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29, 2015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lowers offer to $83.00 cash + $12.00 CVR due to…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03, 2015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returns with a $87.00 proposal contingent on FDA…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04, 2015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increases proposal to $90.00 but refuses to accept…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05, 2015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increases final offer to $90.00 all-cash and…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06, 2015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is publicly announced before market open.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17, 2015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amended to accelerate vesting of all…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18, 2015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16, 2015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17, 2015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ZS Pharma becomes a wholly owned…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19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ZS Pharma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3 unexplained pre-announcement move weeks (of 4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2015-09-11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+40%  ($54.78→$76.99)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56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2015-05-08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($39.01→$48.75)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182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2014-08-29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($32.56→$40.29)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434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ZS Pharma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2015-07-29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ZS Pharma Announces FDA Acceptance of ZS-9 New Drug 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2015-08-06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ZS Pharma Reports Second Quarter 2015 Financial Results and Provides Corporate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2015-10-19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ZS Pharma Announces Upcoming Poster Presentation of Interim Results From Its Long-Term Safety Study of ZS-9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2015-11-07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ZS Pharma Announces Positive Interim Results From a Long-Term Safety Study of ZS-9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