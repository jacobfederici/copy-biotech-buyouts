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Sheet1!$A$2:$A$109</c:f>
              <c:strCache>
                <c:ptCount val="108"/>
                <c:pt idx="0">
                  <c:v>Jan '16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Mar '16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>May '16</c:v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>Jul '16</c:v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>Sep '16</c:v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>Nov '16</c:v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>Jan '17</c:v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>Mar '17</c:v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>May '17</c:v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>Jul '17</c:v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Sep '17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>Dec '17</c:v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</c:strCache>
            </c:strRef>
          </c:cat>
          <c:val>
            <c:numRef>
              <c:f>Sheet1!$B$2:$B$109</c:f>
              <c:numCache>
                <c:formatCode>General</c:formatCode>
                <c:ptCount val="108"/>
                <c:pt idx="0">
                  <c:v>28.0</c:v>
                </c:pt>
                <c:pt idx="1">
                  <c:v>24.7</c:v>
                </c:pt>
                <c:pt idx="2">
                  <c:v>27.89</c:v>
                </c:pt>
                <c:pt idx="3">
                  <c:v>24.88</c:v>
                </c:pt>
                <c:pt idx="4">
                  <c:v>25.76</c:v>
                </c:pt>
                <c:pt idx="5">
                  <c:v>25.01</c:v>
                </c:pt>
                <c:pt idx="6">
                  <c:v>31.1</c:v>
                </c:pt>
                <c:pt idx="7">
                  <c:v>32.98</c:v>
                </c:pt>
                <c:pt idx="8">
                  <c:v>33.49</c:v>
                </c:pt>
                <c:pt idx="9">
                  <c:v>32.56</c:v>
                </c:pt>
                <c:pt idx="10">
                  <c:v>38.01</c:v>
                </c:pt>
                <c:pt idx="11">
                  <c:v>35.0</c:v>
                </c:pt>
                <c:pt idx="12">
                  <c:v>35.36</c:v>
                </c:pt>
                <c:pt idx="13">
                  <c:v>35.7</c:v>
                </c:pt>
                <c:pt idx="14">
                  <c:v>34.85</c:v>
                </c:pt>
                <c:pt idx="15">
                  <c:v>34.37</c:v>
                </c:pt>
                <c:pt idx="16">
                  <c:v>34.72</c:v>
                </c:pt>
                <c:pt idx="17">
                  <c:v>30.8</c:v>
                </c:pt>
                <c:pt idx="18">
                  <c:v>28.22</c:v>
                </c:pt>
                <c:pt idx="19">
                  <c:v>27.87</c:v>
                </c:pt>
                <c:pt idx="20">
                  <c:v>28.99</c:v>
                </c:pt>
                <c:pt idx="21">
                  <c:v>30.49</c:v>
                </c:pt>
                <c:pt idx="22">
                  <c:v>31.26</c:v>
                </c:pt>
                <c:pt idx="23">
                  <c:v>28.5</c:v>
                </c:pt>
                <c:pt idx="24">
                  <c:v>28.43</c:v>
                </c:pt>
                <c:pt idx="25">
                  <c:v>30.65</c:v>
                </c:pt>
                <c:pt idx="26">
                  <c:v>30.72</c:v>
                </c:pt>
                <c:pt idx="27">
                  <c:v>30.71</c:v>
                </c:pt>
                <c:pt idx="28">
                  <c:v>30.51</c:v>
                </c:pt>
                <c:pt idx="29">
                  <c:v>31.29</c:v>
                </c:pt>
                <c:pt idx="30">
                  <c:v>31.14</c:v>
                </c:pt>
                <c:pt idx="31">
                  <c:v>32.06</c:v>
                </c:pt>
                <c:pt idx="32">
                  <c:v>32.72</c:v>
                </c:pt>
                <c:pt idx="33">
                  <c:v>33.26</c:v>
                </c:pt>
                <c:pt idx="34">
                  <c:v>34.63</c:v>
                </c:pt>
                <c:pt idx="35">
                  <c:v>34.78</c:v>
                </c:pt>
                <c:pt idx="36">
                  <c:v>36.93</c:v>
                </c:pt>
                <c:pt idx="37">
                  <c:v>38.55</c:v>
                </c:pt>
                <c:pt idx="38">
                  <c:v>38.08</c:v>
                </c:pt>
                <c:pt idx="39">
                  <c:v>38.79</c:v>
                </c:pt>
                <c:pt idx="40">
                  <c:v>38.15</c:v>
                </c:pt>
                <c:pt idx="41">
                  <c:v>38.39</c:v>
                </c:pt>
                <c:pt idx="42">
                  <c:v>36.31</c:v>
                </c:pt>
                <c:pt idx="43">
                  <c:v>35.39</c:v>
                </c:pt>
                <c:pt idx="44">
                  <c:v>36.4</c:v>
                </c:pt>
                <c:pt idx="45">
                  <c:v>35.98</c:v>
                </c:pt>
                <c:pt idx="46">
                  <c:v>33.91</c:v>
                </c:pt>
                <c:pt idx="47">
                  <c:v>29.64</c:v>
                </c:pt>
                <c:pt idx="48">
                  <c:v>30.14</c:v>
                </c:pt>
                <c:pt idx="49">
                  <c:v>27.59</c:v>
                </c:pt>
                <c:pt idx="50">
                  <c:v>24.07</c:v>
                </c:pt>
                <c:pt idx="51">
                  <c:v>26.76</c:v>
                </c:pt>
                <c:pt idx="52">
                  <c:v>27.51</c:v>
                </c:pt>
                <c:pt idx="53">
                  <c:v>29.12</c:v>
                </c:pt>
                <c:pt idx="54">
                  <c:v>28.61</c:v>
                </c:pt>
                <c:pt idx="55">
                  <c:v>31.5</c:v>
                </c:pt>
                <c:pt idx="56">
                  <c:v>34.25</c:v>
                </c:pt>
                <c:pt idx="57">
                  <c:v>37.16</c:v>
                </c:pt>
                <c:pt idx="58">
                  <c:v>36.14</c:v>
                </c:pt>
                <c:pt idx="59">
                  <c:v>36.96</c:v>
                </c:pt>
                <c:pt idx="60">
                  <c:v>38.43</c:v>
                </c:pt>
                <c:pt idx="61">
                  <c:v>37.95</c:v>
                </c:pt>
                <c:pt idx="62">
                  <c:v>37.11</c:v>
                </c:pt>
                <c:pt idx="63">
                  <c:v>38.98</c:v>
                </c:pt>
                <c:pt idx="64">
                  <c:v>39.86</c:v>
                </c:pt>
                <c:pt idx="65">
                  <c:v>39.33</c:v>
                </c:pt>
                <c:pt idx="66">
                  <c:v>37.42</c:v>
                </c:pt>
                <c:pt idx="67">
                  <c:v>36.95</c:v>
                </c:pt>
                <c:pt idx="68">
                  <c:v>38.0</c:v>
                </c:pt>
                <c:pt idx="69">
                  <c:v>37.78</c:v>
                </c:pt>
                <c:pt idx="70">
                  <c:v>36.03</c:v>
                </c:pt>
                <c:pt idx="71">
                  <c:v>36.56</c:v>
                </c:pt>
                <c:pt idx="72">
                  <c:v>38.9</c:v>
                </c:pt>
                <c:pt idx="73">
                  <c:v>35.54</c:v>
                </c:pt>
                <c:pt idx="74">
                  <c:v>36.65</c:v>
                </c:pt>
                <c:pt idx="75">
                  <c:v>37.0</c:v>
                </c:pt>
                <c:pt idx="76">
                  <c:v>39.89</c:v>
                </c:pt>
                <c:pt idx="77">
                  <c:v>39.04</c:v>
                </c:pt>
                <c:pt idx="78">
                  <c:v>38.43</c:v>
                </c:pt>
                <c:pt idx="79">
                  <c:v>39.88</c:v>
                </c:pt>
                <c:pt idx="80">
                  <c:v>41.39</c:v>
                </c:pt>
                <c:pt idx="81">
                  <c:v>47.2</c:v>
                </c:pt>
                <c:pt idx="82">
                  <c:v>49.12</c:v>
                </c:pt>
                <c:pt idx="83">
                  <c:v>48.91</c:v>
                </c:pt>
                <c:pt idx="84">
                  <c:v>48.42</c:v>
                </c:pt>
                <c:pt idx="85">
                  <c:v>48.66</c:v>
                </c:pt>
                <c:pt idx="86">
                  <c:v>46.72</c:v>
                </c:pt>
                <c:pt idx="87">
                  <c:v>49.68</c:v>
                </c:pt>
                <c:pt idx="88">
                  <c:v>56.47</c:v>
                </c:pt>
                <c:pt idx="89">
                  <c:v>55.05</c:v>
                </c:pt>
                <c:pt idx="90">
                  <c:v>67.62</c:v>
                </c:pt>
                <c:pt idx="91">
                  <c:v>70.71</c:v>
                </c:pt>
                <c:pt idx="92">
                  <c:v>68.69</c:v>
                </c:pt>
                <c:pt idx="93">
                  <c:v>73.56</c:v>
                </c:pt>
                <c:pt idx="94">
                  <c:v>72.91</c:v>
                </c:pt>
                <c:pt idx="95">
                  <c:v>80.99</c:v>
                </c:pt>
                <c:pt idx="96">
                  <c:v>80.98</c:v>
                </c:pt>
                <c:pt idx="97">
                  <c:v>81.2</c:v>
                </c:pt>
                <c:pt idx="98">
                  <c:v>81.22</c:v>
                </c:pt>
                <c:pt idx="99">
                  <c:v>81.34</c:v>
                </c:pt>
                <c:pt idx="100">
                  <c:v>81.6</c:v>
                </c:pt>
                <c:pt idx="101">
                  <c:v>81.53</c:v>
                </c:pt>
                <c:pt idx="102">
                  <c:v>81.6</c:v>
                </c:pt>
                <c:pt idx="103">
                  <c:v>81.62</c:v>
                </c:pt>
                <c:pt idx="104">
                  <c:v>81.85</c:v>
                </c:pt>
                <c:pt idx="105">
                  <c:v>81.84</c:v>
                </c:pt>
                <c:pt idx="106">
                  <c:v>81.99</c:v>
                </c:pt>
                <c:pt idx="107">
                  <c:v>82.27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Sheet1!$A$2:$A$109</c:f>
              <c:strCache>
                <c:ptCount val="108"/>
                <c:pt idx="0">
                  <c:v>Jan '16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Mar '16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>May '16</c:v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>Jul '16</c:v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>Sep '16</c:v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>Nov '16</c:v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>Jan '17</c:v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>Mar '17</c:v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>May '17</c:v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>Jul '17</c:v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Sep '17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>Dec '17</c:v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</c:strCache>
            </c:strRef>
          </c:cat>
          <c:val>
            <c:numRef>
              <c:f>Sheet1!$C$2:$C$109</c:f>
              <c:numCache>
                <c:formatCode>General</c:formatCode>
                <c:ptCount val="108"/>
                <c:pt idx="5">
                  <c:v>25.01</c:v>
                </c:pt>
                <c:pt idx="89">
                  <c:v>55.05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Advanced Accelerator Applications S.A.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AAAP  ·  acquired by Novartis 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-39%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Oct 30, 2017   ·   Closed Jan 22, 2018   ·   Status: completed   ·   Pre-ann. volume 1.28×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Advanced Accelerator Applications S.A.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Advanced Accelerator Applications S.A.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15103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500703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8916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995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7548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16574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1680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98944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7180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5417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38760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50918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3866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023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8787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4866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7024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Jul 2017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Jan 2018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27, 2017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Pascal Touchon of Novartis leaves an unsolicited voicemail…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01, 2017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Novartis expresses preliminary interest in a transaction at…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02, 2017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Novartis submits a formal non-binding indication of…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09, 2017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AAA Transaction Committee rejects the $62.50 offer as…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22, 2017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AAA and Novartis sign a Confidentiality and Standstill…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05, 2017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Management meeting held in Geneva, Switzerland.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21, 2017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Novartis submits a revised proposal of $75.00 per ADS.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24, 2017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AAA Board rejects the $75.00 offer but agrees to provide…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27, 2017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Bloomberg reports on potential deal discussions between the…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14, 2017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Novartis verbally offers $80.00 per ADS; AAA counters at…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16, 2017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Novartis submits a 'best and final' offer of $82.00 per ADS.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28, 2017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AAA and Novartis execute the Memorandum of Understanding.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30, 2017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Public announcement of the transaction.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04, 2017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HSR waiting period expires.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05, 2017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AAA Board unanimously recommends the offer to shareholders.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07, 2017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Novartis formally commences the tender offer.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16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Advanced Accelerator Applications S.A.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2 unexplained pre-announcement move weeks (of 2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2016-02-19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+24%  ($25.01→$31.1)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619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2017-09-29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+23%  ($55.05→$67.62)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31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Advanced Accelerator Applications S.A.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2016-11-23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Advanced Accelerator Applications to Announce Third Quarter and Nine-Month 2016 Financial Results on…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2016-11-28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Advanced Accelerator Applications Reports 15.4% Sales Growth in the Third Quarter of 2016 and Feedback from…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2016-12-08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Advanced Accelerator Applications Announces CMS Pass-Through Reimbursement Code for its First FDA Approved…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2016-12-21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Advanced Accelerator Applications Receives Complete Response Letter from FDA for Lutathera®, an…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2017-01-09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Advanced Accelerator Applications CEO Provides Progress Report on Corporate Developments of 2016; Asserts…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2017-01-12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Advanced Accelerator Applications Announces New England Journal of Medicine Publication of Lutathera®…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2017-03-15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Advanced Accelerator Applications to Announce Full-Year 2016 Financial Results on March 23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2017-07-27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Advanced Accelerator Applications Completes Resubmission of NDA for Lutetium Lu 177 Dotatate (Lutathera®)…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2018-01-26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Advanced Accelerator Applications Receives US FDA Approval for LUTATHERA® for Treatment of…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