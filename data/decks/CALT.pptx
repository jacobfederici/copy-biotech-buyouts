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Sheet1!$A$2:$A$119</c:f>
              <c:strCache>
                <c:ptCount val="118"/>
                <c:pt idx="0">
                  <c:v>Jun '22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Aug '22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Oct '22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Dec '22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Mar '23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May '23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Jul '23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Oct '23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Dec '23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Feb '24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May '24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Jul '24</c:v>
                </c:pt>
                <c:pt idx="111">
                  <c:v/>
                </c:pt>
                <c:pt idx="112">
                  <c:v/>
                </c:pt>
                <c:pt idx="113">
                  <c:v/>
                </c:pt>
                <c:pt idx="114">
                  <c:v/>
                </c:pt>
                <c:pt idx="115">
                  <c:v/>
                </c:pt>
                <c:pt idx="116">
                  <c:v/>
                </c:pt>
                <c:pt idx="117">
                  <c:v/>
                </c:pt>
              </c:strCache>
            </c:strRef>
          </c:cat>
          <c:val>
            <c:numRef>
              <c:f>Sheet1!$B$2:$B$119</c:f>
              <c:numCache>
                <c:formatCode>General</c:formatCode>
                <c:ptCount val="118"/>
                <c:pt idx="0">
                  <c:v>19.17</c:v>
                </c:pt>
                <c:pt idx="1">
                  <c:v>18.66</c:v>
                </c:pt>
                <c:pt idx="2">
                  <c:v>17.82</c:v>
                </c:pt>
                <c:pt idx="3">
                  <c:v>18.95</c:v>
                </c:pt>
                <c:pt idx="4">
                  <c:v>18.36</c:v>
                </c:pt>
                <c:pt idx="5">
                  <c:v>17.06</c:v>
                </c:pt>
                <c:pt idx="6">
                  <c:v>18.12</c:v>
                </c:pt>
                <c:pt idx="7">
                  <c:v>18.2</c:v>
                </c:pt>
                <c:pt idx="8">
                  <c:v>18.65</c:v>
                </c:pt>
                <c:pt idx="9">
                  <c:v>21.59</c:v>
                </c:pt>
                <c:pt idx="10">
                  <c:v>21.9</c:v>
                </c:pt>
                <c:pt idx="11">
                  <c:v>16.13</c:v>
                </c:pt>
                <c:pt idx="12">
                  <c:v>16.01</c:v>
                </c:pt>
                <c:pt idx="13">
                  <c:v>15.74</c:v>
                </c:pt>
                <c:pt idx="14">
                  <c:v>16.65</c:v>
                </c:pt>
                <c:pt idx="15">
                  <c:v>15.83</c:v>
                </c:pt>
                <c:pt idx="16">
                  <c:v>14.35</c:v>
                </c:pt>
                <c:pt idx="17">
                  <c:v>15.17</c:v>
                </c:pt>
                <c:pt idx="18">
                  <c:v>15.0</c:v>
                </c:pt>
                <c:pt idx="19">
                  <c:v>15.6</c:v>
                </c:pt>
                <c:pt idx="20">
                  <c:v>12.68</c:v>
                </c:pt>
                <c:pt idx="21">
                  <c:v>14.5</c:v>
                </c:pt>
                <c:pt idx="22">
                  <c:v>14.9</c:v>
                </c:pt>
                <c:pt idx="23">
                  <c:v>15.25</c:v>
                </c:pt>
                <c:pt idx="24">
                  <c:v>15.49</c:v>
                </c:pt>
                <c:pt idx="25">
                  <c:v>17.21</c:v>
                </c:pt>
                <c:pt idx="26">
                  <c:v>18.0</c:v>
                </c:pt>
                <c:pt idx="27">
                  <c:v>18.56</c:v>
                </c:pt>
                <c:pt idx="28">
                  <c:v>19.0</c:v>
                </c:pt>
                <c:pt idx="29">
                  <c:v>17.3</c:v>
                </c:pt>
                <c:pt idx="30">
                  <c:v>17.0</c:v>
                </c:pt>
                <c:pt idx="31">
                  <c:v>17.97</c:v>
                </c:pt>
                <c:pt idx="32">
                  <c:v>19.8</c:v>
                </c:pt>
                <c:pt idx="33">
                  <c:v>19.61</c:v>
                </c:pt>
                <c:pt idx="34">
                  <c:v>19.84</c:v>
                </c:pt>
                <c:pt idx="35">
                  <c:v>18.56</c:v>
                </c:pt>
                <c:pt idx="36">
                  <c:v>17.44</c:v>
                </c:pt>
                <c:pt idx="37">
                  <c:v>18.6</c:v>
                </c:pt>
                <c:pt idx="38">
                  <c:v>18.66</c:v>
                </c:pt>
                <c:pt idx="39">
                  <c:v>19.05</c:v>
                </c:pt>
                <c:pt idx="40">
                  <c:v>16.83</c:v>
                </c:pt>
                <c:pt idx="41">
                  <c:v>24.8</c:v>
                </c:pt>
                <c:pt idx="42">
                  <c:v>22.8</c:v>
                </c:pt>
                <c:pt idx="43">
                  <c:v>23.97</c:v>
                </c:pt>
                <c:pt idx="44">
                  <c:v>23.0</c:v>
                </c:pt>
                <c:pt idx="45">
                  <c:v>24.75</c:v>
                </c:pt>
                <c:pt idx="46">
                  <c:v>24.61</c:v>
                </c:pt>
                <c:pt idx="47">
                  <c:v>23.34</c:v>
                </c:pt>
                <c:pt idx="48">
                  <c:v>25.61</c:v>
                </c:pt>
                <c:pt idx="49">
                  <c:v>24.76</c:v>
                </c:pt>
                <c:pt idx="50">
                  <c:v>19.58</c:v>
                </c:pt>
                <c:pt idx="51">
                  <c:v>17.84</c:v>
                </c:pt>
                <c:pt idx="52">
                  <c:v>17.52</c:v>
                </c:pt>
                <c:pt idx="53">
                  <c:v>17.1</c:v>
                </c:pt>
                <c:pt idx="54">
                  <c:v>18.45</c:v>
                </c:pt>
                <c:pt idx="55">
                  <c:v>17.94</c:v>
                </c:pt>
                <c:pt idx="56">
                  <c:v>15.84</c:v>
                </c:pt>
                <c:pt idx="57">
                  <c:v>16.5</c:v>
                </c:pt>
                <c:pt idx="58">
                  <c:v>16.05</c:v>
                </c:pt>
                <c:pt idx="59">
                  <c:v>16.6</c:v>
                </c:pt>
                <c:pt idx="60">
                  <c:v>18.11</c:v>
                </c:pt>
                <c:pt idx="61">
                  <c:v>17.66</c:v>
                </c:pt>
                <c:pt idx="62">
                  <c:v>19.3</c:v>
                </c:pt>
                <c:pt idx="63">
                  <c:v>16.4</c:v>
                </c:pt>
                <c:pt idx="64">
                  <c:v>16.86</c:v>
                </c:pt>
                <c:pt idx="65">
                  <c:v>16.39</c:v>
                </c:pt>
                <c:pt idx="66">
                  <c:v>15.68</c:v>
                </c:pt>
                <c:pt idx="67">
                  <c:v>15.96</c:v>
                </c:pt>
                <c:pt idx="68">
                  <c:v>18.43</c:v>
                </c:pt>
                <c:pt idx="69">
                  <c:v>18.26</c:v>
                </c:pt>
                <c:pt idx="70">
                  <c:v>18.35</c:v>
                </c:pt>
                <c:pt idx="71">
                  <c:v>17.35</c:v>
                </c:pt>
                <c:pt idx="72">
                  <c:v>17.45</c:v>
                </c:pt>
                <c:pt idx="73">
                  <c:v>16.11</c:v>
                </c:pt>
                <c:pt idx="74">
                  <c:v>16.21</c:v>
                </c:pt>
                <c:pt idx="75">
                  <c:v>16.96</c:v>
                </c:pt>
                <c:pt idx="76">
                  <c:v>17.29</c:v>
                </c:pt>
                <c:pt idx="77">
                  <c:v>18.7</c:v>
                </c:pt>
                <c:pt idx="78">
                  <c:v>17.9</c:v>
                </c:pt>
                <c:pt idx="79">
                  <c:v>18.19</c:v>
                </c:pt>
                <c:pt idx="80">
                  <c:v>22.09</c:v>
                </c:pt>
                <c:pt idx="81">
                  <c:v>27.17</c:v>
                </c:pt>
                <c:pt idx="82">
                  <c:v>25.74</c:v>
                </c:pt>
                <c:pt idx="83">
                  <c:v>23.74</c:v>
                </c:pt>
                <c:pt idx="84">
                  <c:v>25.0</c:v>
                </c:pt>
                <c:pt idx="85">
                  <c:v>23.76</c:v>
                </c:pt>
                <c:pt idx="86">
                  <c:v>22.62</c:v>
                </c:pt>
                <c:pt idx="87">
                  <c:v>20.85</c:v>
                </c:pt>
                <c:pt idx="88">
                  <c:v>21.14</c:v>
                </c:pt>
                <c:pt idx="89">
                  <c:v>21.24</c:v>
                </c:pt>
                <c:pt idx="90">
                  <c:v>20.04</c:v>
                </c:pt>
                <c:pt idx="91">
                  <c:v>21.43</c:v>
                </c:pt>
                <c:pt idx="92">
                  <c:v>22.1</c:v>
                </c:pt>
                <c:pt idx="93">
                  <c:v>22.3</c:v>
                </c:pt>
                <c:pt idx="94">
                  <c:v>21.25</c:v>
                </c:pt>
                <c:pt idx="95">
                  <c:v>21.01</c:v>
                </c:pt>
                <c:pt idx="96">
                  <c:v>21.63</c:v>
                </c:pt>
                <c:pt idx="97">
                  <c:v>19.0</c:v>
                </c:pt>
                <c:pt idx="98">
                  <c:v>18.7</c:v>
                </c:pt>
                <c:pt idx="99">
                  <c:v>19.5</c:v>
                </c:pt>
                <c:pt idx="100">
                  <c:v>20.0</c:v>
                </c:pt>
                <c:pt idx="101">
                  <c:v>20.54</c:v>
                </c:pt>
                <c:pt idx="102">
                  <c:v>22.19</c:v>
                </c:pt>
                <c:pt idx="103">
                  <c:v>22.42</c:v>
                </c:pt>
                <c:pt idx="104">
                  <c:v>39.99</c:v>
                </c:pt>
                <c:pt idx="105">
                  <c:v>39.49</c:v>
                </c:pt>
                <c:pt idx="106">
                  <c:v>38.77</c:v>
                </c:pt>
                <c:pt idx="107">
                  <c:v>38.73</c:v>
                </c:pt>
                <c:pt idx="108">
                  <c:v>38.99</c:v>
                </c:pt>
                <c:pt idx="109">
                  <c:v>39.19</c:v>
                </c:pt>
                <c:pt idx="110">
                  <c:v>39.5</c:v>
                </c:pt>
                <c:pt idx="111">
                  <c:v>38.79</c:v>
                </c:pt>
                <c:pt idx="112">
                  <c:v>38.19</c:v>
                </c:pt>
                <c:pt idx="113">
                  <c:v>38.78</c:v>
                </c:pt>
                <c:pt idx="114">
                  <c:v>39.61</c:v>
                </c:pt>
                <c:pt idx="115">
                  <c:v>39.32</c:v>
                </c:pt>
                <c:pt idx="116">
                  <c:v>40.47</c:v>
                </c:pt>
                <c:pt idx="117">
                  <c:v>40.35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Event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13A88A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Sheet1!$A$2:$A$119</c:f>
              <c:strCache>
                <c:ptCount val="118"/>
                <c:pt idx="0">
                  <c:v>Jun '22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Aug '22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Oct '22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Dec '22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Mar '23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May '23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Jul '23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Oct '23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Dec '23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Feb '24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May '24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Jul '24</c:v>
                </c:pt>
                <c:pt idx="111">
                  <c:v/>
                </c:pt>
                <c:pt idx="112">
                  <c:v/>
                </c:pt>
                <c:pt idx="113">
                  <c:v/>
                </c:pt>
                <c:pt idx="114">
                  <c:v/>
                </c:pt>
                <c:pt idx="115">
                  <c:v/>
                </c:pt>
                <c:pt idx="116">
                  <c:v/>
                </c:pt>
                <c:pt idx="117">
                  <c:v/>
                </c:pt>
              </c:strCache>
            </c:strRef>
          </c:cat>
          <c:val>
            <c:numRef>
              <c:f>Sheet1!$C$2:$C$119</c:f>
              <c:numCache>
                <c:formatCode>General</c:formatCode>
                <c:ptCount val="118"/>
                <c:pt idx="40">
                  <c:v>16.83</c:v>
                </c:pt>
                <c:pt idx="79">
                  <c:v>18.19</c:v>
                </c:pt>
                <c:pt idx="80">
                  <c:v>22.09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Sheet1!$A$2:$A$119</c:f>
              <c:strCache>
                <c:ptCount val="118"/>
                <c:pt idx="0">
                  <c:v>Jun '22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Aug '22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Oct '22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Dec '22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Mar '23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May '23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Jul '23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Oct '23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Dec '23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Feb '24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May '24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Jul '24</c:v>
                </c:pt>
                <c:pt idx="111">
                  <c:v/>
                </c:pt>
                <c:pt idx="112">
                  <c:v/>
                </c:pt>
                <c:pt idx="113">
                  <c:v/>
                </c:pt>
                <c:pt idx="114">
                  <c:v/>
                </c:pt>
                <c:pt idx="115">
                  <c:v/>
                </c:pt>
                <c:pt idx="116">
                  <c:v/>
                </c:pt>
                <c:pt idx="117">
                  <c:v/>
                </c:pt>
              </c:strCache>
            </c:strRef>
          </c:cat>
          <c:val>
            <c:numRef>
              <c:f>Sheet1!$D$2:$D$119</c:f>
              <c:numCache>
                <c:formatCode>General</c:formatCode>
                <c:ptCount val="118"/>
                <c:pt idx="10">
                  <c:v>21.9</c:v>
                </c:pt>
                <c:pt idx="49">
                  <c:v>24.76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Sheet1!$A$2:$A$119</c:f>
              <c:strCache>
                <c:ptCount val="118"/>
                <c:pt idx="0">
                  <c:v>Jun '22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Aug '22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Oct '22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Dec '22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Mar '23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May '23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Jul '23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Oct '23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Dec '23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Feb '24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May '24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Jul '24</c:v>
                </c:pt>
                <c:pt idx="111">
                  <c:v/>
                </c:pt>
                <c:pt idx="112">
                  <c:v/>
                </c:pt>
                <c:pt idx="113">
                  <c:v/>
                </c:pt>
                <c:pt idx="114">
                  <c:v/>
                </c:pt>
                <c:pt idx="115">
                  <c:v/>
                </c:pt>
                <c:pt idx="116">
                  <c:v/>
                </c:pt>
                <c:pt idx="117">
                  <c:v/>
                </c:pt>
              </c:strCache>
            </c:strRef>
          </c:cat>
          <c:val>
            <c:numRef>
              <c:f>Sheet1!$E$2:$E$119</c:f>
              <c:numCache>
                <c:formatCode>General</c:formatCode>
                <c:ptCount val="118"/>
                <c:pt idx="104">
                  <c:v>39.99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Calliditas Therapeutics AB (publ)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CALT  ·  acquired by Asahi Kasei Corporation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$208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967%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15%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May 28, 2024   ·   Closed n/a   ·   Status: pending   ·   Pre-ann. volume 0.73×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Calliditas Therapeutics AB (publ)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Calliditas Therapeutics AB (publ)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495998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581598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sp>
        <p:nvSpPr>
          <p:cNvPr id="8" name="Oval 7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5759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69684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4606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9580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23448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9913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32067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53615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98864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05328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3947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41958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441134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540044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Apr 2023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Aug 2024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13, 2023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Asahi Kasei submits unsolicited non-binding offer of SEK…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21, 2023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Calliditas Board rejects the initial Asahi Kasei offer as…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20, 2023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A submits unsolicited offer of SEK 131 per share plus…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10, 2024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Management of Calliditas and Asahi Kasei meet at J.P.…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08, 2024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Asahi Kasei submits second offer of SEK 184 per share…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02, 2024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Asahi Kasei submits third offer of SEK 204 per share.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05, 2024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Board permits Asahi Kasei to conduct due diligence to…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06, 2024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20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Board instructs Lazard to reach out to ten potential…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16, 2024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A submits second offer of SEK 152 per share; rejected…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07, 2024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B submits offer of SEK 150 per share; rejected by…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10, 2024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Asahi Kasei submits fourth offer of SEK 208 per share.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14, 2024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A submits third offer of SEK 166 per share plus CVR…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27, 2024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Lazard delivers fairness opinion; Board unanimously…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28, 2024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Public announcement of the Offers.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63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18, 2024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35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Commencement of the U.S. Tender Offer.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63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30, 2024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635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Scheduled expiration of the U.S. Tender Offer.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16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Calliditas Therapeutics AB (publ)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5 unexplained pre-announcement move weeks (of 6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2023-03-17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+47%  ($16.83→$24.8)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438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2022-08-19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-26%  ($21.9→$16.13)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648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35584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2023-12-22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35584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+23%  ($22.09→$27.17)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35584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158 days before announcement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76472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2023-12-15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776472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+21%  ($18.19→$22.09)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776472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165 days before announcement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197096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2023-05-19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197096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-21%  ($24.76→$19.58)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4197096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375 days before announcement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Calliditas Therapeutics AB (publ)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2023-08-21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Everest Medicines Announces Partner Calliditas Therapeutics Receives FDA Priority Review for Full Approval…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2023-09-19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Calliditas Therapeutics to Present Nefecon Data at the 17th International Symposium on IgA Nephropathy…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3230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5059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39572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2023-09-22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9572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Travere (TVTX) Slumps 41% on Mixed Results From IgAN Drug Study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44368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6265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290779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2023-09-27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90779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Calliditas Therapeutics granted orphan drug designation by the FDA for the treatment of Alport syndrome…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456432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474720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3419856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2023-09-29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419856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Calliditas Presents Data from the NefIgArd Phase 3 trial at the 17th International Symposium on IgA…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968496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98678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393192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2023-10-05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393192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European Medicines Agency Committee for Orphan Medicinal Products provides positive opinion on Calliditas'…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48056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49884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444398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2023-11-07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444398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Calliditas Presents Additional Data Analyses from the NefIgArd Phase 3 trial at the American Society of…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992624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01091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280" y="495604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2023-11-24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495604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Calliditas' partner Everest Medicines announces China NMPA's approval of Nefecon® for the treatment of…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504688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52297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40280" y="546811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2023-12-20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0" y="546811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Calliditas Therapeutics announces full FDA approval of TARPEYO®, the only FDA-approved treatment for IgA…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