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Sheet1!$A$2:$A$112</c:f>
              <c:strCache>
                <c:ptCount val="111"/>
                <c:pt idx="0">
                  <c:v>Aug '22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Oct '22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Dec '22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Mar '23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May '23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Jul '23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Oct '23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Dec '23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Feb '24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May '24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Jul '24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Sep '24</c:v>
                </c:pt>
              </c:strCache>
            </c:strRef>
          </c:cat>
          <c:val>
            <c:numRef>
              <c:f>Sheet1!$B$2:$B$112</c:f>
              <c:numCache>
                <c:formatCode>General</c:formatCode>
                <c:ptCount val="111"/>
                <c:pt idx="0">
                  <c:v>12.87</c:v>
                </c:pt>
                <c:pt idx="1">
                  <c:v>12.62</c:v>
                </c:pt>
                <c:pt idx="2">
                  <c:v>14.28</c:v>
                </c:pt>
                <c:pt idx="3">
                  <c:v>14.99</c:v>
                </c:pt>
                <c:pt idx="4">
                  <c:v>16.63</c:v>
                </c:pt>
                <c:pt idx="5">
                  <c:v>15.21</c:v>
                </c:pt>
                <c:pt idx="6">
                  <c:v>12.43</c:v>
                </c:pt>
                <c:pt idx="7">
                  <c:v>12.49</c:v>
                </c:pt>
                <c:pt idx="8">
                  <c:v>12.66</c:v>
                </c:pt>
                <c:pt idx="9">
                  <c:v>11.11</c:v>
                </c:pt>
                <c:pt idx="10">
                  <c:v>10.91</c:v>
                </c:pt>
                <c:pt idx="11">
                  <c:v>11.01</c:v>
                </c:pt>
                <c:pt idx="12">
                  <c:v>8.32</c:v>
                </c:pt>
                <c:pt idx="13">
                  <c:v>8.5</c:v>
                </c:pt>
                <c:pt idx="14">
                  <c:v>6.47</c:v>
                </c:pt>
                <c:pt idx="15">
                  <c:v>6.35</c:v>
                </c:pt>
                <c:pt idx="16">
                  <c:v>6.16</c:v>
                </c:pt>
                <c:pt idx="17">
                  <c:v>5.88</c:v>
                </c:pt>
                <c:pt idx="18">
                  <c:v>6.13</c:v>
                </c:pt>
                <c:pt idx="19">
                  <c:v>5.48</c:v>
                </c:pt>
                <c:pt idx="20">
                  <c:v>5.43</c:v>
                </c:pt>
                <c:pt idx="21">
                  <c:v>5.19</c:v>
                </c:pt>
                <c:pt idx="22">
                  <c:v>6.32</c:v>
                </c:pt>
                <c:pt idx="23">
                  <c:v>6.47</c:v>
                </c:pt>
                <c:pt idx="24">
                  <c:v>6.71</c:v>
                </c:pt>
                <c:pt idx="25">
                  <c:v>7.91</c:v>
                </c:pt>
                <c:pt idx="26">
                  <c:v>7.13</c:v>
                </c:pt>
                <c:pt idx="27">
                  <c:v>4.02</c:v>
                </c:pt>
                <c:pt idx="28">
                  <c:v>3.4</c:v>
                </c:pt>
                <c:pt idx="29">
                  <c:v>3.8</c:v>
                </c:pt>
                <c:pt idx="30">
                  <c:v>3.06</c:v>
                </c:pt>
                <c:pt idx="31">
                  <c:v>3.01</c:v>
                </c:pt>
                <c:pt idx="32">
                  <c:v>2.57</c:v>
                </c:pt>
                <c:pt idx="33">
                  <c:v>2.68</c:v>
                </c:pt>
                <c:pt idx="34">
                  <c:v>2.48</c:v>
                </c:pt>
                <c:pt idx="35">
                  <c:v>2.65</c:v>
                </c:pt>
                <c:pt idx="36">
                  <c:v>2.7</c:v>
                </c:pt>
                <c:pt idx="37">
                  <c:v>2.87</c:v>
                </c:pt>
                <c:pt idx="38">
                  <c:v>3.08</c:v>
                </c:pt>
                <c:pt idx="39">
                  <c:v>2.7</c:v>
                </c:pt>
                <c:pt idx="40">
                  <c:v>2.86</c:v>
                </c:pt>
                <c:pt idx="41">
                  <c:v>2.62</c:v>
                </c:pt>
                <c:pt idx="42">
                  <c:v>2.62</c:v>
                </c:pt>
                <c:pt idx="43">
                  <c:v>2.76</c:v>
                </c:pt>
                <c:pt idx="44">
                  <c:v>2.81</c:v>
                </c:pt>
                <c:pt idx="45">
                  <c:v>2.58</c:v>
                </c:pt>
                <c:pt idx="46">
                  <c:v>2.49</c:v>
                </c:pt>
                <c:pt idx="47">
                  <c:v>2.41</c:v>
                </c:pt>
                <c:pt idx="48">
                  <c:v>2.41</c:v>
                </c:pt>
                <c:pt idx="49">
                  <c:v>2.43</c:v>
                </c:pt>
                <c:pt idx="50">
                  <c:v>2.35</c:v>
                </c:pt>
                <c:pt idx="51">
                  <c:v>2.17</c:v>
                </c:pt>
                <c:pt idx="52">
                  <c:v>1.96</c:v>
                </c:pt>
                <c:pt idx="53">
                  <c:v>1.82</c:v>
                </c:pt>
                <c:pt idx="54">
                  <c:v>1.68</c:v>
                </c:pt>
                <c:pt idx="55">
                  <c:v>1.7</c:v>
                </c:pt>
                <c:pt idx="56">
                  <c:v>1.62</c:v>
                </c:pt>
                <c:pt idx="57">
                  <c:v>1.54</c:v>
                </c:pt>
                <c:pt idx="58">
                  <c:v>1.23</c:v>
                </c:pt>
                <c:pt idx="59">
                  <c:v>1.44</c:v>
                </c:pt>
                <c:pt idx="60">
                  <c:v>1.2</c:v>
                </c:pt>
                <c:pt idx="61">
                  <c:v>1.14</c:v>
                </c:pt>
                <c:pt idx="62">
                  <c:v>1.47</c:v>
                </c:pt>
                <c:pt idx="63">
                  <c:v>1.52</c:v>
                </c:pt>
                <c:pt idx="64">
                  <c:v>1.67</c:v>
                </c:pt>
                <c:pt idx="65">
                  <c:v>1.4</c:v>
                </c:pt>
                <c:pt idx="66">
                  <c:v>1.57</c:v>
                </c:pt>
                <c:pt idx="67">
                  <c:v>1.7</c:v>
                </c:pt>
                <c:pt idx="68">
                  <c:v>2.0</c:v>
                </c:pt>
                <c:pt idx="69">
                  <c:v>3.14</c:v>
                </c:pt>
                <c:pt idx="70">
                  <c:v>2.91</c:v>
                </c:pt>
                <c:pt idx="71">
                  <c:v>2.98</c:v>
                </c:pt>
                <c:pt idx="72">
                  <c:v>3.05</c:v>
                </c:pt>
                <c:pt idx="73">
                  <c:v>2.91</c:v>
                </c:pt>
                <c:pt idx="74">
                  <c:v>3.2</c:v>
                </c:pt>
                <c:pt idx="75">
                  <c:v>3.42</c:v>
                </c:pt>
                <c:pt idx="76">
                  <c:v>4.08</c:v>
                </c:pt>
                <c:pt idx="77">
                  <c:v>4.21</c:v>
                </c:pt>
                <c:pt idx="78">
                  <c:v>4.53</c:v>
                </c:pt>
                <c:pt idx="79">
                  <c:v>2.38</c:v>
                </c:pt>
                <c:pt idx="80">
                  <c:v>2.22</c:v>
                </c:pt>
                <c:pt idx="81">
                  <c:v>3.73</c:v>
                </c:pt>
                <c:pt idx="82">
                  <c:v>3.64</c:v>
                </c:pt>
                <c:pt idx="83">
                  <c:v>3.11</c:v>
                </c:pt>
                <c:pt idx="84">
                  <c:v>4.0</c:v>
                </c:pt>
                <c:pt idx="85">
                  <c:v>4.32</c:v>
                </c:pt>
                <c:pt idx="86">
                  <c:v>4.78</c:v>
                </c:pt>
                <c:pt idx="87">
                  <c:v>4.55</c:v>
                </c:pt>
                <c:pt idx="88">
                  <c:v>4.11</c:v>
                </c:pt>
                <c:pt idx="89">
                  <c:v>3.99</c:v>
                </c:pt>
                <c:pt idx="90">
                  <c:v>4.49</c:v>
                </c:pt>
                <c:pt idx="91">
                  <c:v>4.77</c:v>
                </c:pt>
                <c:pt idx="92">
                  <c:v>4.53</c:v>
                </c:pt>
                <c:pt idx="93">
                  <c:v>4.09</c:v>
                </c:pt>
                <c:pt idx="94">
                  <c:v>3.3</c:v>
                </c:pt>
                <c:pt idx="95">
                  <c:v>3.01</c:v>
                </c:pt>
                <c:pt idx="96">
                  <c:v>2.78</c:v>
                </c:pt>
                <c:pt idx="97">
                  <c:v>2.48</c:v>
                </c:pt>
                <c:pt idx="98">
                  <c:v>2.28</c:v>
                </c:pt>
                <c:pt idx="99">
                  <c:v>2.51</c:v>
                </c:pt>
                <c:pt idx="100">
                  <c:v>3.19</c:v>
                </c:pt>
                <c:pt idx="101">
                  <c:v>3.63</c:v>
                </c:pt>
                <c:pt idx="102">
                  <c:v>3.91</c:v>
                </c:pt>
                <c:pt idx="103">
                  <c:v>3.98</c:v>
                </c:pt>
                <c:pt idx="104">
                  <c:v>7.09</c:v>
                </c:pt>
                <c:pt idx="105">
                  <c:v>7.11</c:v>
                </c:pt>
                <c:pt idx="106">
                  <c:v>7.12</c:v>
                </c:pt>
                <c:pt idx="107">
                  <c:v>7.11</c:v>
                </c:pt>
                <c:pt idx="108">
                  <c:v>7.13</c:v>
                </c:pt>
                <c:pt idx="109">
                  <c:v>7.15</c:v>
                </c:pt>
                <c:pt idx="110">
                  <c:v>7.15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Event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13A88A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Sheet1!$A$2:$A$112</c:f>
              <c:strCache>
                <c:ptCount val="111"/>
                <c:pt idx="0">
                  <c:v>Aug '22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Oct '22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Dec '22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Mar '23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May '23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Jul '23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Oct '23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Dec '23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Feb '24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May '24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Jul '24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Sep '24</c:v>
                </c:pt>
              </c:strCache>
            </c:strRef>
          </c:cat>
          <c:val>
            <c:numRef>
              <c:f>Sheet1!$C$2:$C$112</c:f>
              <c:numCache>
                <c:formatCode>General</c:formatCode>
                <c:ptCount val="111"/>
                <c:pt idx="11">
                  <c:v>11.01</c:v>
                </c:pt>
                <c:pt idx="21">
                  <c:v>5.19</c:v>
                </c:pt>
                <c:pt idx="26">
                  <c:v>7.13</c:v>
                </c:pt>
                <c:pt idx="61">
                  <c:v>1.14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Sheet1!$A$2:$A$112</c:f>
              <c:strCache>
                <c:ptCount val="111"/>
                <c:pt idx="0">
                  <c:v>Aug '22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Oct '22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Dec '22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Mar '23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May '23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Jul '23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Oct '23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Dec '23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Feb '24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May '24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Jul '24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Sep '24</c:v>
                </c:pt>
              </c:strCache>
            </c:strRef>
          </c:cat>
          <c:val>
            <c:numRef>
              <c:f>Sheet1!$D$2:$D$112</c:f>
              <c:numCache>
                <c:formatCode>General</c:formatCode>
                <c:ptCount val="111"/>
                <c:pt idx="13">
                  <c:v>8.5</c:v>
                </c:pt>
                <c:pt idx="57">
                  <c:v>1.54</c:v>
                </c:pt>
                <c:pt idx="68">
                  <c:v>2.0</c:v>
                </c:pt>
                <c:pt idx="78">
                  <c:v>4.53</c:v>
                </c:pt>
                <c:pt idx="80">
                  <c:v>2.22</c:v>
                </c:pt>
                <c:pt idx="83">
                  <c:v>3.11</c:v>
                </c:pt>
                <c:pt idx="99">
                  <c:v>2.51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Sheet1!$A$2:$A$112</c:f>
              <c:strCache>
                <c:ptCount val="111"/>
                <c:pt idx="0">
                  <c:v>Aug '22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Oct '22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Dec '22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Mar '23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May '23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Jul '23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Oct '23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Dec '23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Feb '24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May '24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Jul '24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Sep '24</c:v>
                </c:pt>
              </c:strCache>
            </c:strRef>
          </c:cat>
          <c:val>
            <c:numRef>
              <c:f>Sheet1!$E$2:$E$112</c:f>
              <c:numCache>
                <c:formatCode>General</c:formatCode>
                <c:ptCount val="111"/>
                <c:pt idx="104">
                  <c:v>7.09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G1 Therapeutics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GTHX  ·  acquired by Pharmacosmos A/S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$7.15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185%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59%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32%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Aug 07, 2024   ·   Closed Sep 18, 2024   ·   Status: completed   ·   Pre-ann. volume 0.85×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G1 Therapeutics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G1 Therapeutics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825827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911427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9864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9864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61207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62863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74456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76113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81081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86050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87706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99300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02612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27455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32424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40705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42361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57267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58924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73830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59953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09640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43793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45450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62012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76918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03417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10042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15011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34885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63041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68010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25977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729290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69039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74008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83945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85601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88914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93882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823694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825351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830319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833632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836944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841913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845225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846881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848538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856819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860131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66756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871725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78350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80006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81662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89943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91599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93256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94912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903193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911474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28036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46255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72754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86004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999254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1004222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1005878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1007535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1015816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017472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19128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27409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029066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1032378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1034034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034034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1034034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1035690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1042315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1043972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1043972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1045628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1050596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1052253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1053909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057221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1062190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1063846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1065502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1067159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1067159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1073783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1073783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1075440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10770963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10986272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11450013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Dec 2022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Sep 2024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2022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Representatives of Parent sent an introductory email to the…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2023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Members of management of the Company and Parent met to…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2023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The Company was contacted by Party F regarding a potential…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2023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The Company contacted Party I to assess interest in…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02, 2023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Introductory meeting held between the Company and Party F.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09, 2023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The Company and Party F entered into a confidentiality…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10, 2023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The Board met to review and discuss CRC Trial results and…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548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13, 2023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920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The Company announced top-line results of its CRC Trial and…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48640" y="48006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16, 2023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920240" y="48006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F indicated no interest in further business…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548640" y="50749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17, 2023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920240" y="50749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The Company and Party G entered into a confidentiality…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548640" y="53492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24, 2023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920240" y="53492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C indicated no interest in further discussions.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548640" y="56235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26, 2023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920240" y="56235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Further discussions between the Company and Party E…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13, 2023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I indicated potential interest in discussing…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16, 2023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The Board met to discuss opportunities and challenges…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21, 2023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CEO of Party G contacted Mr. Bailey to indicate interest in…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22, 2023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Mr. Bailey responded to Party G, indicating a licensing…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31, 2023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The Company received a non-binding proposal from Party E…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2023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The Board and Financing Committee met to discuss…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10, 2023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CEO of Party H indicated no interest in acquiring the…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6263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2023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7635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F asked to re-engage in discussions regarding…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6263640" y="48006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2023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7635240" y="48006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The Company informed Party F it was not interested in…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6263640" y="50749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20, 2023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7635240" y="50749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J contacted Mr. Bailey to explore a potential…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263640" y="53492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21, 2023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3492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The Company and Party J executed a confidentiality…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6263640" y="56235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2023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7635240" y="56235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K contacted the Company regarding potential licensing…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99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G1 Therapeutics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10, 2023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12344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The Company communicated to Party K that it was awaiting…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26, 2023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5087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J submitted a non-binding indication of interest to…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30, 2023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7830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The Board held a special meeting with Centerview and Ropes…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0574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02, 2023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20574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Mr. Bailey communicated the Board's rejection of the…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3317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14, 2023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23317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J submitted an updated non-binding indication of…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01, 2023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The Board met with Centerview and Ropes &amp; Gray to discuss…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04, 2023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Mr. Bailey communicated the Board's rejection of Party J's…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08, 2024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Management of the Company and Parent met to discuss…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10, 2024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Parent's President and CEO, Tobias S. Christensen…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03, 2024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Throughout February and March 2024, representatives of the…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06, 2024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The Company and Parent entered into a confidentiality…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12, 2024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The Company announced its Interim TNBC Trial Data…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52627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13, 2024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452627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Members of Company management met with representatives of…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8006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15, 2024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48006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Members of Company management met with Party M to discuss…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0749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18, 2024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240" y="50749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The Company and Party M executed a confidentiality…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53492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07, 2024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20240" y="53492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J contacted Mr. Bailey to request re-engagement in…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56235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08, 2024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20240" y="56235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Mr. Bailey indicated to Parent that the Company had…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589787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11, 2024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20240" y="589787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management notified Party K of third-party interest…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12344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13, 2024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35240" y="12344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Representatives of Party J met with Mr. Bailey and other…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15087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15, 2024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35240" y="15087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The Company and Party K entered into a confidentiality…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17830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18, 2024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35240" y="17830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J submitted an updated non-binding indication of…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63640" y="20574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20, 2024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35240" y="20574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The Transaction Committee met with Centerview and Ropes &amp;…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63640" y="23317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21, 2024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35240" y="23317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The Company reiterated to Party K its intent to wait for…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22, 2024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Parent confirmed interest in an equity investment…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27, 2024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J submitted a further updated non-binding indication…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29, 2024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The Transaction Committee met with Centerview and Ropes &amp;…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02, 2024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Mr. Bailey communicated to Party J that the Board rejected…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05, 2024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Mr. Christensen called Mr. Bailey, indicating Parent was…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09, 2024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Representatives of Party K met with Company management to…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10, 2024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The Transaction Committee met to discuss strategic…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63640" y="452627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11, 2024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635240" y="452627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J submitted a further updated non-binding indication…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263640" y="48006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16, 2024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635240" y="48006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The Transaction Committee met to discuss and reject Party…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263640" y="50749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17, 2024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635240" y="50749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Mr. Bailey communicated to Party J that the Company was not…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263640" y="53492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18, 2024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635240" y="53492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CEO and CBO of Party M met with Company management to…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263640" y="56235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19, 2024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635240" y="56235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Centerview held a call with Party J's financial advisors to…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263640" y="589787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24, 2024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635240" y="589787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J representatives contacted Centerview to inquire…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G1 Therapeutics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29, 2024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12344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Centerview relayed Party J's inquiry to Mr. Bailey, who…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09, 2024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5087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 website published a report claiming the Company had…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20, 2024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7830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The Board met to discuss potential strategic alternatives…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0574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05, 2024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20574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Chairman of Party J contacted Mr. Bailey to express…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3317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13, 2024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23317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The Board met with senior management and representatives of…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21, 2024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The Board met with senior management and Mintz to discuss…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24, 2024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The Company announced unfavorable Final TNBC Trial Data…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25, 2024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Chairman of Party J contacted Mr. Bailey requesting a…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26, 2024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Mr. Christensen and Mr. Bailey met. Mr. Christensen…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01, 2024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The Company executed a confidentiality agreement with Party…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02, 2024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The Board met with senior management and representatives of…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03, 2024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Mr. Christensen informed Mr. Bailey that Parent intended to…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52627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08, 2024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452627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Parent submitted a non-binding indication of interest to…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8006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09, 2024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48006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Chairman of Party J contacted Mr. Bailey to communicate…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0749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11, 2024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240" y="50749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Centerview provided Ropes &amp; Gray with its relationships…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53492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12, 2024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20240" y="53492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The Board met with Centerview, Mintz, and Ropes &amp; Gray to…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56235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12, 2024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20240" y="56235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Mr. Bailey communicated the Board's feedback on Party J…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589787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12, 2024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20240" y="589787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The Company made a virtual data room available to Parent…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12344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13, 2024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35240" y="12344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 representative of Parent contacted Centerview to discuss…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15087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17, 2024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35240" y="15087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Centerview provided a process letter to Parent and Party J…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17830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18, 2024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35240" y="17830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Centerview contacted Financial Party A. CEO of Party G…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63640" y="20574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18, 2024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35240" y="20574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The Company and Financial Party A executed a…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63640" y="23317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19, 2024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35240" y="23317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Financial Party A informed Centerview it would not pursue…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22, 2024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The Company made the draft merger agreement available to…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23, 2024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Mr. Christensen confirmed Parent intended to meet the…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24, 2024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I indicated it was not interested in signing a…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26, 2024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K submitted a non-binding indication of interest to…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29, 2024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Arnold &amp; Porter, counsel to Parent, submitted Parent's…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30, 2024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Ropes &amp; Gray met with counsel to Party J to provide…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31, 2024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Ropes &amp; Gray met with Arnold &amp; Porter to provide feedback…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63640" y="452627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01, 2024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635240" y="452627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P informed Centerview it would revisit further…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263640" y="48006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01, 2024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635240" y="48006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Representatives of Party K informed Centerview that it…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263640" y="50749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05, 2024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635240" y="50749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Parent submitted a revised indication of interest at $6.25…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263640" y="53492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05, 2024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635240" y="53492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Centerview communicated the Transaction Committee's…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263640" y="56235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06, 2024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635240" y="56235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Ropes &amp; Gray sent revised draft merger agreements to…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263640" y="589787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07, 2024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635240" y="589787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Parent and the Company issued a joint press release…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G1 Therapeutics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20, 2024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12344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Purchaser commenced the Offer and Parent filed the Offer to…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17, 2024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5087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The Offer and related withdrawal rights expired.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2344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18, 2024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12344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Purchaser accepted for payment all validly tendered shares.…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G1 Therapeutics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11 unexplained pre-announcement move weeks (of 12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2024-03-01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+68%  ($2.22→$3.73)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159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2023-12-08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+57%  ($2→$3.14)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243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5584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2024-02-16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35584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-48%  ($4.53→$2.38)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35584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173 days before announcement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76472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2023-02-17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776472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-44%  ($7.13→$4.02)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776472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537 days before announcement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197096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2023-10-20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197096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+29%  ($1.14→$1.47)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197096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292 days before announcement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61772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2024-03-22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461772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+29%  ($3.11→$4)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461772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138 days before announcement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0383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2024-07-12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503834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+27%  ($2.51→$3.19)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50383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26 days before announcement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45896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2022-11-04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6080" y="545896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-24%  ($11.01→$8.32)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0" y="545896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642 days before announcement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G1 Therapeutics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2023-07-26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G1 Therapeutics to Release Second Quarter 2023 Financial Results and Provide Business Update on August 2…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2023-08-02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G1 Therapeutics Provides Second Quarter 2023 Financial Results and Operational Highlights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2023-08-02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G1 Therapeutics Provides Second Quarter 2023 Financial Results and Operational Highlights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4436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6265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90779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2023-10-18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0779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G1 Therapeutics to Release Third Quarter 2023 Financial Results and Provide Business  Update on November 1…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56432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74720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3419856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2023-10-18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419856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G1 Therapeutics to Release Third Quarter 2023 Financial Results and Provide Business  Update on November 1…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96849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98678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393192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2023-10-27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93192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Real World Data Indicate That Trilaciclib Reduces Hospitalizations and Myelosuppressive Events and May…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48056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49884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44398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2023-10-27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44398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Real World Data Indicate That Trilaciclib Reduces Hospitalizations and Myelosuppressive Events and May…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99262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01091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80" y="495604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2023-11-01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95604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G1 Therapeutics Provides Third Quarter 2023 Financial Results and Operational Highlights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50468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52297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40280" y="546811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2023-11-01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546811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G1 Therapeutics Provides Third Quarter 2023 Financial Results and Operational Highlights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