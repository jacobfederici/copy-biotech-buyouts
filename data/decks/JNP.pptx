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Jul '16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'16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'16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'17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'17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'17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'17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'18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'18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'18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'18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7.89</c:v>
                </c:pt>
                <c:pt idx="1">
                  <c:v>7.39</c:v>
                </c:pt>
                <c:pt idx="2">
                  <c:v>7.7</c:v>
                </c:pt>
                <c:pt idx="3">
                  <c:v>7.54</c:v>
                </c:pt>
                <c:pt idx="4">
                  <c:v>7.49</c:v>
                </c:pt>
                <c:pt idx="5">
                  <c:v>7.05</c:v>
                </c:pt>
                <c:pt idx="6">
                  <c:v>6.02</c:v>
                </c:pt>
                <c:pt idx="7">
                  <c:v>5.71</c:v>
                </c:pt>
                <c:pt idx="8">
                  <c:v>5.56</c:v>
                </c:pt>
                <c:pt idx="9">
                  <c:v>5.65</c:v>
                </c:pt>
                <c:pt idx="10">
                  <c:v>5.66</c:v>
                </c:pt>
                <c:pt idx="11">
                  <c:v>6.08</c:v>
                </c:pt>
                <c:pt idx="12">
                  <c:v>5.55</c:v>
                </c:pt>
                <c:pt idx="13">
                  <c:v>5.58</c:v>
                </c:pt>
                <c:pt idx="14">
                  <c:v>5.45</c:v>
                </c:pt>
                <c:pt idx="15">
                  <c:v>5.55</c:v>
                </c:pt>
                <c:pt idx="16">
                  <c:v>5.65</c:v>
                </c:pt>
                <c:pt idx="17">
                  <c:v>5.4</c:v>
                </c:pt>
                <c:pt idx="18">
                  <c:v>5.75</c:v>
                </c:pt>
                <c:pt idx="19">
                  <c:v>5.62</c:v>
                </c:pt>
                <c:pt idx="20">
                  <c:v>5.65</c:v>
                </c:pt>
                <c:pt idx="21">
                  <c:v>5.4</c:v>
                </c:pt>
                <c:pt idx="22">
                  <c:v>5.45</c:v>
                </c:pt>
                <c:pt idx="23">
                  <c:v>5.15</c:v>
                </c:pt>
                <c:pt idx="24">
                  <c:v>5.35</c:v>
                </c:pt>
                <c:pt idx="25">
                  <c:v>5.6</c:v>
                </c:pt>
                <c:pt idx="26">
                  <c:v>5.5</c:v>
                </c:pt>
                <c:pt idx="27">
                  <c:v>5.35</c:v>
                </c:pt>
                <c:pt idx="28">
                  <c:v>5.2</c:v>
                </c:pt>
                <c:pt idx="29">
                  <c:v>5.35</c:v>
                </c:pt>
                <c:pt idx="30">
                  <c:v>5.0</c:v>
                </c:pt>
                <c:pt idx="31">
                  <c:v>5.1</c:v>
                </c:pt>
                <c:pt idx="32">
                  <c:v>4.8</c:v>
                </c:pt>
                <c:pt idx="33">
                  <c:v>4.8</c:v>
                </c:pt>
                <c:pt idx="34">
                  <c:v>5.15</c:v>
                </c:pt>
                <c:pt idx="35">
                  <c:v>4.95</c:v>
                </c:pt>
                <c:pt idx="36">
                  <c:v>4.75</c:v>
                </c:pt>
                <c:pt idx="37">
                  <c:v>4.65</c:v>
                </c:pt>
                <c:pt idx="38">
                  <c:v>4.75</c:v>
                </c:pt>
                <c:pt idx="39">
                  <c:v>4.2</c:v>
                </c:pt>
                <c:pt idx="40">
                  <c:v>3.85</c:v>
                </c:pt>
                <c:pt idx="41">
                  <c:v>4.0</c:v>
                </c:pt>
                <c:pt idx="42">
                  <c:v>4.6</c:v>
                </c:pt>
                <c:pt idx="43">
                  <c:v>4.4</c:v>
                </c:pt>
                <c:pt idx="44">
                  <c:v>4.4</c:v>
                </c:pt>
                <c:pt idx="45">
                  <c:v>4.05</c:v>
                </c:pt>
                <c:pt idx="46">
                  <c:v>4.2</c:v>
                </c:pt>
                <c:pt idx="47">
                  <c:v>4.5</c:v>
                </c:pt>
                <c:pt idx="48">
                  <c:v>4.65</c:v>
                </c:pt>
                <c:pt idx="49">
                  <c:v>5.1</c:v>
                </c:pt>
                <c:pt idx="50">
                  <c:v>5.2</c:v>
                </c:pt>
                <c:pt idx="51">
                  <c:v>5.05</c:v>
                </c:pt>
                <c:pt idx="52">
                  <c:v>5.05</c:v>
                </c:pt>
                <c:pt idx="53">
                  <c:v>5.0</c:v>
                </c:pt>
                <c:pt idx="54">
                  <c:v>4.9</c:v>
                </c:pt>
                <c:pt idx="55">
                  <c:v>4.9</c:v>
                </c:pt>
                <c:pt idx="56">
                  <c:v>4.8</c:v>
                </c:pt>
                <c:pt idx="57">
                  <c:v>4.45</c:v>
                </c:pt>
                <c:pt idx="58">
                  <c:v>4.55</c:v>
                </c:pt>
                <c:pt idx="59">
                  <c:v>4.6</c:v>
                </c:pt>
                <c:pt idx="60">
                  <c:v>4.45</c:v>
                </c:pt>
                <c:pt idx="61">
                  <c:v>4.4</c:v>
                </c:pt>
                <c:pt idx="62">
                  <c:v>4.4</c:v>
                </c:pt>
                <c:pt idx="63">
                  <c:v>4.65</c:v>
                </c:pt>
                <c:pt idx="64">
                  <c:v>4.55</c:v>
                </c:pt>
                <c:pt idx="65">
                  <c:v>4.7</c:v>
                </c:pt>
                <c:pt idx="66">
                  <c:v>4.95</c:v>
                </c:pt>
                <c:pt idx="67">
                  <c:v>4.55</c:v>
                </c:pt>
                <c:pt idx="68">
                  <c:v>4.8</c:v>
                </c:pt>
                <c:pt idx="69">
                  <c:v>4.65</c:v>
                </c:pt>
                <c:pt idx="70">
                  <c:v>4.8</c:v>
                </c:pt>
                <c:pt idx="71">
                  <c:v>5.2</c:v>
                </c:pt>
                <c:pt idx="72">
                  <c:v>5.2</c:v>
                </c:pt>
                <c:pt idx="73">
                  <c:v>5.03</c:v>
                </c:pt>
                <c:pt idx="74">
                  <c:v>5.1</c:v>
                </c:pt>
                <c:pt idx="75">
                  <c:v>4.8</c:v>
                </c:pt>
                <c:pt idx="76">
                  <c:v>4.7</c:v>
                </c:pt>
                <c:pt idx="77">
                  <c:v>4.85</c:v>
                </c:pt>
                <c:pt idx="78">
                  <c:v>5.35</c:v>
                </c:pt>
                <c:pt idx="79">
                  <c:v>5.97</c:v>
                </c:pt>
                <c:pt idx="80">
                  <c:v>5.95</c:v>
                </c:pt>
                <c:pt idx="81">
                  <c:v>7.1</c:v>
                </c:pt>
                <c:pt idx="82">
                  <c:v>7.55</c:v>
                </c:pt>
                <c:pt idx="83">
                  <c:v>7.9</c:v>
                </c:pt>
                <c:pt idx="84">
                  <c:v>8.7</c:v>
                </c:pt>
                <c:pt idx="85">
                  <c:v>8.7</c:v>
                </c:pt>
                <c:pt idx="86">
                  <c:v>8.8</c:v>
                </c:pt>
                <c:pt idx="87">
                  <c:v>9.3</c:v>
                </c:pt>
                <c:pt idx="88">
                  <c:v>12.15</c:v>
                </c:pt>
                <c:pt idx="89">
                  <c:v>12.75</c:v>
                </c:pt>
                <c:pt idx="90">
                  <c:v>10.15</c:v>
                </c:pt>
                <c:pt idx="91">
                  <c:v>10.4</c:v>
                </c:pt>
                <c:pt idx="92">
                  <c:v>9.55</c:v>
                </c:pt>
                <c:pt idx="93">
                  <c:v>9.05</c:v>
                </c:pt>
                <c:pt idx="94">
                  <c:v>7.7</c:v>
                </c:pt>
                <c:pt idx="95">
                  <c:v>8.4</c:v>
                </c:pt>
                <c:pt idx="96">
                  <c:v>9.45</c:v>
                </c:pt>
                <c:pt idx="97">
                  <c:v>8.7</c:v>
                </c:pt>
                <c:pt idx="98">
                  <c:v>8.95</c:v>
                </c:pt>
                <c:pt idx="99">
                  <c:v>8.9</c:v>
                </c:pt>
                <c:pt idx="100">
                  <c:v>9.3</c:v>
                </c:pt>
                <c:pt idx="101">
                  <c:v>8.75</c:v>
                </c:pt>
                <c:pt idx="102">
                  <c:v>9.1</c:v>
                </c:pt>
                <c:pt idx="103">
                  <c:v>8.7</c:v>
                </c:pt>
                <c:pt idx="104">
                  <c:v>11.4</c:v>
                </c:pt>
                <c:pt idx="105">
                  <c:v>11.4</c:v>
                </c:pt>
                <c:pt idx="106">
                  <c:v>11.5</c:v>
                </c:pt>
                <c:pt idx="107">
                  <c:v>11.45</c:v>
                </c:pt>
                <c:pt idx="108">
                  <c:v>11.45</c:v>
                </c:pt>
                <c:pt idx="109">
                  <c:v>11.47</c:v>
                </c:pt>
                <c:pt idx="110">
                  <c:v>11.5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Jul '16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'16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'16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'17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'17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'17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'17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'18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'18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'18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'18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87">
                  <c:v>9.3</c:v>
                </c:pt>
                <c:pt idx="89">
                  <c:v>12.75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Jul '16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'16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'16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'17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'17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'17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'17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'17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'18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Mar '18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'18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'18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4">
                  <c:v>11.4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JUNIPER PHARMACEUTICALS INC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JNP  ·  acquired by Catalent,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29%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Jul 03, 2018   ·   Closed Aug 14, 2018   ·   Status: completed   ·   Pre-ann. volume 0.75×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JUNIPER PHARMACEUTICALS INC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JUNIPER PHARMACEUTICALS INC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92805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978405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626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273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661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2947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988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383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281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179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3294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479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2275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24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873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8322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472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9670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418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0568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66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9151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2513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6635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5616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7112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3860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759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5208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56570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6854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7004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153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7752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79021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80518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8949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9099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249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9398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847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997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0147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0296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0596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0895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1045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11950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1344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20930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2542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3140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32904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4188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43381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4487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052362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05385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55355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05685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061342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6283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06433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065833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06732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71820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7331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7481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07631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077807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8229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83794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104748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145160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Aug 2016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Aug 2018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17, 2016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reported results from its Phase 2b clinical trial…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07, 2017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approved a strategic reprioritization to focus on…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18, 2017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announced strategic reprioritization and reduction…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24, 2017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held a telephonic meeting to discuss a potential…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14, 2017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approved the engagement of Rothschild Inc. as…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01, 2018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executed engagement letter with Chestnut…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17, 2018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executed engagement letter with Rothschild Inc.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23, 2018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held a telephonic meeting to discuss…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29, 2018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and Board held telephonic meetings to…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30, 2018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management and Goodwin had a call with Party A and…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31, 2018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issued a press release announcing it was exploring…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05, 2018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held a telephonic meeting to discuss…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15, 2018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entered into a confidentiality agreement with Party…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16, 2018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entered into a confidentiality agreement with…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19, 2018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held a telephonic meeting to discuss…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20, 2018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met to review proposed management…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28, 2018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Rothschild sent initial bid instruction letters to…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05, 2018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entered into a confidentiality agreement with Party…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06, 2018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held a telephonic meeting to discuss…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12, 2018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Rothschild contacted Party G and sent preliminary materials.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15, 2018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entered into a confidentiality agreement with Party…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19, 2018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convened a working dinner to receive an update on the…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20, 2018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held a regularly scheduled meeting, discussed the…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26, 2018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Catalent attended a management presentation.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74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JUNIPER PHARMACEUTICALS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27,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held a meeting to discuss the…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28, 2018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received a preliminary non-binding indication of…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03, 2018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held a meeting and established a…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06, 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Rothschild issued second round bid letters inviting revised…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09, 2018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G submitted a preliminary non-binding indication of…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17, 2018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held a meeting to discuss the…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18, 2018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permitted Party G to partner with an offshore…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19, 2018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E indicated that its lead investor, Party H…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23, 2018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H entered into a confidentiality agreement with the…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24, 2018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held a telephonic meeting to discuss…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25, 2018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announced an exclusive worldwide license agreement…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01, 2018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Second round bid deadline. Party D and Party E indicated…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02, 2018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indicated it was no longer interested in exploring…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03, 2018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Committee held a telephonic meeting to discuss…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04, 2018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G indicated it planned to submit a second round bid…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07, 2018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held a telephonic meeting to discuss the strategic…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08, 2018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held a telephonic meeting to discuss the…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8978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09, 2018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58978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received a revised proposal from Party B indicating…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10, 2018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received a revised proposal from Party F reflecting…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12, 2018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F contacted Rothschild to clarify that its May 10…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14, 2018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G attended on-site due diligence meetings in…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15, 2018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G attended on-site due diligence meetings in…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16, 2018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held a regularly scheduled meeting to discuss…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17, 2018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F informed Rothschild it was not interested in…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22, 2018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held a telephonic meeting to discuss the…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25, 2018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Forecasts (excluding 2023 Forecasts) were provided to…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29, 2018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held a telephonic meeting to discuss the…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30, 2018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Representatives of Catalent attended an on-site meeting at…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05, 2018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held a telephonic meeting to discuss the…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06, 2018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and Compensation Committee held joint…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45262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07, 2018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45262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and Compensation Committee held joint…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12, 2018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held a telephonic meeting. Catalent…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13, 2018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held a telephonic meeting to discuss the…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14, 2018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35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Rothschild communicated Company's counterproposal to Party…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56235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15, 2018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35240" y="56235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notified Rothschild it would need to lower its…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263640" y="589787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18, 2018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635240" y="589787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held a telephonic meeting to discuss…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JUNIPER PHARMACEUTICALS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19, 2018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Goodwin engaged with Party G's legal counsel to clarify…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20, 2018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submitted a revised written proposal for $10.85 per…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21, 2018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Rothschild contacted Catalent to confirm terms of June 12…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22, 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Rothschild informed Catalent that the Company was under…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25, 2018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B's outside counsel provided a revised draft of the…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26, 2018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held a telephonic meeting to discuss…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27, 2018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informed Rothschild it was prepared to enter into…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2344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28, 2018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12344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Special Committee held a telephonic meeting. Rothschild…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5087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29, 2018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15087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management, Goodwin, Catalent, and Duane Morris…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7830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02, 2018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17830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held a telephonic meeting to discuss final terms of…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0574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03, 2018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0574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issued a press release announcing the execution of…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23317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17, 2018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35240" y="23317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Sub commenced the tender offer for $11.50 per share.…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13, 2018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and withdrawal rights expired. Approximately…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14, 2018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Sub irrevocably accepted for payment all validly…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JUNIPER PHARMACEUTICALS 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2018-03-16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+31%  ($9.3→$12.15)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109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2018-03-30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-20%  ($12.75→$10.15)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95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JUNIPER PHARMACEUTICALS INC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2018-07-11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MERGER ALERT -- WEB, EDR, JNP: Levi &amp; Korsinsky, LLP Reminds Investors of Investigations Concerning the…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2018-07-16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MERGER ALERT – CVG, JNP, and WEB: Levi &amp; Korsinsky, LLP Reminds Investors of Investigations Concerning the…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Court should reject HPE-Juniper merger: Former DOJ antitrust deputy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