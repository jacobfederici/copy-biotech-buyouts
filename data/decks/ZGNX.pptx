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Sheet1!$A$2:$A$116</c:f>
              <c:strCache>
                <c:ptCount val="115"/>
                <c:pt idx="0">
                  <c:v>Jan '20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Mar '20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May '20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Jul '20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Oct '20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Dec '20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Feb '21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May '21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Jul '21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Sep '21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Dec '21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Feb '22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</c:strCache>
            </c:strRef>
          </c:cat>
          <c:val>
            <c:numRef>
              <c:f>Sheet1!$B$2:$B$116</c:f>
              <c:numCache>
                <c:formatCode>General</c:formatCode>
                <c:ptCount val="115"/>
                <c:pt idx="0">
                  <c:v>51.08</c:v>
                </c:pt>
                <c:pt idx="1">
                  <c:v>53.4</c:v>
                </c:pt>
                <c:pt idx="2">
                  <c:v>54.98</c:v>
                </c:pt>
                <c:pt idx="3">
                  <c:v>52.13</c:v>
                </c:pt>
                <c:pt idx="4">
                  <c:v>50.37</c:v>
                </c:pt>
                <c:pt idx="5">
                  <c:v>32.12</c:v>
                </c:pt>
                <c:pt idx="6">
                  <c:v>32.18</c:v>
                </c:pt>
                <c:pt idx="7">
                  <c:v>30.16</c:v>
                </c:pt>
                <c:pt idx="8">
                  <c:v>25.08</c:v>
                </c:pt>
                <c:pt idx="9">
                  <c:v>24.23</c:v>
                </c:pt>
                <c:pt idx="10">
                  <c:v>22.01</c:v>
                </c:pt>
                <c:pt idx="11">
                  <c:v>19.69</c:v>
                </c:pt>
                <c:pt idx="12">
                  <c:v>23.36</c:v>
                </c:pt>
                <c:pt idx="13">
                  <c:v>22.26</c:v>
                </c:pt>
                <c:pt idx="14">
                  <c:v>23.92</c:v>
                </c:pt>
                <c:pt idx="15">
                  <c:v>27.02</c:v>
                </c:pt>
                <c:pt idx="16">
                  <c:v>29.51</c:v>
                </c:pt>
                <c:pt idx="17">
                  <c:v>26.61</c:v>
                </c:pt>
                <c:pt idx="18">
                  <c:v>25.68</c:v>
                </c:pt>
                <c:pt idx="19">
                  <c:v>27.6</c:v>
                </c:pt>
                <c:pt idx="20">
                  <c:v>29.98</c:v>
                </c:pt>
                <c:pt idx="21">
                  <c:v>29.13</c:v>
                </c:pt>
                <c:pt idx="22">
                  <c:v>29.97</c:v>
                </c:pt>
                <c:pt idx="23">
                  <c:v>28.6</c:v>
                </c:pt>
                <c:pt idx="24">
                  <c:v>28.04</c:v>
                </c:pt>
                <c:pt idx="25">
                  <c:v>25.47</c:v>
                </c:pt>
                <c:pt idx="26">
                  <c:v>29.19</c:v>
                </c:pt>
                <c:pt idx="27">
                  <c:v>27.24</c:v>
                </c:pt>
                <c:pt idx="28">
                  <c:v>28.93</c:v>
                </c:pt>
                <c:pt idx="29">
                  <c:v>26.01</c:v>
                </c:pt>
                <c:pt idx="30">
                  <c:v>23.79</c:v>
                </c:pt>
                <c:pt idx="31">
                  <c:v>24.26</c:v>
                </c:pt>
                <c:pt idx="32">
                  <c:v>24.93</c:v>
                </c:pt>
                <c:pt idx="33">
                  <c:v>22.94</c:v>
                </c:pt>
                <c:pt idx="34">
                  <c:v>22.68</c:v>
                </c:pt>
                <c:pt idx="35">
                  <c:v>23.69</c:v>
                </c:pt>
                <c:pt idx="36">
                  <c:v>24.18</c:v>
                </c:pt>
                <c:pt idx="37">
                  <c:v>24.21</c:v>
                </c:pt>
                <c:pt idx="38">
                  <c:v>17.5</c:v>
                </c:pt>
                <c:pt idx="39">
                  <c:v>17.58</c:v>
                </c:pt>
                <c:pt idx="40">
                  <c:v>18.31</c:v>
                </c:pt>
                <c:pt idx="41">
                  <c:v>20.4</c:v>
                </c:pt>
                <c:pt idx="42">
                  <c:v>21.29</c:v>
                </c:pt>
                <c:pt idx="43">
                  <c:v>21.32</c:v>
                </c:pt>
                <c:pt idx="44">
                  <c:v>21.45</c:v>
                </c:pt>
                <c:pt idx="45">
                  <c:v>21.6</c:v>
                </c:pt>
                <c:pt idx="46">
                  <c:v>19.88</c:v>
                </c:pt>
                <c:pt idx="47">
                  <c:v>21.56</c:v>
                </c:pt>
                <c:pt idx="48">
                  <c:v>22.23</c:v>
                </c:pt>
                <c:pt idx="49">
                  <c:v>19.94</c:v>
                </c:pt>
                <c:pt idx="50">
                  <c:v>19.99</c:v>
                </c:pt>
                <c:pt idx="51">
                  <c:v>20.18</c:v>
                </c:pt>
                <c:pt idx="52">
                  <c:v>19.99</c:v>
                </c:pt>
                <c:pt idx="53">
                  <c:v>21.82</c:v>
                </c:pt>
                <c:pt idx="54">
                  <c:v>18.64</c:v>
                </c:pt>
                <c:pt idx="55">
                  <c:v>19.3</c:v>
                </c:pt>
                <c:pt idx="56">
                  <c:v>18.96</c:v>
                </c:pt>
                <c:pt idx="57">
                  <c:v>21.04</c:v>
                </c:pt>
                <c:pt idx="58">
                  <c:v>22.53</c:v>
                </c:pt>
                <c:pt idx="59">
                  <c:v>22.99</c:v>
                </c:pt>
                <c:pt idx="60">
                  <c:v>21.21</c:v>
                </c:pt>
                <c:pt idx="61">
                  <c:v>20.74</c:v>
                </c:pt>
                <c:pt idx="62">
                  <c:v>20.48</c:v>
                </c:pt>
                <c:pt idx="63">
                  <c:v>20.86</c:v>
                </c:pt>
                <c:pt idx="64">
                  <c:v>18.76</c:v>
                </c:pt>
                <c:pt idx="65">
                  <c:v>20.64</c:v>
                </c:pt>
                <c:pt idx="66">
                  <c:v>19.27</c:v>
                </c:pt>
                <c:pt idx="67">
                  <c:v>19.0</c:v>
                </c:pt>
                <c:pt idx="68">
                  <c:v>19.02</c:v>
                </c:pt>
                <c:pt idx="69">
                  <c:v>18.89</c:v>
                </c:pt>
                <c:pt idx="70">
                  <c:v>18.87</c:v>
                </c:pt>
                <c:pt idx="71">
                  <c:v>19.12</c:v>
                </c:pt>
                <c:pt idx="72">
                  <c:v>18.24</c:v>
                </c:pt>
                <c:pt idx="73">
                  <c:v>17.55</c:v>
                </c:pt>
                <c:pt idx="74">
                  <c:v>17.32</c:v>
                </c:pt>
                <c:pt idx="75">
                  <c:v>18.2</c:v>
                </c:pt>
                <c:pt idx="76">
                  <c:v>17.99</c:v>
                </c:pt>
                <c:pt idx="77">
                  <c:v>18.7</c:v>
                </c:pt>
                <c:pt idx="78">
                  <c:v>17.74</c:v>
                </c:pt>
                <c:pt idx="79">
                  <c:v>17.67</c:v>
                </c:pt>
                <c:pt idx="80">
                  <c:v>16.99</c:v>
                </c:pt>
                <c:pt idx="81">
                  <c:v>17.82</c:v>
                </c:pt>
                <c:pt idx="82">
                  <c:v>16.21</c:v>
                </c:pt>
                <c:pt idx="83">
                  <c:v>14.27</c:v>
                </c:pt>
                <c:pt idx="84">
                  <c:v>13.75</c:v>
                </c:pt>
                <c:pt idx="85">
                  <c:v>13.74</c:v>
                </c:pt>
                <c:pt idx="86">
                  <c:v>14.59</c:v>
                </c:pt>
                <c:pt idx="87">
                  <c:v>14.81</c:v>
                </c:pt>
                <c:pt idx="88">
                  <c:v>15.03</c:v>
                </c:pt>
                <c:pt idx="89">
                  <c:v>15.17</c:v>
                </c:pt>
                <c:pt idx="90">
                  <c:v>15.49</c:v>
                </c:pt>
                <c:pt idx="91">
                  <c:v>15.57</c:v>
                </c:pt>
                <c:pt idx="92">
                  <c:v>15.71</c:v>
                </c:pt>
                <c:pt idx="93">
                  <c:v>15.77</c:v>
                </c:pt>
                <c:pt idx="94">
                  <c:v>15.54</c:v>
                </c:pt>
                <c:pt idx="95">
                  <c:v>15.33</c:v>
                </c:pt>
                <c:pt idx="96">
                  <c:v>15.94</c:v>
                </c:pt>
                <c:pt idx="97">
                  <c:v>15.49</c:v>
                </c:pt>
                <c:pt idx="98">
                  <c:v>13.28</c:v>
                </c:pt>
                <c:pt idx="99">
                  <c:v>11.7</c:v>
                </c:pt>
                <c:pt idx="100">
                  <c:v>11.85</c:v>
                </c:pt>
                <c:pt idx="101">
                  <c:v>12.93</c:v>
                </c:pt>
                <c:pt idx="102">
                  <c:v>13.98</c:v>
                </c:pt>
                <c:pt idx="103">
                  <c:v>16.26</c:v>
                </c:pt>
                <c:pt idx="104">
                  <c:v>16.25</c:v>
                </c:pt>
                <c:pt idx="105">
                  <c:v>16.4</c:v>
                </c:pt>
                <c:pt idx="106">
                  <c:v>15.93</c:v>
                </c:pt>
                <c:pt idx="107">
                  <c:v>25.98</c:v>
                </c:pt>
                <c:pt idx="108">
                  <c:v>26.02</c:v>
                </c:pt>
                <c:pt idx="109">
                  <c:v>26.09</c:v>
                </c:pt>
                <c:pt idx="110">
                  <c:v>26.15</c:v>
                </c:pt>
                <c:pt idx="111">
                  <c:v>26.12</c:v>
                </c:pt>
                <c:pt idx="112">
                  <c:v>26.1</c:v>
                </c:pt>
                <c:pt idx="113">
                  <c:v>26.68</c:v>
                </c:pt>
                <c:pt idx="114">
                  <c:v>26.68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Sheet1!$A$2:$A$116</c:f>
              <c:strCache>
                <c:ptCount val="115"/>
                <c:pt idx="0">
                  <c:v>Jan '20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Mar '20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May '20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Jul '20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Oct '20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Dec '20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Feb '21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May '21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Jul '21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Sep '21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Dec '21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Feb '22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</c:strCache>
            </c:strRef>
          </c:cat>
          <c:val>
            <c:numRef>
              <c:f>Sheet1!$C$2:$C$116</c:f>
              <c:numCache>
                <c:formatCode>General</c:formatCode>
                <c:ptCount val="115"/>
                <c:pt idx="4">
                  <c:v>50.37</c:v>
                </c:pt>
                <c:pt idx="37">
                  <c:v>24.21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Sheet1!$A$2:$A$116</c:f>
              <c:strCache>
                <c:ptCount val="115"/>
                <c:pt idx="0">
                  <c:v>Jan '20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Mar '20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May '20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Jul '20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Oct '20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Dec '20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Feb '21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May '21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Jul '21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Sep '21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Dec '21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Feb '22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</c:strCache>
            </c:strRef>
          </c:cat>
          <c:val>
            <c:numRef>
              <c:f>Sheet1!$D$2:$D$116</c:f>
              <c:numCache>
                <c:formatCode>General</c:formatCode>
                <c:ptCount val="115"/>
                <c:pt idx="107">
                  <c:v>25.98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ZOGENIX, INC.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ZGNX  ·  acquired by UCB S.A. (société anonyme formed under the laws of Belgium; principal executive office: Allée de la Recherche, 60, 1070 Brussels, Belgium)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86%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14%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16%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Jan 19, 2022   ·   Closed Mar 07, 2022   ·   Status: completed   ·   Pre-ann. volume 1.06×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ZOGENIX, INC.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ZOGENIX, INC.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668454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754054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53142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5935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39877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43820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67475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5072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26613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81808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0946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64601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72486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9614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5854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9796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47394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7106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71049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74991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22302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26244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4129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53842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65669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16922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76060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91830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95773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99715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03658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15485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19428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23370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27313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31255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35198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39140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43083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47025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50968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82508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10106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25876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29818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33761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41646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957416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9613590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126118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1348300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Jun 2021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Mar 2022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04, 2021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Representative of financial advisor to Party A introduced…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28, 2021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Mr. Smith called Party A executives; confirmed interest in…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19, 2021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SVB Leerink representative introduced Mr. Smith to David…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20, 2021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Mr. Smith called Mr. Flint to further discuss EU…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21, 2021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Zogenix entered confidentiality agreement with Party A…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27, 2021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Zogenix engaged BofA Securities as financial advisor for…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03, 2021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Financial advisor to Party B introduced Stephen Farr (CEO)…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11, 2021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B executives called Dr. Farr and Mr. Smith; expressed…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48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25, 2021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920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Zogenix entered confidentiality agreement with UCB (Parent…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48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09, 2021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920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Zogenix engaged SVB Leerink as additional financial advisor.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48640" y="53492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15, 2021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920240" y="53492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held regularly scheduled meeting; management reviewed…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48640" y="56235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17, 2021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920240" y="56235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B executive called Dr. Farr; stated Party B's…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23, 2021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Mr. Flint, Anna Lisa Picciolo-Lehrke (Head of Global…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28, 2021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Transactions Committee held meeting (with BofA Securities…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29, 2021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Dr. Farr informed Mr. van Zyl that the offer price was…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06, 2021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Mr. van Zyl and Mr. Flint called Dr. Farr and Mr. Smith…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11, 2021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Dr. Farr called Party A CEO; discussed EU partnership…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12, 2021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Transactions Committee meeting (with BofA Securities, SVB…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13, 2021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Dr. Farr and Mr. Smith called Mr. van Zyl and Mr. Flint…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263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25, 2021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635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Mr. van Zyl called Dr. Farr; notified him UCB remained…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263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26, 2021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635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Dr. Tellier called Mr. Garner; expressed strategic fit view…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263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28, 2021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635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Mr. Flint and Mr. Smith called; Mr. Flint said UCB was…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263640" y="53492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02, 2021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635240" y="53492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Mr. Flint and Mr. Smith spoke; discussed key diligence…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263640" y="56235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05, 2021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635240" y="56235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B executive emailed Dr. Farr; notified him that Party…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51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ZOGENIX, INC.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18, 2021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2344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CEO called Dr. Farr; stated Party A and its board…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03, 2021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5087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UCB submitted an updated non-binding offer: maximum value…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07, 2021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7830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CEO called Dr. Farr to preview terms of non-binding…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574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08, 2021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0574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Transactions Committee meeting (with BofA Securities, SVB…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3317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09, 2021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3317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held regularly scheduled meeting; Mr. Garner updated…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10, 2021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Call among Company, BofA Securities, SVB Leerink, Lazard…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13, 2021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CEO called Dr. Farr; stated revised offer being…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14, 2021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Transactions Committee meeting; BofA Securities and SVB…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15, 2021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Dr. Farr called Dr. Tellier and Mr. van Zyl; requested UCB…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16, 2021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Transactions Committee meeting; discussed status of…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17, 2021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Transactions Committee meeting; discussed financing…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18, 2021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Dr. Farr and Party A CEO call; Party A agreed to reduce…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52627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19, 2021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452627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provided draft exclusivity letter (through January…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20, 2021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UCB submitted revised non-binding offer: maximum value…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12344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21, 2021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35240" y="12344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and Party A's financial advisor informed the…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15087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22, 2021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35240" y="15087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Dr. Farr called Dr. Tellier; Dr. Tellier confirmed UCB's…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17830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30, 2021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35240" y="17830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Latham provided revised Merger Agreement draft to Covington…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20574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06, 2022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20574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Covington delivered further revised Merger Agreement to…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23317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10, 2022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23317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Representatives of Covington and Latham call on remaining…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11, 2022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Mr. van Zyl, Mr. Flint, Dr. Farr, and Mr. Smith conference…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12, 2022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Latham provided further revised drafts of Merger Agreement…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14, 2022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meeting; BofA Securities and SVB Leerink presented…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18, 2022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meeting; BofA Securities delivered oral fairness…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19, 2022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Joint press release issued by Company and UCB before U.S.…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01, 2022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UCB (via Zinc Merger Sub) commenced tender offer; Company…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04, 2022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expired at 5:00 p.m. ET. 37,646,050 shares…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63640" y="452627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07, 2022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35240" y="452627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Sub accepted for payment all tendered shares. Merger…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ZOGENIX, INC.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0 unexplained pre-announcement move weeks (of 0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ZOGENIX,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2020-02-06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Zogenix Announces Positive Top-line Results from Global Pivotal Phase 3 Trial of FINTEPLA for the Treatment…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2020-02-27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Zogenix Announces FDA Extension of Review Period for FINTEPLA in Dravet Syndrome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2020-06-26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FDA Approves FINTEPLA (fenfluramine) for the Treatment of Seizures Associated with Dravet Syndrome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2020-09-10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Zogenix Announces Positive Top-Line Results from its Third Pivotal Phase 3 Clinical Trial (Study 3) of…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2021-08-26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Zogenix Receives Orphan Drug Designation for FINTEPLA (Fenfluramine) in Japan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2021-12-01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Zogenix Announces U.S. FDA Acceptance for Priority Review of Supplemental New Drug Application for FINTEPLA…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2022-03-07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Merger completed; Zinc Merger Sub accepted 37,646,050 shares (66.86% of outstanding); Section 251(h) merger…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