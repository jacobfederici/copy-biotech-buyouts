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Sheet1!$A$2:$A$34</c:f>
              <c:strCache>
                <c:ptCount val="33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>Oct '18</c:v>
                </c:pt>
                <c:pt idx="4">
                  <c:v/>
                </c:pt>
                <c:pt idx="5">
                  <c:v/>
                </c:pt>
                <c:pt idx="6">
                  <c:v>Mar '19</c:v>
                </c:pt>
                <c:pt idx="7">
                  <c:v/>
                </c:pt>
                <c:pt idx="8">
                  <c:v/>
                </c:pt>
                <c:pt idx="9">
                  <c:v>Nov '19</c:v>
                </c:pt>
                <c:pt idx="10">
                  <c:v/>
                </c:pt>
                <c:pt idx="11">
                  <c:v/>
                </c:pt>
                <c:pt idx="12">
                  <c:v>May '20</c:v>
                </c:pt>
                <c:pt idx="13">
                  <c:v/>
                </c:pt>
                <c:pt idx="14">
                  <c:v/>
                </c:pt>
                <c:pt idx="15">
                  <c:v>May '20</c:v>
                </c:pt>
                <c:pt idx="16">
                  <c:v/>
                </c:pt>
                <c:pt idx="17">
                  <c:v/>
                </c:pt>
                <c:pt idx="18">
                  <c:v>Jun '20</c:v>
                </c:pt>
                <c:pt idx="19">
                  <c:v/>
                </c:pt>
                <c:pt idx="20">
                  <c:v/>
                </c:pt>
                <c:pt idx="21">
                  <c:v>Jul '20</c:v>
                </c:pt>
                <c:pt idx="22">
                  <c:v/>
                </c:pt>
                <c:pt idx="23">
                  <c:v/>
                </c:pt>
                <c:pt idx="24">
                  <c:v>Aug '20</c:v>
                </c:pt>
                <c:pt idx="25">
                  <c:v/>
                </c:pt>
                <c:pt idx="26">
                  <c:v/>
                </c:pt>
                <c:pt idx="27">
                  <c:v>Aug '20</c:v>
                </c:pt>
                <c:pt idx="28">
                  <c:v/>
                </c:pt>
                <c:pt idx="29">
                  <c:v/>
                </c:pt>
                <c:pt idx="30">
                  <c:v>Sep '20</c:v>
                </c:pt>
                <c:pt idx="31">
                  <c:v/>
                </c:pt>
                <c:pt idx="32">
                  <c:v/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32.65</c:v>
                </c:pt>
                <c:pt idx="1">
                  <c:v>27.23</c:v>
                </c:pt>
                <c:pt idx="2">
                  <c:v>29.22</c:v>
                </c:pt>
                <c:pt idx="3">
                  <c:v>26.37</c:v>
                </c:pt>
                <c:pt idx="4">
                  <c:v>25.09</c:v>
                </c:pt>
                <c:pt idx="5">
                  <c:v>23.92</c:v>
                </c:pt>
                <c:pt idx="6">
                  <c:v>15.78</c:v>
                </c:pt>
                <c:pt idx="7">
                  <c:v>18.23</c:v>
                </c:pt>
                <c:pt idx="8">
                  <c:v>17.79</c:v>
                </c:pt>
                <c:pt idx="9">
                  <c:v>13.49</c:v>
                </c:pt>
                <c:pt idx="10">
                  <c:v>18.85</c:v>
                </c:pt>
                <c:pt idx="11">
                  <c:v>42.97</c:v>
                </c:pt>
                <c:pt idx="12">
                  <c:v>44.45</c:v>
                </c:pt>
                <c:pt idx="13">
                  <c:v>47.0</c:v>
                </c:pt>
                <c:pt idx="14">
                  <c:v>52.4</c:v>
                </c:pt>
                <c:pt idx="15">
                  <c:v>55.05</c:v>
                </c:pt>
                <c:pt idx="16">
                  <c:v>59.42</c:v>
                </c:pt>
                <c:pt idx="17">
                  <c:v>65.97</c:v>
                </c:pt>
                <c:pt idx="18">
                  <c:v>71.09</c:v>
                </c:pt>
                <c:pt idx="19">
                  <c:v>72.56</c:v>
                </c:pt>
                <c:pt idx="20">
                  <c:v>76.53</c:v>
                </c:pt>
                <c:pt idx="21">
                  <c:v>79.29</c:v>
                </c:pt>
                <c:pt idx="22">
                  <c:v>78.68</c:v>
                </c:pt>
                <c:pt idx="23">
                  <c:v>82.14</c:v>
                </c:pt>
                <c:pt idx="24">
                  <c:v>91.57</c:v>
                </c:pt>
                <c:pt idx="25">
                  <c:v>96.92</c:v>
                </c:pt>
                <c:pt idx="26">
                  <c:v>99.39</c:v>
                </c:pt>
                <c:pt idx="27">
                  <c:v>100.0</c:v>
                </c:pt>
                <c:pt idx="28">
                  <c:v>100.0</c:v>
                </c:pt>
                <c:pt idx="29">
                  <c:v>100.0</c:v>
                </c:pt>
                <c:pt idx="30">
                  <c:v>100.0</c:v>
                </c:pt>
                <c:pt idx="31">
                  <c:v>100.0</c:v>
                </c:pt>
                <c:pt idx="32">
                  <c:v>100.05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Sheet1!$A$2:$A$34</c:f>
              <c:strCache>
                <c:ptCount val="33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>Oct '18</c:v>
                </c:pt>
                <c:pt idx="4">
                  <c:v/>
                </c:pt>
                <c:pt idx="5">
                  <c:v/>
                </c:pt>
                <c:pt idx="6">
                  <c:v>Mar '19</c:v>
                </c:pt>
                <c:pt idx="7">
                  <c:v/>
                </c:pt>
                <c:pt idx="8">
                  <c:v/>
                </c:pt>
                <c:pt idx="9">
                  <c:v>Nov '19</c:v>
                </c:pt>
                <c:pt idx="10">
                  <c:v/>
                </c:pt>
                <c:pt idx="11">
                  <c:v/>
                </c:pt>
                <c:pt idx="12">
                  <c:v>May '20</c:v>
                </c:pt>
                <c:pt idx="13">
                  <c:v/>
                </c:pt>
                <c:pt idx="14">
                  <c:v/>
                </c:pt>
                <c:pt idx="15">
                  <c:v>May '20</c:v>
                </c:pt>
                <c:pt idx="16">
                  <c:v/>
                </c:pt>
                <c:pt idx="17">
                  <c:v/>
                </c:pt>
                <c:pt idx="18">
                  <c:v>Jun '20</c:v>
                </c:pt>
                <c:pt idx="19">
                  <c:v/>
                </c:pt>
                <c:pt idx="20">
                  <c:v/>
                </c:pt>
                <c:pt idx="21">
                  <c:v>Jul '20</c:v>
                </c:pt>
                <c:pt idx="22">
                  <c:v/>
                </c:pt>
                <c:pt idx="23">
                  <c:v/>
                </c:pt>
                <c:pt idx="24">
                  <c:v>Aug '20</c:v>
                </c:pt>
                <c:pt idx="25">
                  <c:v/>
                </c:pt>
                <c:pt idx="26">
                  <c:v/>
                </c:pt>
                <c:pt idx="27">
                  <c:v>Aug '20</c:v>
                </c:pt>
                <c:pt idx="28">
                  <c:v/>
                </c:pt>
                <c:pt idx="29">
                  <c:v/>
                </c:pt>
                <c:pt idx="30">
                  <c:v>Sep '20</c:v>
                </c:pt>
                <c:pt idx="31">
                  <c:v/>
                </c:pt>
                <c:pt idx="32">
                  <c:v/>
                </c:pt>
              </c:strCache>
            </c:strRef>
          </c:cat>
          <c:val>
            <c:numRef>
              <c:f>Sheet1!$C$2:$C$34</c:f>
              <c:numCache>
                <c:formatCode>General</c:formatCode>
                <c:ptCount val="33"/>
                <c:pt idx="14">
                  <c:v>52.4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Sheet1!$A$2:$A$34</c:f>
              <c:strCache>
                <c:ptCount val="33"/>
                <c:pt idx="0">
                  <c:v>Sep '18</c:v>
                </c:pt>
                <c:pt idx="1">
                  <c:v/>
                </c:pt>
                <c:pt idx="2">
                  <c:v/>
                </c:pt>
                <c:pt idx="3">
                  <c:v>Oct '18</c:v>
                </c:pt>
                <c:pt idx="4">
                  <c:v/>
                </c:pt>
                <c:pt idx="5">
                  <c:v/>
                </c:pt>
                <c:pt idx="6">
                  <c:v>Mar '19</c:v>
                </c:pt>
                <c:pt idx="7">
                  <c:v/>
                </c:pt>
                <c:pt idx="8">
                  <c:v/>
                </c:pt>
                <c:pt idx="9">
                  <c:v>Nov '19</c:v>
                </c:pt>
                <c:pt idx="10">
                  <c:v/>
                </c:pt>
                <c:pt idx="11">
                  <c:v/>
                </c:pt>
                <c:pt idx="12">
                  <c:v>May '20</c:v>
                </c:pt>
                <c:pt idx="13">
                  <c:v/>
                </c:pt>
                <c:pt idx="14">
                  <c:v/>
                </c:pt>
                <c:pt idx="15">
                  <c:v>May '20</c:v>
                </c:pt>
                <c:pt idx="16">
                  <c:v/>
                </c:pt>
                <c:pt idx="17">
                  <c:v/>
                </c:pt>
                <c:pt idx="18">
                  <c:v>Jun '20</c:v>
                </c:pt>
                <c:pt idx="19">
                  <c:v/>
                </c:pt>
                <c:pt idx="20">
                  <c:v/>
                </c:pt>
                <c:pt idx="21">
                  <c:v>Jul '20</c:v>
                </c:pt>
                <c:pt idx="22">
                  <c:v/>
                </c:pt>
                <c:pt idx="23">
                  <c:v/>
                </c:pt>
                <c:pt idx="24">
                  <c:v>Aug '20</c:v>
                </c:pt>
                <c:pt idx="25">
                  <c:v/>
                </c:pt>
                <c:pt idx="26">
                  <c:v/>
                </c:pt>
                <c:pt idx="27">
                  <c:v>Aug '20</c:v>
                </c:pt>
                <c:pt idx="28">
                  <c:v/>
                </c:pt>
                <c:pt idx="29">
                  <c:v/>
                </c:pt>
                <c:pt idx="30">
                  <c:v>Sep '20</c:v>
                </c:pt>
                <c:pt idx="31">
                  <c:v/>
                </c:pt>
                <c:pt idx="32">
                  <c:v/>
                </c:pt>
              </c:strCache>
            </c:strRef>
          </c:cat>
          <c:val>
            <c:numRef>
              <c:f>Sheet1!$D$2:$D$34</c:f>
              <c:numCache>
                <c:formatCode>General</c:formatCode>
                <c:ptCount val="33"/>
                <c:pt idx="26">
                  <c:v>99.39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Principia Biopharma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PRNB  ·  acquired by Sanofi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16, 2020   ·   Closed Sep 28, 2020   ·   Status: completed   ·   Pre-ann. volume 1.03×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Principia Biopharma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Principia Biopharma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077934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63534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99119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3695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051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19794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0825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701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073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589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723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8167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8898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2307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4683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356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562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Sep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08, 2017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Principia and Genzyme (Sanofi affiliate) enter exclusive…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2020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announces positive Phase 2b data for…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announces additional positive Phase 2b data…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19, 2020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Paul Hudson, CEO of Sanofi, unsolicited email to Martin…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28, 2020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provides written notification that it determined to…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29, 2020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Mr. Hudson and Sanofi management propose acquiring all of…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04, 2020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determines to include BofA Securities as financial…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27, 2020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provides revised written proposal to acquire all of…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02, 2020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Principia Board discusses and reviews the $76.00 proposal…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13, 2020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provides revised written proposal to acquire…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27, 2020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Principia Board authorizes management and advisors to…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Principia and Sanofi management teams engage in extensive…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16, 2020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announces offer to acquire Principia at $100.00 per…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28, 2020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Statement (Schedule TO) filed; SC 14D9 filed…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25, 2020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expiration date of tender offer (later extended).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closes (93.8% of outstanding shares tendered).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28, 2020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becomes effective under DGCL Section 251(h)…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17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Principia Biopharma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0 unexplained pre-announcement move weeks (of 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Principia Biopharma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2018-10-19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Principia Biopharma Announces PRN1008 Receives Orphan-Drug Designation from FDA for Treatment of Immune…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2018-11-29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Principia Biopharma Reports Positive PRN1008 Phase 2 Top-Line Results and Initiates Phase 3 Pemphigus…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2020-02-20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Sanofi Announces Positive Phase 2b Data for SAR442168 in Relapsing Multiple Sclerosis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2020-04-23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Sanofi Announces Positive Phase 2b Data for SAR442168 in Relapsing Multiple Sclerosis Showing Achievement…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