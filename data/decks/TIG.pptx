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Sheet1!$A$2:$A$70</c:f>
              <c:strCache>
                <c:ptCount val="69"/>
                <c:pt idx="0">
                  <c:v>Dec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Jan '17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Mar '17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Apr '17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Jun '17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Aug '17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Oct '17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Nov '17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Dec '17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Mar '18</c:v>
                </c:pt>
                <c:pt idx="67">
                  <c:v/>
                </c:pt>
                <c:pt idx="68">
                  <c:v/>
                </c:pt>
              </c:strCache>
            </c:strRef>
          </c:cat>
          <c:val>
            <c:numRef>
              <c:f>Sheet1!$B$2:$B$70</c:f>
              <c:numCache>
                <c:formatCode>General</c:formatCode>
                <c:ptCount val="69"/>
                <c:pt idx="0">
                  <c:v>14.01</c:v>
                </c:pt>
                <c:pt idx="1">
                  <c:v>15.5</c:v>
                </c:pt>
                <c:pt idx="2">
                  <c:v>14.58</c:v>
                </c:pt>
                <c:pt idx="3">
                  <c:v>14.7</c:v>
                </c:pt>
                <c:pt idx="4">
                  <c:v>14.8</c:v>
                </c:pt>
                <c:pt idx="5">
                  <c:v>14.83</c:v>
                </c:pt>
                <c:pt idx="6">
                  <c:v>15.3</c:v>
                </c:pt>
                <c:pt idx="7">
                  <c:v>15.02</c:v>
                </c:pt>
                <c:pt idx="8">
                  <c:v>14.4</c:v>
                </c:pt>
                <c:pt idx="9">
                  <c:v>14.6</c:v>
                </c:pt>
                <c:pt idx="10">
                  <c:v>14.4</c:v>
                </c:pt>
                <c:pt idx="11">
                  <c:v>14.86</c:v>
                </c:pt>
                <c:pt idx="12">
                  <c:v>15.75</c:v>
                </c:pt>
                <c:pt idx="13">
                  <c:v>16.0</c:v>
                </c:pt>
                <c:pt idx="14">
                  <c:v>15.19</c:v>
                </c:pt>
                <c:pt idx="15">
                  <c:v>15.6</c:v>
                </c:pt>
                <c:pt idx="16">
                  <c:v>16.26</c:v>
                </c:pt>
                <c:pt idx="17">
                  <c:v>16.21</c:v>
                </c:pt>
                <c:pt idx="18">
                  <c:v>16.09</c:v>
                </c:pt>
                <c:pt idx="19">
                  <c:v>16.15</c:v>
                </c:pt>
                <c:pt idx="20">
                  <c:v>16.77</c:v>
                </c:pt>
                <c:pt idx="21">
                  <c:v>17.03</c:v>
                </c:pt>
                <c:pt idx="22">
                  <c:v>17.03</c:v>
                </c:pt>
                <c:pt idx="23">
                  <c:v>16.75</c:v>
                </c:pt>
                <c:pt idx="24">
                  <c:v>17.65</c:v>
                </c:pt>
                <c:pt idx="25">
                  <c:v>18.72</c:v>
                </c:pt>
                <c:pt idx="26">
                  <c:v>19.83</c:v>
                </c:pt>
                <c:pt idx="27">
                  <c:v>20.64</c:v>
                </c:pt>
                <c:pt idx="28">
                  <c:v>22.56</c:v>
                </c:pt>
                <c:pt idx="29">
                  <c:v>20.5</c:v>
                </c:pt>
                <c:pt idx="30">
                  <c:v>21.3</c:v>
                </c:pt>
                <c:pt idx="31">
                  <c:v>21.07</c:v>
                </c:pt>
                <c:pt idx="32">
                  <c:v>21.37</c:v>
                </c:pt>
                <c:pt idx="33">
                  <c:v>21.24</c:v>
                </c:pt>
                <c:pt idx="34">
                  <c:v>20.44</c:v>
                </c:pt>
                <c:pt idx="35">
                  <c:v>20.5</c:v>
                </c:pt>
                <c:pt idx="36">
                  <c:v>22.4</c:v>
                </c:pt>
                <c:pt idx="37">
                  <c:v>22.78</c:v>
                </c:pt>
                <c:pt idx="38">
                  <c:v>23.21</c:v>
                </c:pt>
                <c:pt idx="39">
                  <c:v>24.17</c:v>
                </c:pt>
                <c:pt idx="40">
                  <c:v>24.0</c:v>
                </c:pt>
                <c:pt idx="41">
                  <c:v>23.81</c:v>
                </c:pt>
                <c:pt idx="42">
                  <c:v>24.64</c:v>
                </c:pt>
                <c:pt idx="43">
                  <c:v>24.54</c:v>
                </c:pt>
                <c:pt idx="44">
                  <c:v>23.7</c:v>
                </c:pt>
                <c:pt idx="45">
                  <c:v>22.86</c:v>
                </c:pt>
                <c:pt idx="46">
                  <c:v>22.55</c:v>
                </c:pt>
                <c:pt idx="47">
                  <c:v>21.84</c:v>
                </c:pt>
                <c:pt idx="48">
                  <c:v>22.45</c:v>
                </c:pt>
                <c:pt idx="49">
                  <c:v>22.43</c:v>
                </c:pt>
                <c:pt idx="50">
                  <c:v>22.4</c:v>
                </c:pt>
                <c:pt idx="51">
                  <c:v>22.61</c:v>
                </c:pt>
                <c:pt idx="52">
                  <c:v>24.92</c:v>
                </c:pt>
                <c:pt idx="53">
                  <c:v>23.68</c:v>
                </c:pt>
                <c:pt idx="54">
                  <c:v>22.9</c:v>
                </c:pt>
                <c:pt idx="55">
                  <c:v>40.73</c:v>
                </c:pt>
                <c:pt idx="56">
                  <c:v>41.35</c:v>
                </c:pt>
                <c:pt idx="57">
                  <c:v>41.94</c:v>
                </c:pt>
                <c:pt idx="58">
                  <c:v>42.58</c:v>
                </c:pt>
                <c:pt idx="59">
                  <c:v>43.09</c:v>
                </c:pt>
                <c:pt idx="60">
                  <c:v>41.77</c:v>
                </c:pt>
                <c:pt idx="61">
                  <c:v>42.75</c:v>
                </c:pt>
                <c:pt idx="62">
                  <c:v>40.77</c:v>
                </c:pt>
                <c:pt idx="63">
                  <c:v>41.95</c:v>
                </c:pt>
                <c:pt idx="64">
                  <c:v>42.34</c:v>
                </c:pt>
                <c:pt idx="65">
                  <c:v>42.01</c:v>
                </c:pt>
                <c:pt idx="66">
                  <c:v>42.44</c:v>
                </c:pt>
                <c:pt idx="67">
                  <c:v>43.17</c:v>
                </c:pt>
                <c:pt idx="68">
                  <c:v>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Sheet1!$A$2:$A$70</c:f>
              <c:strCache>
                <c:ptCount val="69"/>
                <c:pt idx="0">
                  <c:v>Dec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Jan '17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Mar '17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Apr '17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Jun '17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Aug '17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Oct '17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Nov '17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Dec '17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Mar '18</c:v>
                </c:pt>
                <c:pt idx="67">
                  <c:v/>
                </c:pt>
                <c:pt idx="68">
                  <c:v/>
                </c:pt>
              </c:strCache>
            </c:strRef>
          </c:cat>
          <c:val>
            <c:numRef>
              <c:f>Sheet1!$C$2:$C$70</c:f>
              <c:numCache>
                <c:formatCode>General</c:formatCode>
                <c:ptCount val="69"/>
                <c:pt idx="55">
                  <c:v>40.73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TiGenix NV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TIG  ·  acquired by Takeda Pharmaceutical Company Limited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$1.78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05, 2018   ·   Closed n/a   ·   Status: pending   ·   Pre-ann. volume 1.89×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TiGenix NV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TiGenix NV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49778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38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01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894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944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140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937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436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35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081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079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429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5734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3702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Marcello Agosti (Takeda) meets Eduardo Bravo (TiGenix) in…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Execution of the Original Confidentiality Agreement.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submits the First Proposal to acquire TiGenix at…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28, 2017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TiGenix Board rejects the First Proposal as undervaluing…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submits the Second Proposal at €1.60 per share.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27, 2017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orally communicates the Third Proposal at €1.70 per…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06, 2017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submits the Fourth Proposal at €1.78 per share.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10, 2017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issues a formal non-binding Letter of Interest at…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15, 2017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TiGenix announces execution of Mesoblast Licensing…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04, 2018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TiGenix Board unanimously approves the Offer and Support…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05, 2018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Execution of the Offer and Support Agreement and public…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HSR Act waiting period expires, satisfying U.S. antitrust…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23, 2018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European Commission grants marketing authorization for…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30, 2018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U.S. Tender Offer.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TiGenix 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TiGenix NV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its Investigation of the Merger – TIG, OSH…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its Investigation of the Merger – OSH, TIG…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its Investigation of the Merger – TIG, RADI, MAXR, OSH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PTRS, TIG, FOCS, INDT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TIG, PTRS, NUVA, CVT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Trean Insurance Group Special Meeting Reminder and Announcement of Recommendations by ISS and Glass Lewis…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Trean Insurance Group Special Meeting Reminder and Announcement of Recommendations by ISS and Glass Lewis…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Trean Insurance Group Receives Stockholder Approval of Proposed Merger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Trean Insurance Group Receives Stockholder Approval of Proposed Merger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