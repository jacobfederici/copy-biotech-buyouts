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Close</c:v>
                </c:pt>
              </c:strCache>
            </c:strRef>
          </c:tx>
          <c:spPr>
            <a:ln w="25400">
              <a:solidFill>
                <a:srgbClr val="2E78D2"/>
              </a:solidFill>
            </a:ln>
          </c:spPr>
          <c:marker>
            <c:symbol val="none"/>
          </c:marker>
          <c:cat>
            <c:strRef>
              <c:f>Sheet1!$A$2:$A$111</c:f>
              <c:strCache>
                <c:ptCount val="110"/>
                <c:pt idx="0">
                  <c:v>Sep '14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Dec '14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Feb '15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Apr '15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Jul '15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Sep '15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Nov '15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Jan '16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Apr '16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Jun '16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Aug '16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</c:strCache>
            </c:strRef>
          </c:cat>
          <c:val>
            <c:numRef>
              <c:f>Sheet1!$B$2:$B$111</c:f>
              <c:numCache>
                <c:formatCode>General</c:formatCode>
                <c:ptCount val="110"/>
                <c:pt idx="0">
                  <c:v>7.95</c:v>
                </c:pt>
                <c:pt idx="1">
                  <c:v>7.01</c:v>
                </c:pt>
                <c:pt idx="2">
                  <c:v>6.39</c:v>
                </c:pt>
                <c:pt idx="3">
                  <c:v>6.3</c:v>
                </c:pt>
                <c:pt idx="4">
                  <c:v>9.11</c:v>
                </c:pt>
                <c:pt idx="5">
                  <c:v>13.24</c:v>
                </c:pt>
                <c:pt idx="6">
                  <c:v>14.44</c:v>
                </c:pt>
                <c:pt idx="7">
                  <c:v>16.36</c:v>
                </c:pt>
                <c:pt idx="8">
                  <c:v>17.0</c:v>
                </c:pt>
                <c:pt idx="9">
                  <c:v>20.35</c:v>
                </c:pt>
                <c:pt idx="10">
                  <c:v>18.87</c:v>
                </c:pt>
                <c:pt idx="11">
                  <c:v>22.01</c:v>
                </c:pt>
                <c:pt idx="12">
                  <c:v>21.81</c:v>
                </c:pt>
                <c:pt idx="13">
                  <c:v>18.56</c:v>
                </c:pt>
                <c:pt idx="14">
                  <c:v>16.54</c:v>
                </c:pt>
                <c:pt idx="15">
                  <c:v>16.73</c:v>
                </c:pt>
                <c:pt idx="16">
                  <c:v>12.95</c:v>
                </c:pt>
                <c:pt idx="17">
                  <c:v>14.94</c:v>
                </c:pt>
                <c:pt idx="18">
                  <c:v>14.57</c:v>
                </c:pt>
                <c:pt idx="19">
                  <c:v>13.56</c:v>
                </c:pt>
                <c:pt idx="20">
                  <c:v>14.4</c:v>
                </c:pt>
                <c:pt idx="21">
                  <c:v>14.2</c:v>
                </c:pt>
                <c:pt idx="22">
                  <c:v>11.62</c:v>
                </c:pt>
                <c:pt idx="23">
                  <c:v>10.87</c:v>
                </c:pt>
                <c:pt idx="24">
                  <c:v>11.16</c:v>
                </c:pt>
                <c:pt idx="25">
                  <c:v>12.36</c:v>
                </c:pt>
                <c:pt idx="26">
                  <c:v>11.21</c:v>
                </c:pt>
                <c:pt idx="27">
                  <c:v>12.68</c:v>
                </c:pt>
                <c:pt idx="28">
                  <c:v>15.57</c:v>
                </c:pt>
                <c:pt idx="29">
                  <c:v>13.85</c:v>
                </c:pt>
                <c:pt idx="30">
                  <c:v>14.05</c:v>
                </c:pt>
                <c:pt idx="31">
                  <c:v>14.14</c:v>
                </c:pt>
                <c:pt idx="32">
                  <c:v>13.58</c:v>
                </c:pt>
                <c:pt idx="33">
                  <c:v>12.76</c:v>
                </c:pt>
                <c:pt idx="34">
                  <c:v>12.64</c:v>
                </c:pt>
                <c:pt idx="35">
                  <c:v>12.26</c:v>
                </c:pt>
                <c:pt idx="36">
                  <c:v>12.37</c:v>
                </c:pt>
                <c:pt idx="37">
                  <c:v>12.44</c:v>
                </c:pt>
                <c:pt idx="38">
                  <c:v>15.82</c:v>
                </c:pt>
                <c:pt idx="39">
                  <c:v>15.19</c:v>
                </c:pt>
                <c:pt idx="40">
                  <c:v>12.33</c:v>
                </c:pt>
                <c:pt idx="41">
                  <c:v>10.26</c:v>
                </c:pt>
                <c:pt idx="42">
                  <c:v>11.0</c:v>
                </c:pt>
                <c:pt idx="43">
                  <c:v>10.38</c:v>
                </c:pt>
                <c:pt idx="44">
                  <c:v>10.11</c:v>
                </c:pt>
                <c:pt idx="45">
                  <c:v>8.2</c:v>
                </c:pt>
                <c:pt idx="46">
                  <c:v>8.28</c:v>
                </c:pt>
                <c:pt idx="47">
                  <c:v>7.53</c:v>
                </c:pt>
                <c:pt idx="48">
                  <c:v>8.02</c:v>
                </c:pt>
                <c:pt idx="49">
                  <c:v>7.6</c:v>
                </c:pt>
                <c:pt idx="50">
                  <c:v>14.32</c:v>
                </c:pt>
                <c:pt idx="51">
                  <c:v>14.69</c:v>
                </c:pt>
                <c:pt idx="52">
                  <c:v>14.33</c:v>
                </c:pt>
                <c:pt idx="53">
                  <c:v>11.58</c:v>
                </c:pt>
                <c:pt idx="54">
                  <c:v>13.0</c:v>
                </c:pt>
                <c:pt idx="55">
                  <c:v>13.13</c:v>
                </c:pt>
                <c:pt idx="56">
                  <c:v>11.6</c:v>
                </c:pt>
                <c:pt idx="57">
                  <c:v>11.88</c:v>
                </c:pt>
                <c:pt idx="58">
                  <c:v>12.49</c:v>
                </c:pt>
                <c:pt idx="59">
                  <c:v>13.91</c:v>
                </c:pt>
                <c:pt idx="60">
                  <c:v>13.64</c:v>
                </c:pt>
                <c:pt idx="61">
                  <c:v>14.47</c:v>
                </c:pt>
                <c:pt idx="62">
                  <c:v>14.17</c:v>
                </c:pt>
                <c:pt idx="63">
                  <c:v>14.79</c:v>
                </c:pt>
                <c:pt idx="64">
                  <c:v>16.2</c:v>
                </c:pt>
                <c:pt idx="65">
                  <c:v>16.67</c:v>
                </c:pt>
                <c:pt idx="66">
                  <c:v>18.1</c:v>
                </c:pt>
                <c:pt idx="67">
                  <c:v>13.99</c:v>
                </c:pt>
                <c:pt idx="68">
                  <c:v>12.06</c:v>
                </c:pt>
                <c:pt idx="69">
                  <c:v>11.73</c:v>
                </c:pt>
                <c:pt idx="70">
                  <c:v>9.8</c:v>
                </c:pt>
                <c:pt idx="71">
                  <c:v>9.17</c:v>
                </c:pt>
                <c:pt idx="72">
                  <c:v>8.58</c:v>
                </c:pt>
                <c:pt idx="73">
                  <c:v>8.74</c:v>
                </c:pt>
                <c:pt idx="74">
                  <c:v>9.16</c:v>
                </c:pt>
                <c:pt idx="75">
                  <c:v>4.69</c:v>
                </c:pt>
                <c:pt idx="76">
                  <c:v>4.77</c:v>
                </c:pt>
                <c:pt idx="77">
                  <c:v>7.19</c:v>
                </c:pt>
                <c:pt idx="78">
                  <c:v>6.0</c:v>
                </c:pt>
                <c:pt idx="79">
                  <c:v>6.7</c:v>
                </c:pt>
                <c:pt idx="80">
                  <c:v>7.29</c:v>
                </c:pt>
                <c:pt idx="81">
                  <c:v>7.69</c:v>
                </c:pt>
                <c:pt idx="82">
                  <c:v>8.08</c:v>
                </c:pt>
                <c:pt idx="83">
                  <c:v>7.19</c:v>
                </c:pt>
                <c:pt idx="84">
                  <c:v>6.27</c:v>
                </c:pt>
                <c:pt idx="85">
                  <c:v>6.39</c:v>
                </c:pt>
                <c:pt idx="86">
                  <c:v>7.94</c:v>
                </c:pt>
                <c:pt idx="87">
                  <c:v>9.62</c:v>
                </c:pt>
                <c:pt idx="88">
                  <c:v>9.87</c:v>
                </c:pt>
                <c:pt idx="89">
                  <c:v>10.19</c:v>
                </c:pt>
                <c:pt idx="90">
                  <c:v>10.07</c:v>
                </c:pt>
                <c:pt idx="91">
                  <c:v>10.4</c:v>
                </c:pt>
                <c:pt idx="92">
                  <c:v>10.29</c:v>
                </c:pt>
                <c:pt idx="93">
                  <c:v>10.73</c:v>
                </c:pt>
                <c:pt idx="94">
                  <c:v>10.02</c:v>
                </c:pt>
                <c:pt idx="95">
                  <c:v>10.76</c:v>
                </c:pt>
                <c:pt idx="96">
                  <c:v>10.65</c:v>
                </c:pt>
                <c:pt idx="97">
                  <c:v>8.72</c:v>
                </c:pt>
                <c:pt idx="98">
                  <c:v>8.63</c:v>
                </c:pt>
                <c:pt idx="99">
                  <c:v>7.88</c:v>
                </c:pt>
                <c:pt idx="100">
                  <c:v>6.97</c:v>
                </c:pt>
                <c:pt idx="101">
                  <c:v>7.01</c:v>
                </c:pt>
                <c:pt idx="102">
                  <c:v>8.05</c:v>
                </c:pt>
                <c:pt idx="103">
                  <c:v>20.95</c:v>
                </c:pt>
                <c:pt idx="104">
                  <c:v>20.94</c:v>
                </c:pt>
                <c:pt idx="105">
                  <c:v>20.92</c:v>
                </c:pt>
                <c:pt idx="106">
                  <c:v>20.99</c:v>
                </c:pt>
                <c:pt idx="107">
                  <c:v>20.99</c:v>
                </c:pt>
                <c:pt idx="108">
                  <c:v>20.99</c:v>
                </c:pt>
                <c:pt idx="109">
                  <c:v>21.0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Event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10"/>
            <c:spPr>
              <a:solidFill>
                <a:srgbClr val="13A88A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Sheet1!$A$2:$A$111</c:f>
              <c:strCache>
                <c:ptCount val="110"/>
                <c:pt idx="0">
                  <c:v>Sep '14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Dec '14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Feb '15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Apr '15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Jul '15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Sep '15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Nov '15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Jan '16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Apr '16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Jun '16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Aug '16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</c:strCache>
            </c:strRef>
          </c:cat>
          <c:val>
            <c:numRef>
              <c:f>Sheet1!$C$2:$C$111</c:f>
              <c:numCache>
                <c:formatCode>General</c:formatCode>
                <c:ptCount val="110"/>
                <c:pt idx="49">
                  <c:v>7.6</c:v>
                </c:pt>
                <c:pt idx="74">
                  <c:v>9.16</c:v>
                </c:pt>
                <c:pt idx="85">
                  <c:v>6.39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Rumor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10"/>
            <c:spPr>
              <a:solidFill>
                <a:srgbClr val="E8455F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Sheet1!$A$2:$A$111</c:f>
              <c:strCache>
                <c:ptCount val="110"/>
                <c:pt idx="0">
                  <c:v>Sep '14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Dec '14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Feb '15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Apr '15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Jul '15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Sep '15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Nov '15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Jan '16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Apr '16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Jun '16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Aug '16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</c:strCache>
            </c:strRef>
          </c:cat>
          <c:val>
            <c:numRef>
              <c:f>Sheet1!$D$2:$D$111</c:f>
              <c:numCache>
                <c:formatCode>General</c:formatCode>
                <c:ptCount val="110"/>
                <c:pt idx="3">
                  <c:v>6.3</c:v>
                </c:pt>
                <c:pt idx="4">
                  <c:v>9.11</c:v>
                </c:pt>
                <c:pt idx="15">
                  <c:v>16.73</c:v>
                </c:pt>
                <c:pt idx="27">
                  <c:v>12.68</c:v>
                </c:pt>
                <c:pt idx="37">
                  <c:v>12.44</c:v>
                </c:pt>
                <c:pt idx="66">
                  <c:v>18.1</c:v>
                </c:pt>
                <c:pt idx="76">
                  <c:v>4.77</c:v>
                </c:pt>
                <c:pt idx="86">
                  <c:v>7.94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Deal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10"/>
            <c:spPr>
              <a:solidFill>
                <a:srgbClr val="E89B2B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Sheet1!$A$2:$A$111</c:f>
              <c:strCache>
                <c:ptCount val="110"/>
                <c:pt idx="0">
                  <c:v>Sep '14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Dec '14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Feb '15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Apr '15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Jul '15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Sep '15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Nov '15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Jan '16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Apr '16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Jun '16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Aug '16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</c:strCache>
            </c:strRef>
          </c:cat>
          <c:val>
            <c:numRef>
              <c:f>Sheet1!$E$2:$E$111</c:f>
              <c:numCache>
                <c:formatCode>General</c:formatCode>
                <c:ptCount val="110"/>
                <c:pt idx="103">
                  <c:v>20.95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6B7C8F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 w="6350">
              <a:solidFill>
                <a:srgbClr val="E4EAF1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6B7C8F"/>
                </a:solidFill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0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881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8FB4E0"/>
                </a:solidFill>
                <a:latin typeface="Calibri"/>
              </a:rPr>
              <a:t>BUYOUT CASE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881360" cy="13716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>
                <a:solidFill>
                  <a:srgbClr val="FFFFFF"/>
                </a:solidFill>
                <a:latin typeface="Calibri"/>
              </a:rPr>
              <a:t>Vitae Pharmaceuticals</a:t>
            </a:r>
          </a:p>
          <a:p>
            <a:pPr algn="l">
              <a:lnSpc>
                <a:spcPct val="105000"/>
              </a:lnSpc>
            </a:pPr>
            <a:r>
              <a:rPr sz="1800" b="0">
                <a:solidFill>
                  <a:srgbClr val="CADCFC"/>
                </a:solidFill>
                <a:latin typeface="Calibri"/>
              </a:rPr>
              <a:t>VTAE  ·  acquired by Allergan plc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9B2B"/>
                </a:solidFill>
                <a:latin typeface="Calibri"/>
              </a:rPr>
              <a:t>$21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Deal price/sh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3A88A"/>
                </a:solidFill>
                <a:latin typeface="Calibri"/>
              </a:rPr>
              <a:t>143%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Premium (unaffected)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455F"/>
                </a:solidFill>
                <a:latin typeface="Calibri"/>
              </a:rPr>
              <a:t>-7%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4-wk pre-ann. run-up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455F"/>
                </a:solidFill>
                <a:latin typeface="Calibri"/>
              </a:rPr>
              <a:t>-5%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% premium pre-captured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846320"/>
            <a:ext cx="10881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8FB4E0"/>
                </a:solidFill>
                <a:latin typeface="Calibri"/>
              </a:rPr>
              <a:t>Announced Sep 14, 2016   ·   Closed Oct 25, 2016   ·   Status: completed   ·   Pre-ann. volume 0.67× normal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263640"/>
            <a:ext cx="108813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E7790"/>
                </a:solidFill>
                <a:latin typeface="Calibri"/>
              </a:rPr>
              <a:t>Sources: SEC SC 14D-9 filing + weekly market data. Rumor = price move with no identified filing/news.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Stock price, events &amp; rumors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Vitae Pharmaceuticals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325880"/>
          <a:ext cx="11247120" cy="4343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98932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red = unexplained move (rumor/leak)</a:t>
            </a:r>
            <a:r>
              <a:rPr sz="1100" b="0">
                <a:solidFill>
                  <a:srgbClr val="6B7C8F"/>
                </a:solidFill>
                <a:latin typeface="Calibri"/>
              </a:rPr>
              <a:t> · </a:t>
            </a:r>
            <a:r>
              <a:rPr sz="1100" b="1">
                <a:solidFill>
                  <a:srgbClr val="13A88A"/>
                </a:solidFill>
                <a:latin typeface="Calibri"/>
              </a:rPr>
              <a:t>teal = news-driven (event)</a:t>
            </a:r>
            <a:r>
              <a:rPr sz="1100" b="0">
                <a:solidFill>
                  <a:srgbClr val="6B7C8F"/>
                </a:solidFill>
                <a:latin typeface="Calibri"/>
              </a:rPr>
              <a:t> · </a:t>
            </a:r>
            <a:r>
              <a:rPr sz="1100" b="1">
                <a:solidFill>
                  <a:srgbClr val="E89B2B"/>
                </a:solidFill>
                <a:latin typeface="Calibri"/>
              </a:rPr>
              <a:t>gold = deal announcement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6B7C8F"/>
                </a:solidFill>
                <a:latin typeface="Calibri"/>
              </a:rPr>
              <a:t>Rumor/event markers are placed one week before the reported move week (weekly data; a reported move can lag the true move by up to a week). The deal marker is on the actual announcement week.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Interaction timeline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Vitae Pharmaceuticals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783080"/>
            <a:ext cx="10881360" cy="0"/>
          </a:xfrm>
          <a:prstGeom prst="line">
            <a:avLst/>
          </a:prstGeom>
          <a:ln w="25400">
            <a:solidFill>
              <a:srgbClr val="E4EA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1201170" y="1463039"/>
            <a:ext cx="0" cy="640081"/>
          </a:xfrm>
          <a:prstGeom prst="line">
            <a:avLst/>
          </a:prstGeom>
          <a:ln w="19050">
            <a:solidFill>
              <a:srgbClr val="E89B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286770" y="1399032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E89B2B"/>
                </a:solidFill>
              </a:rPr>
              <a:t>Announcement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1521440" y="1463039"/>
            <a:ext cx="0" cy="640081"/>
          </a:xfrm>
          <a:prstGeom prst="line">
            <a:avLst/>
          </a:prstGeom>
          <a:ln w="19050">
            <a:solidFill>
              <a:srgbClr val="2E78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0607040" y="205740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2E78D2"/>
                </a:solidFill>
              </a:rPr>
              <a:t>Close</a:t>
            </a:r>
          </a:p>
        </p:txBody>
      </p:sp>
      <p:sp>
        <p:nvSpPr>
          <p:cNvPr id="10" name="Oval 9"/>
          <p:cNvSpPr/>
          <p:nvPr/>
        </p:nvSpPr>
        <p:spPr>
          <a:xfrm>
            <a:off x="58521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436397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138761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607449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037079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326103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0693241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763544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865093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92758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1068191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138494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1146306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1240043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1458764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1466576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1929384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>
                <a:solidFill>
                  <a:srgbClr val="6B7C8F"/>
                </a:solidFill>
              </a:rPr>
              <a:t>Jan 2013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241280" y="1929384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B7C8F"/>
                </a:solidFill>
              </a:rPr>
              <a:t>Oct 2016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2013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20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Vitae conducts discussions with 15 potential partners…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2014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20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Vitae completes its initial public offering.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Jan 01, 2016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20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Vitae meets with 34 companies at J.P. Morgan healthcare…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34290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Mar 01, 2016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20240" y="34290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Vitae announces top-line results of VTP-43742 Phase 2a…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37033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Apr 25, 2016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20240" y="37033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Allergan submits a term sheet for a potential partnership…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3977639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Jun 01, 2016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20240" y="3977639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Vitae informs Allergan it does not wish to pursue a…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8640" y="42519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Jul 18, 2016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920240" y="42519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Allergan CEO Brenton Saunders meets with Vitae CEO Jeffrey…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8640" y="45262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Jul 27, 2016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920240" y="45262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Allergan delivers a written non-binding indication of…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63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Aug 09, 2016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635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Vitae formally engages J.P. Morgan as financial advisor.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263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Aug 17, 2016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635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Vitae and Allergan enter into a Confidentiality Agreement…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263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Sep 04, 2016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635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Allergan delivers an updated 'best and final' offer of…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263640" y="34290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Sep 13, 2016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635240" y="34290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Vitae Board unanimously approves the Merger Agreement.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263640" y="37033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Sep 14, 2016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635240" y="37033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Public announcement of the transaction.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263640" y="3977639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Sep 26, 2016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635240" y="3977639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Commencement of the tender offer.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263640" y="42519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Oct 24, 2016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635240" y="42519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Tender offer expires with 90.3% of shares tendered.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263640" y="45262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Oct 25, 2016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635240" y="45262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Merger completed; Vitae becomes a wholly-owned subsidiary…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48640" y="64465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B7C8F"/>
                </a:solidFill>
                <a:latin typeface="Calibri"/>
              </a:rPr>
              <a:t>16 disclosed milestones, first contact → close · dates shown at the precision the filing states (month/year where imprecise).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The rumors — unexplained pre-announcement moves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Vitae Pharmaceuticals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E78D2"/>
                </a:solidFill>
                <a:latin typeface="Calibri"/>
              </a:rPr>
              <a:t>11 unexplained pre-announcement move weeks (of 12 total unexplained inflections)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11064240" cy="457200"/>
          </a:xfrm>
          <a:prstGeom prst="roundRect">
            <a:avLst/>
          </a:prstGeom>
          <a:solidFill>
            <a:srgbClr val="EAF1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66544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Week ended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2066544"/>
            <a:ext cx="23774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Move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2066544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Timing vs. announcement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514600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2015-09-11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2514600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+88%  ($7.6→$14.32)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2514600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369 days before announcement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935224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2016-03-18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2935224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+51%  ($4.77→$7.19)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2935224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180 days before announcement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355848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2016-03-04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0" y="3355848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6B7C8F"/>
                </a:solidFill>
                <a:latin typeface="Calibri"/>
              </a:rPr>
              <a:t>-49%  ($9.16→$4.69)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3355848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194 days before announcement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3776472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2014-10-31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26080" y="3776472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+45%  ($9.11→$13.24)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0" y="3776472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684 days before announcement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197096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2014-10-24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26080" y="4197096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+45%  ($6.3→$9.11)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0" y="4197096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691 days before announcement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4617720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2015-06-19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926080" y="4617720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+27%  ($12.44→$15.82)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0" y="4617720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453 days before announcement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5038344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2016-05-20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926080" y="5038344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+24%  ($6.39→$7.94)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0" y="5038344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117 days before announcement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5458968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2015-04-10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926080" y="5458968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+23%  ($12.68→$15.57)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0" y="5458968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523 days before announcement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C8F"/>
                </a:solidFill>
                <a:latin typeface="Calibri"/>
              </a:rPr>
              <a:t>These are weeks the stock moved materially with no disclosed catalyst — the leak/rumor footprint.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The events — disclosed catalysts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Vitae Pharmaceuticals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08176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26464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40280" y="1371600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2015-11-05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1371600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Vitae Pharmaceuticals Reports Third Quarter 2015 Operating and Financial Results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920240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938528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40280" y="1883664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2015-11-18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1883664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Vitae Pharmaceuticals Announces Positive Top-Line Results From a Phase 1 Multiple Ascending Dose Trial of…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432304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450592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40280" y="2395728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2015-12-17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2395728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Vitae Pharmaceuticals Reports Top-Line Results From Remaining Monotherapy Arm of Phase 2 Clinical Trial of…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2944368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2962656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40280" y="2907792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2016-02-25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0" y="2907792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Vitae Pharmaceuticals to Announce Fourth Quarter and Full Year 2015 Financial Results on March 3, 2016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3456432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3474720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40280" y="3419856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2016-03-03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66160" y="3419856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Vitae Pharmaceuticals Reports Fourth Quarter and Full Year 2015 Operating and Financial Results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3968496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3986784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240280" y="3931920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2016-05-03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0" y="3931920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Vitae Pharmaceuticals to Announce First Quarter 2016 Financial Results on May 10, 2016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" y="4480560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4498848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240280" y="4443984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2016-05-10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66160" y="4443984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Vitae Pharmaceuticals Reports First Quarter 2016 Operating and Financial Results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080" y="4992624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" y="5010912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240280" y="4956048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2016-08-01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66160" y="4956048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Vitae Pharmaceuticals to Announce Second Quarter 2016 Financial Results on August 3, 2016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0080" y="5504688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" y="5522976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240280" y="5468112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2016-08-03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66160" y="5468112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Vitae Pharmaceuticals Reports Second Quarter 2016 Operating and Financial Results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C8F"/>
                </a:solidFill>
                <a:latin typeface="Calibri"/>
              </a:rPr>
              <a:t>Catalysts tagged by keyword from the report's Company News table.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