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Sep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54.02</c:v>
                </c:pt>
                <c:pt idx="1">
                  <c:v>63.63</c:v>
                </c:pt>
                <c:pt idx="2">
                  <c:v>65.94</c:v>
                </c:pt>
                <c:pt idx="3">
                  <c:v>57.02</c:v>
                </c:pt>
                <c:pt idx="4">
                  <c:v>61.97</c:v>
                </c:pt>
                <c:pt idx="5">
                  <c:v>63.33</c:v>
                </c:pt>
                <c:pt idx="6">
                  <c:v>65.07</c:v>
                </c:pt>
                <c:pt idx="7">
                  <c:v>70.61</c:v>
                </c:pt>
                <c:pt idx="8">
                  <c:v>68.05</c:v>
                </c:pt>
                <c:pt idx="9">
                  <c:v>73.77</c:v>
                </c:pt>
                <c:pt idx="10">
                  <c:v>81.33</c:v>
                </c:pt>
                <c:pt idx="11">
                  <c:v>82.93</c:v>
                </c:pt>
                <c:pt idx="12">
                  <c:v>86.43</c:v>
                </c:pt>
                <c:pt idx="13">
                  <c:v>70.44</c:v>
                </c:pt>
                <c:pt idx="14">
                  <c:v>65.19</c:v>
                </c:pt>
                <c:pt idx="15">
                  <c:v>63.03</c:v>
                </c:pt>
                <c:pt idx="16">
                  <c:v>62.25</c:v>
                </c:pt>
                <c:pt idx="17">
                  <c:v>61.62</c:v>
                </c:pt>
                <c:pt idx="18">
                  <c:v>54.15</c:v>
                </c:pt>
                <c:pt idx="19">
                  <c:v>55.63</c:v>
                </c:pt>
                <c:pt idx="20">
                  <c:v>50.98</c:v>
                </c:pt>
                <c:pt idx="21">
                  <c:v>47.49</c:v>
                </c:pt>
                <c:pt idx="22">
                  <c:v>41.47</c:v>
                </c:pt>
                <c:pt idx="23">
                  <c:v>42.88</c:v>
                </c:pt>
                <c:pt idx="24">
                  <c:v>48.13</c:v>
                </c:pt>
                <c:pt idx="25">
                  <c:v>47.37</c:v>
                </c:pt>
                <c:pt idx="26">
                  <c:v>54.44</c:v>
                </c:pt>
                <c:pt idx="27">
                  <c:v>50.62</c:v>
                </c:pt>
                <c:pt idx="28">
                  <c:v>44.33</c:v>
                </c:pt>
                <c:pt idx="29">
                  <c:v>42.37</c:v>
                </c:pt>
                <c:pt idx="30">
                  <c:v>48.63</c:v>
                </c:pt>
                <c:pt idx="31">
                  <c:v>50.27</c:v>
                </c:pt>
                <c:pt idx="32">
                  <c:v>50.14</c:v>
                </c:pt>
                <c:pt idx="33">
                  <c:v>50.25</c:v>
                </c:pt>
                <c:pt idx="34">
                  <c:v>46.28</c:v>
                </c:pt>
                <c:pt idx="35">
                  <c:v>44.65</c:v>
                </c:pt>
                <c:pt idx="36">
                  <c:v>42.64</c:v>
                </c:pt>
                <c:pt idx="37">
                  <c:v>47.0</c:v>
                </c:pt>
                <c:pt idx="38">
                  <c:v>47.79</c:v>
                </c:pt>
                <c:pt idx="39">
                  <c:v>52.08</c:v>
                </c:pt>
                <c:pt idx="40">
                  <c:v>51.3</c:v>
                </c:pt>
                <c:pt idx="41">
                  <c:v>49.73</c:v>
                </c:pt>
                <c:pt idx="42">
                  <c:v>50.74</c:v>
                </c:pt>
                <c:pt idx="43">
                  <c:v>50.95</c:v>
                </c:pt>
                <c:pt idx="44">
                  <c:v>48.53</c:v>
                </c:pt>
                <c:pt idx="45">
                  <c:v>48.66</c:v>
                </c:pt>
                <c:pt idx="46">
                  <c:v>50.75</c:v>
                </c:pt>
                <c:pt idx="47">
                  <c:v>56.63</c:v>
                </c:pt>
                <c:pt idx="48">
                  <c:v>58.59</c:v>
                </c:pt>
                <c:pt idx="49">
                  <c:v>60.16</c:v>
                </c:pt>
                <c:pt idx="50">
                  <c:v>60.5</c:v>
                </c:pt>
                <c:pt idx="51">
                  <c:v>58.64</c:v>
                </c:pt>
                <c:pt idx="52">
                  <c:v>58.76</c:v>
                </c:pt>
                <c:pt idx="53">
                  <c:v>56.73</c:v>
                </c:pt>
                <c:pt idx="54">
                  <c:v>57.63</c:v>
                </c:pt>
                <c:pt idx="55">
                  <c:v>54.57</c:v>
                </c:pt>
                <c:pt idx="56">
                  <c:v>55.86</c:v>
                </c:pt>
                <c:pt idx="57">
                  <c:v>55.72</c:v>
                </c:pt>
                <c:pt idx="58">
                  <c:v>49.3</c:v>
                </c:pt>
                <c:pt idx="59">
                  <c:v>47.01</c:v>
                </c:pt>
                <c:pt idx="60">
                  <c:v>44.59</c:v>
                </c:pt>
                <c:pt idx="61">
                  <c:v>42.7</c:v>
                </c:pt>
                <c:pt idx="62">
                  <c:v>51.5</c:v>
                </c:pt>
                <c:pt idx="63">
                  <c:v>51.8</c:v>
                </c:pt>
                <c:pt idx="64">
                  <c:v>50.56</c:v>
                </c:pt>
                <c:pt idx="65">
                  <c:v>50.76</c:v>
                </c:pt>
                <c:pt idx="66">
                  <c:v>45.89</c:v>
                </c:pt>
                <c:pt idx="67">
                  <c:v>51.76</c:v>
                </c:pt>
                <c:pt idx="68">
                  <c:v>47.89</c:v>
                </c:pt>
                <c:pt idx="69">
                  <c:v>44.84</c:v>
                </c:pt>
                <c:pt idx="70">
                  <c:v>51.24</c:v>
                </c:pt>
                <c:pt idx="71">
                  <c:v>49.44</c:v>
                </c:pt>
                <c:pt idx="72">
                  <c:v>47.21</c:v>
                </c:pt>
                <c:pt idx="73">
                  <c:v>48.44</c:v>
                </c:pt>
                <c:pt idx="74">
                  <c:v>52.87</c:v>
                </c:pt>
                <c:pt idx="75">
                  <c:v>52.71</c:v>
                </c:pt>
                <c:pt idx="76">
                  <c:v>54.66</c:v>
                </c:pt>
                <c:pt idx="77">
                  <c:v>52.6</c:v>
                </c:pt>
                <c:pt idx="78">
                  <c:v>72.53</c:v>
                </c:pt>
                <c:pt idx="79">
                  <c:v>83.98</c:v>
                </c:pt>
                <c:pt idx="80">
                  <c:v>83.98</c:v>
                </c:pt>
                <c:pt idx="81">
                  <c:v>76.84</c:v>
                </c:pt>
                <c:pt idx="82">
                  <c:v>78.49</c:v>
                </c:pt>
                <c:pt idx="83">
                  <c:v>78.26</c:v>
                </c:pt>
                <c:pt idx="84">
                  <c:v>82.25</c:v>
                </c:pt>
                <c:pt idx="85">
                  <c:v>79.5</c:v>
                </c:pt>
                <c:pt idx="86">
                  <c:v>82.08</c:v>
                </c:pt>
                <c:pt idx="87">
                  <c:v>81.78</c:v>
                </c:pt>
                <c:pt idx="88">
                  <c:v>75.43</c:v>
                </c:pt>
                <c:pt idx="89">
                  <c:v>70.71</c:v>
                </c:pt>
                <c:pt idx="90">
                  <c:v>73.11</c:v>
                </c:pt>
                <c:pt idx="91">
                  <c:v>75.49</c:v>
                </c:pt>
                <c:pt idx="92">
                  <c:v>87.79</c:v>
                </c:pt>
                <c:pt idx="93">
                  <c:v>87.85</c:v>
                </c:pt>
                <c:pt idx="94">
                  <c:v>100.66</c:v>
                </c:pt>
                <c:pt idx="95">
                  <c:v>103.67</c:v>
                </c:pt>
                <c:pt idx="96">
                  <c:v>105.63</c:v>
                </c:pt>
                <c:pt idx="97">
                  <c:v>103.09</c:v>
                </c:pt>
                <c:pt idx="98">
                  <c:v>109.15</c:v>
                </c:pt>
                <c:pt idx="99">
                  <c:v>111.43</c:v>
                </c:pt>
                <c:pt idx="100">
                  <c:v>112.58</c:v>
                </c:pt>
                <c:pt idx="101">
                  <c:v>120.04</c:v>
                </c:pt>
                <c:pt idx="102">
                  <c:v>130.18</c:v>
                </c:pt>
                <c:pt idx="103">
                  <c:v>139.1</c:v>
                </c:pt>
                <c:pt idx="104">
                  <c:v>178.05</c:v>
                </c:pt>
                <c:pt idx="105">
                  <c:v>178.23</c:v>
                </c:pt>
                <c:pt idx="106">
                  <c:v>178.61</c:v>
                </c:pt>
                <c:pt idx="107">
                  <c:v>179.3</c:v>
                </c:pt>
                <c:pt idx="108">
                  <c:v>179.81</c:v>
                </c:pt>
                <c:pt idx="109">
                  <c:v>179.79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61">
                  <c:v>42.7</c:v>
                </c:pt>
                <c:pt idx="77">
                  <c:v>52.6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178.05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Kite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KITE  ·  acquired by Gilead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28, 2017   ·   Closed Oct 03, 2017   ·   Status: completed   ·   Pre-ann. volume 0.84×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Kite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Kite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9697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8257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79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40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802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154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46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025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421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586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270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Informal meeting between Gilead SVP Andrew Dickinson and…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and Kite enter into a mutual confidentiality…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an unsolicited proposal to acquire Kite for…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Kite Board determines the $127.00 offer is insufficient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increases its offer to $160.00 per share in cash.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increases offer to $176.00; Kite CEO Arie Belldegrun…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Kite Board unanimously approves the Merger Agreement at…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62.74% of shares…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Kite becomes a wholly-owned subsidiary of…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Kite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2017-03-03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($52.6→$72.53)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($42.7→$51.5)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Kite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to Host Third Quarter 2015 Financial Results Conference Call and Webcast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Reports Third Quarter 2015 Financial Results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2015-12-07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Announces Clinical Biomarker Results of Anti-CD19 CAR T Cell Therapy at the 57th American…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2015-12-07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Presents Phase 1 Results From ZUMA-1 at the 57th American Society of Hematology (ASH) Annual…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2015-12-07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Receives FDA Breakthrough Therapy Designation for KTE-C19 for the Treatment of Refractory…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to Report Fourth Quarter and Full Year 2015 Financial Results on February 29, 2016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Reports Fourth Quarter and Full-Year 2015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2016-04-19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Presents Updated Phase 1 Results from ZUMA-1 at the American Association of Cancer Research…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Kite Pharma Announces FDA Orphan Drug Designations for KTE-C19 in Five Additional Indications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