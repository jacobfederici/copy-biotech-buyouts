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Sep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'22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39.5</c:v>
                </c:pt>
                <c:pt idx="1">
                  <c:v>41.69</c:v>
                </c:pt>
                <c:pt idx="2">
                  <c:v>45.29</c:v>
                </c:pt>
                <c:pt idx="3">
                  <c:v>49.5</c:v>
                </c:pt>
                <c:pt idx="4">
                  <c:v>47.29</c:v>
                </c:pt>
                <c:pt idx="5">
                  <c:v>48.9</c:v>
                </c:pt>
                <c:pt idx="6">
                  <c:v>49.96</c:v>
                </c:pt>
                <c:pt idx="7">
                  <c:v>48.42</c:v>
                </c:pt>
                <c:pt idx="8">
                  <c:v>43.12</c:v>
                </c:pt>
                <c:pt idx="9">
                  <c:v>39.0</c:v>
                </c:pt>
                <c:pt idx="10">
                  <c:v>40.12</c:v>
                </c:pt>
                <c:pt idx="11">
                  <c:v>38.53</c:v>
                </c:pt>
                <c:pt idx="12">
                  <c:v>42.56</c:v>
                </c:pt>
                <c:pt idx="13">
                  <c:v>43.53</c:v>
                </c:pt>
                <c:pt idx="14">
                  <c:v>46.18</c:v>
                </c:pt>
                <c:pt idx="15">
                  <c:v>36.55</c:v>
                </c:pt>
                <c:pt idx="16">
                  <c:v>39.43</c:v>
                </c:pt>
                <c:pt idx="17">
                  <c:v>34.9</c:v>
                </c:pt>
                <c:pt idx="18">
                  <c:v>35.71</c:v>
                </c:pt>
                <c:pt idx="19">
                  <c:v>37.5</c:v>
                </c:pt>
                <c:pt idx="20">
                  <c:v>38.97</c:v>
                </c:pt>
                <c:pt idx="21">
                  <c:v>38.63</c:v>
                </c:pt>
                <c:pt idx="22">
                  <c:v>39.85</c:v>
                </c:pt>
                <c:pt idx="23">
                  <c:v>38.47</c:v>
                </c:pt>
                <c:pt idx="24">
                  <c:v>41.18</c:v>
                </c:pt>
                <c:pt idx="25">
                  <c:v>38.61</c:v>
                </c:pt>
                <c:pt idx="26">
                  <c:v>33.87</c:v>
                </c:pt>
                <c:pt idx="27">
                  <c:v>35.11</c:v>
                </c:pt>
                <c:pt idx="28">
                  <c:v>30.75</c:v>
                </c:pt>
                <c:pt idx="29">
                  <c:v>25.3</c:v>
                </c:pt>
                <c:pt idx="30">
                  <c:v>27.68</c:v>
                </c:pt>
                <c:pt idx="31">
                  <c:v>27.9</c:v>
                </c:pt>
                <c:pt idx="32">
                  <c:v>25.65</c:v>
                </c:pt>
                <c:pt idx="33">
                  <c:v>26.55</c:v>
                </c:pt>
                <c:pt idx="34">
                  <c:v>26.95</c:v>
                </c:pt>
                <c:pt idx="35">
                  <c:v>25.52</c:v>
                </c:pt>
                <c:pt idx="36">
                  <c:v>26.75</c:v>
                </c:pt>
                <c:pt idx="37">
                  <c:v>27.8</c:v>
                </c:pt>
                <c:pt idx="38">
                  <c:v>28.07</c:v>
                </c:pt>
                <c:pt idx="39">
                  <c:v>28.53</c:v>
                </c:pt>
                <c:pt idx="40">
                  <c:v>22.86</c:v>
                </c:pt>
                <c:pt idx="41">
                  <c:v>25.99</c:v>
                </c:pt>
                <c:pt idx="42">
                  <c:v>26.06</c:v>
                </c:pt>
                <c:pt idx="43">
                  <c:v>24.81</c:v>
                </c:pt>
                <c:pt idx="44">
                  <c:v>24.93</c:v>
                </c:pt>
                <c:pt idx="45">
                  <c:v>23.55</c:v>
                </c:pt>
                <c:pt idx="46">
                  <c:v>24.53</c:v>
                </c:pt>
                <c:pt idx="47">
                  <c:v>22.89</c:v>
                </c:pt>
                <c:pt idx="48">
                  <c:v>24.43</c:v>
                </c:pt>
                <c:pt idx="49">
                  <c:v>22.17</c:v>
                </c:pt>
                <c:pt idx="50">
                  <c:v>22.7</c:v>
                </c:pt>
                <c:pt idx="51">
                  <c:v>24.2</c:v>
                </c:pt>
                <c:pt idx="52">
                  <c:v>23.44</c:v>
                </c:pt>
                <c:pt idx="53">
                  <c:v>22.71</c:v>
                </c:pt>
                <c:pt idx="54">
                  <c:v>23.71</c:v>
                </c:pt>
                <c:pt idx="55">
                  <c:v>22.18</c:v>
                </c:pt>
                <c:pt idx="56">
                  <c:v>24.08</c:v>
                </c:pt>
                <c:pt idx="57">
                  <c:v>18.73</c:v>
                </c:pt>
                <c:pt idx="58">
                  <c:v>18.09</c:v>
                </c:pt>
                <c:pt idx="59">
                  <c:v>18.36</c:v>
                </c:pt>
                <c:pt idx="60">
                  <c:v>18.56</c:v>
                </c:pt>
                <c:pt idx="61">
                  <c:v>19.36</c:v>
                </c:pt>
                <c:pt idx="62">
                  <c:v>19.05</c:v>
                </c:pt>
                <c:pt idx="63">
                  <c:v>17.53</c:v>
                </c:pt>
                <c:pt idx="64">
                  <c:v>16.33</c:v>
                </c:pt>
                <c:pt idx="65">
                  <c:v>14.3</c:v>
                </c:pt>
                <c:pt idx="66">
                  <c:v>14.61</c:v>
                </c:pt>
                <c:pt idx="67">
                  <c:v>14.54</c:v>
                </c:pt>
                <c:pt idx="68">
                  <c:v>14.85</c:v>
                </c:pt>
                <c:pt idx="69">
                  <c:v>14.22</c:v>
                </c:pt>
                <c:pt idx="70">
                  <c:v>12.37</c:v>
                </c:pt>
                <c:pt idx="71">
                  <c:v>11.75</c:v>
                </c:pt>
                <c:pt idx="72">
                  <c:v>10.8</c:v>
                </c:pt>
                <c:pt idx="73">
                  <c:v>11.57</c:v>
                </c:pt>
                <c:pt idx="74">
                  <c:v>11.14</c:v>
                </c:pt>
                <c:pt idx="75">
                  <c:v>11.17</c:v>
                </c:pt>
                <c:pt idx="76">
                  <c:v>10.62</c:v>
                </c:pt>
                <c:pt idx="77">
                  <c:v>10.36</c:v>
                </c:pt>
                <c:pt idx="78">
                  <c:v>9.14</c:v>
                </c:pt>
                <c:pt idx="79">
                  <c:v>8.84</c:v>
                </c:pt>
                <c:pt idx="80">
                  <c:v>9.79</c:v>
                </c:pt>
                <c:pt idx="81">
                  <c:v>8.94</c:v>
                </c:pt>
                <c:pt idx="82">
                  <c:v>9.99</c:v>
                </c:pt>
                <c:pt idx="83">
                  <c:v>8.92</c:v>
                </c:pt>
                <c:pt idx="84">
                  <c:v>8.25</c:v>
                </c:pt>
                <c:pt idx="85">
                  <c:v>8.08</c:v>
                </c:pt>
                <c:pt idx="86">
                  <c:v>7.56</c:v>
                </c:pt>
                <c:pt idx="87">
                  <c:v>6.65</c:v>
                </c:pt>
                <c:pt idx="88">
                  <c:v>6.63</c:v>
                </c:pt>
                <c:pt idx="89">
                  <c:v>6.0</c:v>
                </c:pt>
                <c:pt idx="90">
                  <c:v>5.77</c:v>
                </c:pt>
                <c:pt idx="91">
                  <c:v>5.78</c:v>
                </c:pt>
                <c:pt idx="92">
                  <c:v>5.61</c:v>
                </c:pt>
                <c:pt idx="93">
                  <c:v>5.69</c:v>
                </c:pt>
                <c:pt idx="94">
                  <c:v>7.03</c:v>
                </c:pt>
                <c:pt idx="95">
                  <c:v>7.12</c:v>
                </c:pt>
                <c:pt idx="96">
                  <c:v>8.68</c:v>
                </c:pt>
                <c:pt idx="97">
                  <c:v>8.82</c:v>
                </c:pt>
                <c:pt idx="98">
                  <c:v>8.35</c:v>
                </c:pt>
                <c:pt idx="99">
                  <c:v>8.28</c:v>
                </c:pt>
                <c:pt idx="100">
                  <c:v>10.18</c:v>
                </c:pt>
                <c:pt idx="101">
                  <c:v>11.85</c:v>
                </c:pt>
                <c:pt idx="102">
                  <c:v>11.86</c:v>
                </c:pt>
                <c:pt idx="103">
                  <c:v>12.49</c:v>
                </c:pt>
                <c:pt idx="104">
                  <c:v>19.98</c:v>
                </c:pt>
                <c:pt idx="105">
                  <c:v>19.92</c:v>
                </c:pt>
                <c:pt idx="106">
                  <c:v>19.96</c:v>
                </c:pt>
                <c:pt idx="107">
                  <c:v>19.92</c:v>
                </c:pt>
                <c:pt idx="108">
                  <c:v>19.95</c:v>
                </c:pt>
                <c:pt idx="109">
                  <c:v>19.96</c:v>
                </c:pt>
                <c:pt idx="110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'22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4">
                  <c:v>46.18</c:v>
                </c:pt>
                <c:pt idx="56">
                  <c:v>24.08</c:v>
                </c:pt>
                <c:pt idx="99">
                  <c:v>8.28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'22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93">
                  <c:v>5.69</c:v>
                </c:pt>
                <c:pt idx="95">
                  <c:v>7.12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Oct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'22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19.98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Forma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FMTX  ·  acquired by Novo Nordisk A/S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01, 2022   ·   Closed Oct 14, 2022   ·   Status: completed   ·   Pre-ann. volume 0.42×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Forma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Forma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270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8830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186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699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97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086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757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605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440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446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61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631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469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804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971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311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478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8184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498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Nordisk initially contacts Forma to discuss interest…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initiates discussions regarding a potential global…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EVP Ludovic Helfgott contacts Forma CEO Frank Lee to…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presents a high-level framework for a global strategic…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proposes a global profit share with $225M upfront and…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Forma rejects the May 2 Framework; Novo indicates interest…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submits a non-binding proposal for $410M upfront plus…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15, 2022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submits a revised proposal of $8.20 per share plus net…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Forma and Novo enter into a Confidentiality Agreement with…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Forma enters into a license agreement with Rigel…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submits a proposal for $15.25 per share plus a $2.40…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increases offer to $19.00 per share plus a $2.40 CVR.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Novo increases offer to $20.00 per share in cash…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Forma and Novo enter into an Exclusivity Agreement through…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31, 2022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Forma Board unanimously approves the Merger Agreement at…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91.5% of shares tendered.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14, 2022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Forma becomes a wholly owned indirect…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Forma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($5.69→$7.03)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($8.28→$10.18)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2021-10-08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($24.08→$18.73)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($7.12→$8.68)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2020-12-18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($46.18→$36.55)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622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Forma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2021-11-12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Forma Therapeutics Reports Third Quarter 2021 Financial Results and Provides Business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2022-02-23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Forma Therapeutics to Report Fourth Quarter and Year-end 2021 Financial Results and Provide Business Update…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2022-03-01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Forma Therapeutics Reports Fourth Quarter and Year-End 2021 Financial Results and Provides Business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Forma Therapeutics to Report First Quarter 2022 Financial Results and Provide Business Update on May 6, 2022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Forma Therapeutics Reports First Quarter 2022 Financial Results and Provides Business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Forma Therapeutics to Report Second Quarter 2022 Financial Results and Provide Business Update on August 5…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Forma Therapeutics Reports Second Quarter 2022 Financial Results and Provides Business Update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Novo Nordisk Jumps Into Sickle Cell Fray With $1.1 Billion Forma Therapeutics Buyout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Investigates the Merger – COWN, ECOM, SMBC, FMTX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