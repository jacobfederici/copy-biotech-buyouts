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Close</c:v>
                </c:pt>
              </c:strCache>
            </c:strRef>
          </c:tx>
          <c:spPr>
            <a:ln w="25400">
              <a:solidFill>
                <a:srgbClr val="2E78D2"/>
              </a:solidFill>
            </a:ln>
          </c:spPr>
          <c:marker>
            <c:symbol val="none"/>
          </c:marker>
          <c:cat>
            <c:strRef>
              <c:f>Sheet1!$A$2:$A$110</c:f>
              <c:strCache>
                <c:ptCount val="109"/>
                <c:pt idx="0">
                  <c:v>Jul '23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>Sep '23</c:v>
                </c:pt>
                <c:pt idx="10">
                  <c:v/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>Nov '23</c:v>
                </c:pt>
                <c:pt idx="19">
                  <c:v/>
                </c:pt>
                <c:pt idx="20">
                  <c:v/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>Jan '24</c:v>
                </c:pt>
                <c:pt idx="28">
                  <c:v/>
                </c:pt>
                <c:pt idx="29">
                  <c:v/>
                </c:pt>
                <c:pt idx="30">
                  <c:v/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>Mar '24</c:v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  <c:pt idx="40">
                  <c:v/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/>
                </c:pt>
                <c:pt idx="45">
                  <c:v>May '24</c:v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/>
                </c:pt>
                <c:pt idx="50">
                  <c:v/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>Aug '24</c:v>
                </c:pt>
                <c:pt idx="55">
                  <c:v/>
                </c:pt>
                <c:pt idx="56">
                  <c:v/>
                </c:pt>
                <c:pt idx="57">
                  <c:v/>
                </c:pt>
                <c:pt idx="58">
                  <c:v/>
                </c:pt>
                <c:pt idx="59">
                  <c:v/>
                </c:pt>
                <c:pt idx="60">
                  <c:v/>
                </c:pt>
                <c:pt idx="61">
                  <c:v/>
                </c:pt>
                <c:pt idx="62">
                  <c:v/>
                </c:pt>
                <c:pt idx="63">
                  <c:v>Oct '24</c:v>
                </c:pt>
                <c:pt idx="64">
                  <c:v/>
                </c:pt>
                <c:pt idx="65">
                  <c:v/>
                </c:pt>
                <c:pt idx="66">
                  <c:v/>
                </c:pt>
                <c:pt idx="67">
                  <c:v/>
                </c:pt>
                <c:pt idx="68">
                  <c:v/>
                </c:pt>
                <c:pt idx="69">
                  <c:v/>
                </c:pt>
                <c:pt idx="70">
                  <c:v/>
                </c:pt>
                <c:pt idx="71">
                  <c:v/>
                </c:pt>
                <c:pt idx="72">
                  <c:v>Dec '24</c:v>
                </c:pt>
                <c:pt idx="73">
                  <c:v/>
                </c:pt>
                <c:pt idx="74">
                  <c:v/>
                </c:pt>
                <c:pt idx="75">
                  <c:v/>
                </c:pt>
                <c:pt idx="76">
                  <c:v/>
                </c:pt>
                <c:pt idx="77">
                  <c:v/>
                </c:pt>
                <c:pt idx="78">
                  <c:v/>
                </c:pt>
                <c:pt idx="79">
                  <c:v/>
                </c:pt>
                <c:pt idx="80">
                  <c:v/>
                </c:pt>
                <c:pt idx="81">
                  <c:v>Feb '25</c:v>
                </c:pt>
                <c:pt idx="82">
                  <c:v/>
                </c:pt>
                <c:pt idx="83">
                  <c:v/>
                </c:pt>
                <c:pt idx="84">
                  <c:v/>
                </c:pt>
                <c:pt idx="85">
                  <c:v/>
                </c:pt>
                <c:pt idx="86">
                  <c:v/>
                </c:pt>
                <c:pt idx="87">
                  <c:v/>
                </c:pt>
                <c:pt idx="88">
                  <c:v/>
                </c:pt>
                <c:pt idx="89">
                  <c:v/>
                </c:pt>
                <c:pt idx="90">
                  <c:v>Apr '25</c:v>
                </c:pt>
                <c:pt idx="91">
                  <c:v/>
                </c:pt>
                <c:pt idx="92">
                  <c:v/>
                </c:pt>
                <c:pt idx="93">
                  <c:v/>
                </c:pt>
                <c:pt idx="94">
                  <c:v/>
                </c:pt>
                <c:pt idx="95">
                  <c:v/>
                </c:pt>
                <c:pt idx="96">
                  <c:v/>
                </c:pt>
                <c:pt idx="97">
                  <c:v/>
                </c:pt>
                <c:pt idx="98">
                  <c:v/>
                </c:pt>
                <c:pt idx="99">
                  <c:v>Jun '25</c:v>
                </c:pt>
                <c:pt idx="100">
                  <c:v/>
                </c:pt>
                <c:pt idx="101">
                  <c:v/>
                </c:pt>
                <c:pt idx="102">
                  <c:v/>
                </c:pt>
                <c:pt idx="103">
                  <c:v/>
                </c:pt>
                <c:pt idx="104">
                  <c:v/>
                </c:pt>
                <c:pt idx="105">
                  <c:v/>
                </c:pt>
                <c:pt idx="106">
                  <c:v/>
                </c:pt>
                <c:pt idx="107">
                  <c:v/>
                </c:pt>
                <c:pt idx="108">
                  <c:v>Aug '25</c:v>
                </c:pt>
              </c:strCache>
            </c:strRef>
          </c:cat>
          <c:val>
            <c:numRef>
              <c:f>Sheet1!$B$2:$B$110</c:f>
              <c:numCache>
                <c:formatCode>General</c:formatCode>
                <c:ptCount val="109"/>
                <c:pt idx="0">
                  <c:v>11.0</c:v>
                </c:pt>
                <c:pt idx="1">
                  <c:v>11.9</c:v>
                </c:pt>
                <c:pt idx="2">
                  <c:v>11.48</c:v>
                </c:pt>
                <c:pt idx="3">
                  <c:v>12.0</c:v>
                </c:pt>
                <c:pt idx="4">
                  <c:v>8.86</c:v>
                </c:pt>
                <c:pt idx="5">
                  <c:v>10.91</c:v>
                </c:pt>
                <c:pt idx="6">
                  <c:v>11.92</c:v>
                </c:pt>
                <c:pt idx="7">
                  <c:v>9.15</c:v>
                </c:pt>
                <c:pt idx="8">
                  <c:v>4.34</c:v>
                </c:pt>
                <c:pt idx="9">
                  <c:v>3.58</c:v>
                </c:pt>
                <c:pt idx="10">
                  <c:v>3.94</c:v>
                </c:pt>
                <c:pt idx="11">
                  <c:v>2.34</c:v>
                </c:pt>
                <c:pt idx="12">
                  <c:v>3.05</c:v>
                </c:pt>
                <c:pt idx="13">
                  <c:v>2.55</c:v>
                </c:pt>
                <c:pt idx="14">
                  <c:v>1.99</c:v>
                </c:pt>
                <c:pt idx="15">
                  <c:v>3.22</c:v>
                </c:pt>
                <c:pt idx="16">
                  <c:v>1.86</c:v>
                </c:pt>
                <c:pt idx="17">
                  <c:v>3.36</c:v>
                </c:pt>
                <c:pt idx="18">
                  <c:v>2.57</c:v>
                </c:pt>
                <c:pt idx="19">
                  <c:v>2.11</c:v>
                </c:pt>
                <c:pt idx="20">
                  <c:v>2.13</c:v>
                </c:pt>
                <c:pt idx="21">
                  <c:v>2.23</c:v>
                </c:pt>
                <c:pt idx="22">
                  <c:v>2.99</c:v>
                </c:pt>
                <c:pt idx="23">
                  <c:v>2.54</c:v>
                </c:pt>
                <c:pt idx="24">
                  <c:v>2.37</c:v>
                </c:pt>
                <c:pt idx="25">
                  <c:v>2.07</c:v>
                </c:pt>
                <c:pt idx="26">
                  <c:v>1.92</c:v>
                </c:pt>
                <c:pt idx="27">
                  <c:v>2.75</c:v>
                </c:pt>
                <c:pt idx="28">
                  <c:v>2.42</c:v>
                </c:pt>
                <c:pt idx="29">
                  <c:v>2.16</c:v>
                </c:pt>
                <c:pt idx="30">
                  <c:v>2.57</c:v>
                </c:pt>
                <c:pt idx="31">
                  <c:v>3.45</c:v>
                </c:pt>
                <c:pt idx="32">
                  <c:v>4.62</c:v>
                </c:pt>
                <c:pt idx="33">
                  <c:v>3.16</c:v>
                </c:pt>
                <c:pt idx="34">
                  <c:v>3.32</c:v>
                </c:pt>
                <c:pt idx="35">
                  <c:v>2.99</c:v>
                </c:pt>
                <c:pt idx="36">
                  <c:v>2.62</c:v>
                </c:pt>
                <c:pt idx="37">
                  <c:v>3.21</c:v>
                </c:pt>
                <c:pt idx="38">
                  <c:v>3.19</c:v>
                </c:pt>
                <c:pt idx="39">
                  <c:v>2.62</c:v>
                </c:pt>
                <c:pt idx="40">
                  <c:v>2.76</c:v>
                </c:pt>
                <c:pt idx="41">
                  <c:v>2.72</c:v>
                </c:pt>
                <c:pt idx="42">
                  <c:v>3.05</c:v>
                </c:pt>
                <c:pt idx="43">
                  <c:v>2.66</c:v>
                </c:pt>
                <c:pt idx="44">
                  <c:v>2.6</c:v>
                </c:pt>
                <c:pt idx="45">
                  <c:v>2.61</c:v>
                </c:pt>
                <c:pt idx="46">
                  <c:v>2.8</c:v>
                </c:pt>
                <c:pt idx="47">
                  <c:v>2.7</c:v>
                </c:pt>
                <c:pt idx="48">
                  <c:v>2.79</c:v>
                </c:pt>
                <c:pt idx="49">
                  <c:v>2.62</c:v>
                </c:pt>
                <c:pt idx="50">
                  <c:v>2.24</c:v>
                </c:pt>
                <c:pt idx="51">
                  <c:v>2.45</c:v>
                </c:pt>
                <c:pt idx="52">
                  <c:v>2.37</c:v>
                </c:pt>
                <c:pt idx="53">
                  <c:v>2.55</c:v>
                </c:pt>
                <c:pt idx="54">
                  <c:v>2.38</c:v>
                </c:pt>
                <c:pt idx="55">
                  <c:v>2.31</c:v>
                </c:pt>
                <c:pt idx="56">
                  <c:v>0.76</c:v>
                </c:pt>
                <c:pt idx="57">
                  <c:v>0.76</c:v>
                </c:pt>
                <c:pt idx="58">
                  <c:v>0.7</c:v>
                </c:pt>
                <c:pt idx="59">
                  <c:v>0.59</c:v>
                </c:pt>
                <c:pt idx="60">
                  <c:v>0.66</c:v>
                </c:pt>
                <c:pt idx="61">
                  <c:v>0.63</c:v>
                </c:pt>
                <c:pt idx="62">
                  <c:v>0.55</c:v>
                </c:pt>
                <c:pt idx="63">
                  <c:v>0.45</c:v>
                </c:pt>
                <c:pt idx="64">
                  <c:v>0.46</c:v>
                </c:pt>
                <c:pt idx="65">
                  <c:v>0.49</c:v>
                </c:pt>
                <c:pt idx="66">
                  <c:v>0.51</c:v>
                </c:pt>
                <c:pt idx="67">
                  <c:v>0.5</c:v>
                </c:pt>
                <c:pt idx="68">
                  <c:v>0.53</c:v>
                </c:pt>
                <c:pt idx="69">
                  <c:v>0.49</c:v>
                </c:pt>
                <c:pt idx="70">
                  <c:v>0.48</c:v>
                </c:pt>
                <c:pt idx="71">
                  <c:v>0.52</c:v>
                </c:pt>
                <c:pt idx="72">
                  <c:v>0.5</c:v>
                </c:pt>
                <c:pt idx="73">
                  <c:v>0.48</c:v>
                </c:pt>
                <c:pt idx="74">
                  <c:v>0.49</c:v>
                </c:pt>
                <c:pt idx="75">
                  <c:v>0.51</c:v>
                </c:pt>
                <c:pt idx="76">
                  <c:v>0.53</c:v>
                </c:pt>
                <c:pt idx="77">
                  <c:v>0.48</c:v>
                </c:pt>
                <c:pt idx="78">
                  <c:v>0.44</c:v>
                </c:pt>
                <c:pt idx="79">
                  <c:v>0.46</c:v>
                </c:pt>
                <c:pt idx="80">
                  <c:v>0.43</c:v>
                </c:pt>
                <c:pt idx="81">
                  <c:v>0.45</c:v>
                </c:pt>
                <c:pt idx="82">
                  <c:v>0.41</c:v>
                </c:pt>
                <c:pt idx="83">
                  <c:v>0.39</c:v>
                </c:pt>
                <c:pt idx="84">
                  <c:v>0.39</c:v>
                </c:pt>
                <c:pt idx="85">
                  <c:v>0.37</c:v>
                </c:pt>
                <c:pt idx="86">
                  <c:v>0.37</c:v>
                </c:pt>
                <c:pt idx="87">
                  <c:v>0.41</c:v>
                </c:pt>
                <c:pt idx="88">
                  <c:v>0.41</c:v>
                </c:pt>
                <c:pt idx="89">
                  <c:v>0.38</c:v>
                </c:pt>
                <c:pt idx="90">
                  <c:v>0.39</c:v>
                </c:pt>
                <c:pt idx="91">
                  <c:v>0.33</c:v>
                </c:pt>
                <c:pt idx="92">
                  <c:v>0.35</c:v>
                </c:pt>
                <c:pt idx="93">
                  <c:v>0.35</c:v>
                </c:pt>
                <c:pt idx="94">
                  <c:v>0.34</c:v>
                </c:pt>
                <c:pt idx="95">
                  <c:v>0.34</c:v>
                </c:pt>
                <c:pt idx="96">
                  <c:v>0.33</c:v>
                </c:pt>
                <c:pt idx="97">
                  <c:v>0.33</c:v>
                </c:pt>
                <c:pt idx="98">
                  <c:v>0.36</c:v>
                </c:pt>
                <c:pt idx="99">
                  <c:v>0.33</c:v>
                </c:pt>
                <c:pt idx="100">
                  <c:v>0.37</c:v>
                </c:pt>
                <c:pt idx="101">
                  <c:v>0.35</c:v>
                </c:pt>
                <c:pt idx="102">
                  <c:v>0.36</c:v>
                </c:pt>
                <c:pt idx="103">
                  <c:v>0.37</c:v>
                </c:pt>
                <c:pt idx="104">
                  <c:v>0.36</c:v>
                </c:pt>
                <c:pt idx="105">
                  <c:v>0.36</c:v>
                </c:pt>
                <c:pt idx="106">
                  <c:v>0.35</c:v>
                </c:pt>
                <c:pt idx="107">
                  <c:v>0.35</c:v>
                </c:pt>
                <c:pt idx="108">
                  <c:v>0.35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Event</c:v>
                </c:pt>
              </c:strCache>
            </c:strRef>
          </c:tx>
          <c:spPr>
            <a:ln>
              <a:noFill/>
            </a:ln>
          </c:spPr>
          <c:marker>
            <c:symbol val="circle"/>
            <c:size val="10"/>
            <c:spPr>
              <a:solidFill>
                <a:srgbClr val="13A88A"/>
              </a:solidFill>
              <a:ln w="12700">
                <a:solidFill>
                  <a:srgbClr val="FFFFFF"/>
                </a:solidFill>
              </a:ln>
            </c:spPr>
          </c:marker>
          <c:cat>
            <c:strRef>
              <c:f>Sheet1!$A$2:$A$110</c:f>
              <c:strCache>
                <c:ptCount val="109"/>
                <c:pt idx="0">
                  <c:v>Jul '23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>Sep '23</c:v>
                </c:pt>
                <c:pt idx="10">
                  <c:v/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>Nov '23</c:v>
                </c:pt>
                <c:pt idx="19">
                  <c:v/>
                </c:pt>
                <c:pt idx="20">
                  <c:v/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>Jan '24</c:v>
                </c:pt>
                <c:pt idx="28">
                  <c:v/>
                </c:pt>
                <c:pt idx="29">
                  <c:v/>
                </c:pt>
                <c:pt idx="30">
                  <c:v/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>Mar '24</c:v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  <c:pt idx="40">
                  <c:v/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/>
                </c:pt>
                <c:pt idx="45">
                  <c:v>May '24</c:v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/>
                </c:pt>
                <c:pt idx="50">
                  <c:v/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>Aug '24</c:v>
                </c:pt>
                <c:pt idx="55">
                  <c:v/>
                </c:pt>
                <c:pt idx="56">
                  <c:v/>
                </c:pt>
                <c:pt idx="57">
                  <c:v/>
                </c:pt>
                <c:pt idx="58">
                  <c:v/>
                </c:pt>
                <c:pt idx="59">
                  <c:v/>
                </c:pt>
                <c:pt idx="60">
                  <c:v/>
                </c:pt>
                <c:pt idx="61">
                  <c:v/>
                </c:pt>
                <c:pt idx="62">
                  <c:v/>
                </c:pt>
                <c:pt idx="63">
                  <c:v>Oct '24</c:v>
                </c:pt>
                <c:pt idx="64">
                  <c:v/>
                </c:pt>
                <c:pt idx="65">
                  <c:v/>
                </c:pt>
                <c:pt idx="66">
                  <c:v/>
                </c:pt>
                <c:pt idx="67">
                  <c:v/>
                </c:pt>
                <c:pt idx="68">
                  <c:v/>
                </c:pt>
                <c:pt idx="69">
                  <c:v/>
                </c:pt>
                <c:pt idx="70">
                  <c:v/>
                </c:pt>
                <c:pt idx="71">
                  <c:v/>
                </c:pt>
                <c:pt idx="72">
                  <c:v>Dec '24</c:v>
                </c:pt>
                <c:pt idx="73">
                  <c:v/>
                </c:pt>
                <c:pt idx="74">
                  <c:v/>
                </c:pt>
                <c:pt idx="75">
                  <c:v/>
                </c:pt>
                <c:pt idx="76">
                  <c:v/>
                </c:pt>
                <c:pt idx="77">
                  <c:v/>
                </c:pt>
                <c:pt idx="78">
                  <c:v/>
                </c:pt>
                <c:pt idx="79">
                  <c:v/>
                </c:pt>
                <c:pt idx="80">
                  <c:v/>
                </c:pt>
                <c:pt idx="81">
                  <c:v>Feb '25</c:v>
                </c:pt>
                <c:pt idx="82">
                  <c:v/>
                </c:pt>
                <c:pt idx="83">
                  <c:v/>
                </c:pt>
                <c:pt idx="84">
                  <c:v/>
                </c:pt>
                <c:pt idx="85">
                  <c:v/>
                </c:pt>
                <c:pt idx="86">
                  <c:v/>
                </c:pt>
                <c:pt idx="87">
                  <c:v/>
                </c:pt>
                <c:pt idx="88">
                  <c:v/>
                </c:pt>
                <c:pt idx="89">
                  <c:v/>
                </c:pt>
                <c:pt idx="90">
                  <c:v>Apr '25</c:v>
                </c:pt>
                <c:pt idx="91">
                  <c:v/>
                </c:pt>
                <c:pt idx="92">
                  <c:v/>
                </c:pt>
                <c:pt idx="93">
                  <c:v/>
                </c:pt>
                <c:pt idx="94">
                  <c:v/>
                </c:pt>
                <c:pt idx="95">
                  <c:v/>
                </c:pt>
                <c:pt idx="96">
                  <c:v/>
                </c:pt>
                <c:pt idx="97">
                  <c:v/>
                </c:pt>
                <c:pt idx="98">
                  <c:v/>
                </c:pt>
                <c:pt idx="99">
                  <c:v>Jun '25</c:v>
                </c:pt>
                <c:pt idx="100">
                  <c:v/>
                </c:pt>
                <c:pt idx="101">
                  <c:v/>
                </c:pt>
                <c:pt idx="102">
                  <c:v/>
                </c:pt>
                <c:pt idx="103">
                  <c:v/>
                </c:pt>
                <c:pt idx="104">
                  <c:v/>
                </c:pt>
                <c:pt idx="105">
                  <c:v/>
                </c:pt>
                <c:pt idx="106">
                  <c:v/>
                </c:pt>
                <c:pt idx="107">
                  <c:v/>
                </c:pt>
                <c:pt idx="108">
                  <c:v>Aug '25</c:v>
                </c:pt>
              </c:strCache>
            </c:strRef>
          </c:cat>
          <c:val>
            <c:numRef>
              <c:f>Sheet1!$C$2:$C$110</c:f>
              <c:numCache>
                <c:formatCode>General</c:formatCode>
                <c:ptCount val="109"/>
                <c:pt idx="10">
                  <c:v>3.94</c:v>
                </c:pt>
                <c:pt idx="14">
                  <c:v>1.99</c:v>
                </c:pt>
                <c:pt idx="15">
                  <c:v>3.22</c:v>
                </c:pt>
                <c:pt idx="16">
                  <c:v>1.86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Rumor</c:v>
                </c:pt>
              </c:strCache>
            </c:strRef>
          </c:tx>
          <c:spPr>
            <a:ln>
              <a:noFill/>
            </a:ln>
          </c:spPr>
          <c:marker>
            <c:symbol val="circle"/>
            <c:size val="10"/>
            <c:spPr>
              <a:solidFill>
                <a:srgbClr val="E8455F"/>
              </a:solidFill>
              <a:ln w="12700">
                <a:solidFill>
                  <a:srgbClr val="FFFFFF"/>
                </a:solidFill>
              </a:ln>
            </c:spPr>
          </c:marker>
          <c:cat>
            <c:strRef>
              <c:f>Sheet1!$A$2:$A$110</c:f>
              <c:strCache>
                <c:ptCount val="109"/>
                <c:pt idx="0">
                  <c:v>Jul '23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>Sep '23</c:v>
                </c:pt>
                <c:pt idx="10">
                  <c:v/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>Nov '23</c:v>
                </c:pt>
                <c:pt idx="19">
                  <c:v/>
                </c:pt>
                <c:pt idx="20">
                  <c:v/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>Jan '24</c:v>
                </c:pt>
                <c:pt idx="28">
                  <c:v/>
                </c:pt>
                <c:pt idx="29">
                  <c:v/>
                </c:pt>
                <c:pt idx="30">
                  <c:v/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>Mar '24</c:v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  <c:pt idx="40">
                  <c:v/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/>
                </c:pt>
                <c:pt idx="45">
                  <c:v>May '24</c:v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/>
                </c:pt>
                <c:pt idx="50">
                  <c:v/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>Aug '24</c:v>
                </c:pt>
                <c:pt idx="55">
                  <c:v/>
                </c:pt>
                <c:pt idx="56">
                  <c:v/>
                </c:pt>
                <c:pt idx="57">
                  <c:v/>
                </c:pt>
                <c:pt idx="58">
                  <c:v/>
                </c:pt>
                <c:pt idx="59">
                  <c:v/>
                </c:pt>
                <c:pt idx="60">
                  <c:v/>
                </c:pt>
                <c:pt idx="61">
                  <c:v/>
                </c:pt>
                <c:pt idx="62">
                  <c:v/>
                </c:pt>
                <c:pt idx="63">
                  <c:v>Oct '24</c:v>
                </c:pt>
                <c:pt idx="64">
                  <c:v/>
                </c:pt>
                <c:pt idx="65">
                  <c:v/>
                </c:pt>
                <c:pt idx="66">
                  <c:v/>
                </c:pt>
                <c:pt idx="67">
                  <c:v/>
                </c:pt>
                <c:pt idx="68">
                  <c:v/>
                </c:pt>
                <c:pt idx="69">
                  <c:v/>
                </c:pt>
                <c:pt idx="70">
                  <c:v/>
                </c:pt>
                <c:pt idx="71">
                  <c:v/>
                </c:pt>
                <c:pt idx="72">
                  <c:v>Dec '24</c:v>
                </c:pt>
                <c:pt idx="73">
                  <c:v/>
                </c:pt>
                <c:pt idx="74">
                  <c:v/>
                </c:pt>
                <c:pt idx="75">
                  <c:v/>
                </c:pt>
                <c:pt idx="76">
                  <c:v/>
                </c:pt>
                <c:pt idx="77">
                  <c:v/>
                </c:pt>
                <c:pt idx="78">
                  <c:v/>
                </c:pt>
                <c:pt idx="79">
                  <c:v/>
                </c:pt>
                <c:pt idx="80">
                  <c:v/>
                </c:pt>
                <c:pt idx="81">
                  <c:v>Feb '25</c:v>
                </c:pt>
                <c:pt idx="82">
                  <c:v/>
                </c:pt>
                <c:pt idx="83">
                  <c:v/>
                </c:pt>
                <c:pt idx="84">
                  <c:v/>
                </c:pt>
                <c:pt idx="85">
                  <c:v/>
                </c:pt>
                <c:pt idx="86">
                  <c:v/>
                </c:pt>
                <c:pt idx="87">
                  <c:v/>
                </c:pt>
                <c:pt idx="88">
                  <c:v/>
                </c:pt>
                <c:pt idx="89">
                  <c:v/>
                </c:pt>
                <c:pt idx="90">
                  <c:v>Apr '25</c:v>
                </c:pt>
                <c:pt idx="91">
                  <c:v/>
                </c:pt>
                <c:pt idx="92">
                  <c:v/>
                </c:pt>
                <c:pt idx="93">
                  <c:v/>
                </c:pt>
                <c:pt idx="94">
                  <c:v/>
                </c:pt>
                <c:pt idx="95">
                  <c:v/>
                </c:pt>
                <c:pt idx="96">
                  <c:v/>
                </c:pt>
                <c:pt idx="97">
                  <c:v/>
                </c:pt>
                <c:pt idx="98">
                  <c:v/>
                </c:pt>
                <c:pt idx="99">
                  <c:v>Jun '25</c:v>
                </c:pt>
                <c:pt idx="100">
                  <c:v/>
                </c:pt>
                <c:pt idx="101">
                  <c:v/>
                </c:pt>
                <c:pt idx="102">
                  <c:v/>
                </c:pt>
                <c:pt idx="103">
                  <c:v/>
                </c:pt>
                <c:pt idx="104">
                  <c:v/>
                </c:pt>
                <c:pt idx="105">
                  <c:v/>
                </c:pt>
                <c:pt idx="106">
                  <c:v/>
                </c:pt>
                <c:pt idx="107">
                  <c:v/>
                </c:pt>
                <c:pt idx="108">
                  <c:v>Aug '25</c:v>
                </c:pt>
              </c:strCache>
            </c:strRef>
          </c:cat>
          <c:val>
            <c:numRef>
              <c:f>Sheet1!$D$2:$D$110</c:f>
              <c:numCache>
                <c:formatCode>General</c:formatCode>
                <c:ptCount val="109"/>
                <c:pt idx="7">
                  <c:v>9.15</c:v>
                </c:pt>
                <c:pt idx="11">
                  <c:v>2.34</c:v>
                </c:pt>
                <c:pt idx="21">
                  <c:v>2.23</c:v>
                </c:pt>
                <c:pt idx="26">
                  <c:v>1.92</c:v>
                </c:pt>
                <c:pt idx="30">
                  <c:v>2.57</c:v>
                </c:pt>
                <c:pt idx="31">
                  <c:v>3.45</c:v>
                </c:pt>
                <c:pt idx="32">
                  <c:v>4.62</c:v>
                </c:pt>
                <c:pt idx="55">
                  <c:v>2.31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800">
                <a:solidFill>
                  <a:srgbClr val="6B7C8F"/>
                </a:solidFill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 w="6350">
              <a:solidFill>
                <a:srgbClr val="E4EAF1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6B7C8F"/>
                </a:solidFill>
              </a:defRPr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10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88136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8FB4E0"/>
                </a:solidFill>
                <a:latin typeface="Calibri"/>
              </a:rPr>
              <a:t>BUYOUT CASE STUDY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51560"/>
            <a:ext cx="10881360" cy="13716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>
                <a:solidFill>
                  <a:srgbClr val="FFFFFF"/>
                </a:solidFill>
                <a:latin typeface="Calibri"/>
              </a:rPr>
              <a:t>Turnstone Biologics</a:t>
            </a:r>
          </a:p>
          <a:p>
            <a:pPr algn="l">
              <a:lnSpc>
                <a:spcPct val="105000"/>
              </a:lnSpc>
            </a:pPr>
            <a:r>
              <a:rPr sz="1800" b="0">
                <a:solidFill>
                  <a:srgbClr val="CADCFC"/>
                </a:solidFill>
                <a:latin typeface="Calibri"/>
              </a:rPr>
              <a:t>TSBX  ·  acquired by XOMA Royalty Corporation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59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9B2B"/>
                </a:solidFill>
                <a:latin typeface="Calibri"/>
              </a:rPr>
              <a:t>$0.34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Deal price/sh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0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3A88A"/>
                </a:solidFill>
                <a:latin typeface="Calibri"/>
              </a:rPr>
              <a:t>3%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Premium (unaffected)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455F"/>
                </a:solidFill>
                <a:latin typeface="Calibri"/>
              </a:rPr>
              <a:t>12%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4-wk pre-ann. run-up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0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455F"/>
                </a:solidFill>
                <a:latin typeface="Calibri"/>
              </a:rPr>
              <a:t>400%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0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% premium pre-captured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846320"/>
            <a:ext cx="1088136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8FB4E0"/>
                </a:solidFill>
                <a:latin typeface="Calibri"/>
              </a:rPr>
              <a:t>Announced Jun 27, 2025   ·   Closed Aug 11, 2025   ·   Status: completed   ·   Pre-ann. volume 6.58× normal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263640"/>
            <a:ext cx="108813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E7790"/>
                </a:solidFill>
                <a:latin typeface="Calibri"/>
              </a:rPr>
              <a:t>Sources: SEC SC 14D-9 filing + weekly market data. Rumor = price move with no identified filing/news.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Stock price, events &amp; rumors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Turnstone Biologics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57200" y="1325880"/>
          <a:ext cx="11247120" cy="4343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598932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red = unexplained move (rumor/leak)</a:t>
            </a:r>
            <a:r>
              <a:rPr sz="1100" b="0">
                <a:solidFill>
                  <a:srgbClr val="6B7C8F"/>
                </a:solidFill>
                <a:latin typeface="Calibri"/>
              </a:rPr>
              <a:t> · </a:t>
            </a:r>
            <a:r>
              <a:rPr sz="1100" b="1">
                <a:solidFill>
                  <a:srgbClr val="13A88A"/>
                </a:solidFill>
                <a:latin typeface="Calibri"/>
              </a:rPr>
              <a:t>teal = news-driven (event)</a:t>
            </a:r>
            <a:r>
              <a:rPr sz="1100" b="0">
                <a:solidFill>
                  <a:srgbClr val="6B7C8F"/>
                </a:solidFill>
                <a:latin typeface="Calibri"/>
              </a:rPr>
              <a:t> · </a:t>
            </a:r>
            <a:r>
              <a:rPr sz="1100" b="1">
                <a:solidFill>
                  <a:srgbClr val="E89B2B"/>
                </a:solidFill>
                <a:latin typeface="Calibri"/>
              </a:rPr>
              <a:t>gold = deal announcement</a:t>
            </a:r>
          </a:p>
          <a:p>
            <a:pPr algn="l">
              <a:lnSpc>
                <a:spcPct val="100000"/>
              </a:lnSpc>
            </a:pPr>
            <a:r>
              <a:rPr sz="950" b="0">
                <a:solidFill>
                  <a:srgbClr val="6B7C8F"/>
                </a:solidFill>
                <a:latin typeface="Calibri"/>
              </a:rPr>
              <a:t>Rumor/event markers are placed one week before the reported move week (weekly data; a reported move can lag the true move by up to a week). The deal marker is on the actual announcement week.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Interaction timeline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Turnstone Biologics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783080"/>
            <a:ext cx="10881360" cy="0"/>
          </a:xfrm>
          <a:prstGeom prst="line">
            <a:avLst/>
          </a:prstGeom>
          <a:ln w="25400">
            <a:solidFill>
              <a:srgbClr val="E4EA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0168784" y="1463039"/>
            <a:ext cx="0" cy="640081"/>
          </a:xfrm>
          <a:prstGeom prst="line">
            <a:avLst/>
          </a:prstGeom>
          <a:ln w="19050">
            <a:solidFill>
              <a:srgbClr val="E89B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254384" y="1399032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E89B2B"/>
                </a:solidFill>
              </a:rPr>
              <a:t>Announcement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1521440" y="1463039"/>
            <a:ext cx="0" cy="640081"/>
          </a:xfrm>
          <a:prstGeom prst="line">
            <a:avLst/>
          </a:prstGeom>
          <a:ln w="19050">
            <a:solidFill>
              <a:srgbClr val="2E78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0607040" y="2057400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2E78D2"/>
                </a:solidFill>
              </a:rPr>
              <a:t>Close</a:t>
            </a:r>
          </a:p>
        </p:txBody>
      </p:sp>
      <p:sp>
        <p:nvSpPr>
          <p:cNvPr id="10" name="Oval 9"/>
          <p:cNvSpPr/>
          <p:nvPr/>
        </p:nvSpPr>
        <p:spPr>
          <a:xfrm>
            <a:off x="585215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2328638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801529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5815482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627076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769318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949672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310380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9182091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632976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083861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0113920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0534746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1346339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1466576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1929384"/>
            <a:ext cx="12801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>
                <a:solidFill>
                  <a:srgbClr val="6B7C8F"/>
                </a:solidFill>
              </a:rPr>
              <a:t>Aug 2024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241280" y="1929384"/>
            <a:ext cx="12801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B7C8F"/>
                </a:solidFill>
              </a:rPr>
              <a:t>Aug 2025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260604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Aug 14, 2024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920240" y="260604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Turnstone announces initial Phase 1 data for TIDAL-01…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28803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Oct 11, 2024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920240" y="28803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Turnstone announces 60% workforce reduction and strategic…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31546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Nov 29, 2024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920240" y="31546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Turnstone engages Leerink Partners as financial advisor.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342900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Feb 04, 2025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920240" y="342900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Turnstone announces discontinuation of TIDAL-01 clinical…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8640" y="370332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Mar 03, 2025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920240" y="370332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Turnstone executes term sheet for reverse merger with…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8640" y="3977639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Apr 10, 2025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920240" y="3977639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Company D withdraws from reverse merger due to market…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8640" y="42519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Apr 16, 2025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920240" y="42519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Turnstone executes confidentiality agreement with XOMA…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48640" y="45262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Apr 28, 2025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920240" y="45262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XOMA submits initial non-binding indication of interest.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263640" y="260604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May 27, 2025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635240" y="260604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XOMA revises offer to net cash minus $2.0 million…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263640" y="28803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Jun 11, 2025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635240" y="28803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XOMA submits final bid letter.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263640" y="31546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Jun 26, 2025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635240" y="31546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Turnstone Board unanimously approves Merger Agreement and…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263640" y="342900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Jun 27, 2025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635240" y="342900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Public announcement of the Merger Agreement.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263640" y="370332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Jul 11, 2025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635240" y="370332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XOMA commences tender offer.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263640" y="3977639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Aug 07, 2025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635240" y="3977639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Tender offer expires with ~74% of shares tendered.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263640" y="42519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Aug 11, 2025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635240" y="42519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Merger completed; Turnstone becomes a wholly owned…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48640" y="64465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6B7C8F"/>
                </a:solidFill>
                <a:latin typeface="Calibri"/>
              </a:rPr>
              <a:t>15 disclosed milestones, first contact → close · dates shown at the precision the filing states (month/year where imprecise).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The rumors — unexplained pre-announcement moves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Turnstone Biologics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6424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E78D2"/>
                </a:solidFill>
                <a:latin typeface="Calibri"/>
              </a:rPr>
              <a:t>18 unexplained pre-announcement move weeks (of 18 total unexplained inflections)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11680"/>
            <a:ext cx="11064240" cy="457200"/>
          </a:xfrm>
          <a:prstGeom prst="roundRect">
            <a:avLst/>
          </a:prstGeom>
          <a:solidFill>
            <a:srgbClr val="EAF1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066544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2733"/>
                </a:solidFill>
                <a:latin typeface="Calibri"/>
              </a:rPr>
              <a:t>Week ended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0" y="2066544"/>
            <a:ext cx="23774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2733"/>
                </a:solidFill>
                <a:latin typeface="Calibri"/>
              </a:rPr>
              <a:t>Move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2066544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2733"/>
                </a:solidFill>
                <a:latin typeface="Calibri"/>
              </a:rPr>
              <a:t>Timing vs. announcement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514600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2023-11-17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0" y="2514600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+81%  ($1.86→$3.36)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2514600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588 days before announcement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935224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2024-08-16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0" y="2935224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6B7C8F"/>
                </a:solidFill>
                <a:latin typeface="Calibri"/>
              </a:rPr>
              <a:t>-67%  ($2.31→$0.76)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0" y="2935224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315 days before announcement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3355848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2023-11-03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26080" y="3355848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+62%  ($1.99→$3.22)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0" y="3355848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602 days before announcement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3776472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2023-09-15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26080" y="3776472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6B7C8F"/>
                </a:solidFill>
                <a:latin typeface="Calibri"/>
              </a:rPr>
              <a:t>-53%  ($9.15→$4.34)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0" y="3776472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651 days before announcement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4197096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2024-01-26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26080" y="4197096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+43%  ($1.92→$2.75)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0" y="4197096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518 days before announcement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4617720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2023-11-10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926080" y="4617720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6B7C8F"/>
                </a:solidFill>
                <a:latin typeface="Calibri"/>
              </a:rPr>
              <a:t>-42%  ($3.22→$1.86)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0" y="4617720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595 days before announcement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5038344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2023-10-06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926080" y="5038344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6B7C8F"/>
                </a:solidFill>
                <a:latin typeface="Calibri"/>
              </a:rPr>
              <a:t>-41%  ($3.94→$2.34)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0" y="5038344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630 days before announcement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" y="5458968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2024-02-23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926080" y="5458968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+34%  ($2.57→$3.45)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0" y="5458968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490 days before announcement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626364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B7C8F"/>
                </a:solidFill>
                <a:latin typeface="Calibri"/>
              </a:rPr>
              <a:t>These are weeks the stock moved materially with no disclosed catalyst — the leak/rumor footprint.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The events — disclosed catalysts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Turnstone Biologics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08176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426464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40280" y="1371600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2023-09-01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66160" y="1371600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Turnstone Biologics Corp. Reports Second Quarter 2023 Financial Results and Provides Business Update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920240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938528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40280" y="1883664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2023-09-28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1883664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Turnstone Biologics to Present Preclinical Data for Selected Tumor-Infiltrating Lymphocyte (TIL) Therapy at…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2432304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2450592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40280" y="2395728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2023-11-03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0" y="2395728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Turnstone Biologics Presents Preclinical Data Highlighting Potential for Selected Tumor-Infiltrating…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2944368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2962656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40280" y="2907792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2023-11-10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66160" y="2907792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Turnstone Biologics Corp. Reports Third Quarter 2023 Financial Results and Provides Recent Business…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3456432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3474720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240280" y="3419856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2025-03-29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66160" y="3419856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Turnstone Biologics Corp. Reports Fourth Quarter and Full Year 2024 Financial Results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3968496"/>
            <a:ext cx="1417320" cy="310896"/>
          </a:xfrm>
          <a:prstGeom prst="roundRect">
            <a:avLst/>
          </a:prstGeom>
          <a:solidFill>
            <a:srgbClr val="E89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3986784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Deal/M&amp;A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240280" y="3931920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2025-06-30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66160" y="3931920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$HAREHOLDER ALERT: Class Action Attorney Juan Monteverde Investigates the Merger of Turnstone Biologics…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635508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B7C8F"/>
                </a:solidFill>
                <a:latin typeface="Calibri"/>
              </a:rPr>
              <a:t>Catalysts tagged by keyword from the report's Company News table.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