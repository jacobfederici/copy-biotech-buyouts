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Sheet1!$A$2:$A$115</c:f>
              <c:strCache>
                <c:ptCount val="114"/>
                <c:pt idx="0">
                  <c:v>Jul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Sheet1!$B$2:$B$115</c:f>
              <c:numCache>
                <c:formatCode>General</c:formatCode>
                <c:ptCount val="114"/>
                <c:pt idx="0">
                  <c:v>27.01</c:v>
                </c:pt>
                <c:pt idx="1">
                  <c:v>26.4</c:v>
                </c:pt>
                <c:pt idx="2">
                  <c:v>26.28</c:v>
                </c:pt>
                <c:pt idx="3">
                  <c:v>26.16</c:v>
                </c:pt>
                <c:pt idx="4">
                  <c:v>24.27</c:v>
                </c:pt>
                <c:pt idx="5">
                  <c:v>24.08</c:v>
                </c:pt>
                <c:pt idx="6">
                  <c:v>25.36</c:v>
                </c:pt>
                <c:pt idx="7">
                  <c:v>27.36</c:v>
                </c:pt>
                <c:pt idx="8">
                  <c:v>27.82</c:v>
                </c:pt>
                <c:pt idx="9">
                  <c:v>27.72</c:v>
                </c:pt>
                <c:pt idx="10">
                  <c:v>28.33</c:v>
                </c:pt>
                <c:pt idx="11">
                  <c:v>30.9</c:v>
                </c:pt>
                <c:pt idx="12">
                  <c:v>29.5</c:v>
                </c:pt>
                <c:pt idx="13">
                  <c:v>31.76</c:v>
                </c:pt>
                <c:pt idx="14">
                  <c:v>31.25</c:v>
                </c:pt>
                <c:pt idx="15">
                  <c:v>31.45</c:v>
                </c:pt>
                <c:pt idx="16">
                  <c:v>32.45</c:v>
                </c:pt>
                <c:pt idx="17">
                  <c:v>31.64</c:v>
                </c:pt>
                <c:pt idx="18">
                  <c:v>28.78</c:v>
                </c:pt>
                <c:pt idx="19">
                  <c:v>28.86</c:v>
                </c:pt>
                <c:pt idx="20">
                  <c:v>27.36</c:v>
                </c:pt>
                <c:pt idx="21">
                  <c:v>28.83</c:v>
                </c:pt>
                <c:pt idx="22">
                  <c:v>28.45</c:v>
                </c:pt>
                <c:pt idx="23">
                  <c:v>27.85</c:v>
                </c:pt>
                <c:pt idx="24">
                  <c:v>26.12</c:v>
                </c:pt>
                <c:pt idx="25">
                  <c:v>25.78</c:v>
                </c:pt>
                <c:pt idx="26">
                  <c:v>25.04</c:v>
                </c:pt>
                <c:pt idx="27">
                  <c:v>24.26</c:v>
                </c:pt>
                <c:pt idx="28">
                  <c:v>26.32</c:v>
                </c:pt>
                <c:pt idx="29">
                  <c:v>25.98</c:v>
                </c:pt>
                <c:pt idx="30">
                  <c:v>25.67</c:v>
                </c:pt>
                <c:pt idx="31">
                  <c:v>26.11</c:v>
                </c:pt>
                <c:pt idx="32">
                  <c:v>27.75</c:v>
                </c:pt>
                <c:pt idx="33">
                  <c:v>28.49</c:v>
                </c:pt>
                <c:pt idx="34">
                  <c:v>27.18</c:v>
                </c:pt>
                <c:pt idx="35">
                  <c:v>27.04</c:v>
                </c:pt>
                <c:pt idx="36">
                  <c:v>28.24</c:v>
                </c:pt>
                <c:pt idx="37">
                  <c:v>28.05</c:v>
                </c:pt>
                <c:pt idx="38">
                  <c:v>22.83</c:v>
                </c:pt>
                <c:pt idx="39">
                  <c:v>23.39</c:v>
                </c:pt>
                <c:pt idx="40">
                  <c:v>26.0</c:v>
                </c:pt>
                <c:pt idx="41">
                  <c:v>25.5</c:v>
                </c:pt>
                <c:pt idx="42">
                  <c:v>25.2</c:v>
                </c:pt>
                <c:pt idx="43">
                  <c:v>23.42</c:v>
                </c:pt>
                <c:pt idx="44">
                  <c:v>23.05</c:v>
                </c:pt>
                <c:pt idx="45">
                  <c:v>22.62</c:v>
                </c:pt>
                <c:pt idx="46">
                  <c:v>22.57</c:v>
                </c:pt>
                <c:pt idx="47">
                  <c:v>22.33</c:v>
                </c:pt>
                <c:pt idx="48">
                  <c:v>23.28</c:v>
                </c:pt>
                <c:pt idx="49">
                  <c:v>23.44</c:v>
                </c:pt>
                <c:pt idx="50">
                  <c:v>24.99</c:v>
                </c:pt>
                <c:pt idx="51">
                  <c:v>24.63</c:v>
                </c:pt>
                <c:pt idx="52">
                  <c:v>25.15</c:v>
                </c:pt>
                <c:pt idx="53">
                  <c:v>25.9</c:v>
                </c:pt>
                <c:pt idx="54">
                  <c:v>25.92</c:v>
                </c:pt>
                <c:pt idx="55">
                  <c:v>25.26</c:v>
                </c:pt>
                <c:pt idx="56">
                  <c:v>24.58</c:v>
                </c:pt>
                <c:pt idx="57">
                  <c:v>21.66</c:v>
                </c:pt>
                <c:pt idx="58">
                  <c:v>19.68</c:v>
                </c:pt>
                <c:pt idx="59">
                  <c:v>20.17</c:v>
                </c:pt>
                <c:pt idx="60">
                  <c:v>20.04</c:v>
                </c:pt>
                <c:pt idx="61">
                  <c:v>19.54</c:v>
                </c:pt>
                <c:pt idx="62">
                  <c:v>19.46</c:v>
                </c:pt>
                <c:pt idx="63">
                  <c:v>18.78</c:v>
                </c:pt>
                <c:pt idx="64">
                  <c:v>16.7</c:v>
                </c:pt>
                <c:pt idx="65">
                  <c:v>15.86</c:v>
                </c:pt>
                <c:pt idx="66">
                  <c:v>16.6</c:v>
                </c:pt>
                <c:pt idx="67">
                  <c:v>17.23</c:v>
                </c:pt>
                <c:pt idx="68">
                  <c:v>16.38</c:v>
                </c:pt>
                <c:pt idx="69">
                  <c:v>16.81</c:v>
                </c:pt>
                <c:pt idx="70">
                  <c:v>15.81</c:v>
                </c:pt>
                <c:pt idx="71">
                  <c:v>15.27</c:v>
                </c:pt>
                <c:pt idx="72">
                  <c:v>14.83</c:v>
                </c:pt>
                <c:pt idx="73">
                  <c:v>15.46</c:v>
                </c:pt>
                <c:pt idx="74">
                  <c:v>15.2</c:v>
                </c:pt>
                <c:pt idx="75">
                  <c:v>14.64</c:v>
                </c:pt>
                <c:pt idx="76">
                  <c:v>15.72</c:v>
                </c:pt>
                <c:pt idx="77">
                  <c:v>16.07</c:v>
                </c:pt>
                <c:pt idx="78">
                  <c:v>15.91</c:v>
                </c:pt>
                <c:pt idx="79">
                  <c:v>13.36</c:v>
                </c:pt>
                <c:pt idx="80">
                  <c:v>15.38</c:v>
                </c:pt>
                <c:pt idx="81">
                  <c:v>16.08</c:v>
                </c:pt>
                <c:pt idx="82">
                  <c:v>15.11</c:v>
                </c:pt>
                <c:pt idx="83">
                  <c:v>14.49</c:v>
                </c:pt>
                <c:pt idx="84">
                  <c:v>13.34</c:v>
                </c:pt>
                <c:pt idx="85">
                  <c:v>14.61</c:v>
                </c:pt>
                <c:pt idx="86">
                  <c:v>14.28</c:v>
                </c:pt>
                <c:pt idx="87">
                  <c:v>13.62</c:v>
                </c:pt>
                <c:pt idx="88">
                  <c:v>13.46</c:v>
                </c:pt>
                <c:pt idx="89">
                  <c:v>12.39</c:v>
                </c:pt>
                <c:pt idx="90">
                  <c:v>11.87</c:v>
                </c:pt>
                <c:pt idx="91">
                  <c:v>12.19</c:v>
                </c:pt>
                <c:pt idx="92">
                  <c:v>12.62</c:v>
                </c:pt>
                <c:pt idx="93">
                  <c:v>12.54</c:v>
                </c:pt>
                <c:pt idx="94">
                  <c:v>12.84</c:v>
                </c:pt>
                <c:pt idx="95">
                  <c:v>11.64</c:v>
                </c:pt>
                <c:pt idx="96">
                  <c:v>10.84</c:v>
                </c:pt>
                <c:pt idx="97">
                  <c:v>10.8</c:v>
                </c:pt>
                <c:pt idx="98">
                  <c:v>11.87</c:v>
                </c:pt>
                <c:pt idx="99">
                  <c:v>12.35</c:v>
                </c:pt>
                <c:pt idx="100">
                  <c:v>13.77</c:v>
                </c:pt>
                <c:pt idx="101">
                  <c:v>14.05</c:v>
                </c:pt>
                <c:pt idx="102">
                  <c:v>14.25</c:v>
                </c:pt>
                <c:pt idx="103">
                  <c:v>15.02</c:v>
                </c:pt>
                <c:pt idx="104">
                  <c:v>15.13</c:v>
                </c:pt>
                <c:pt idx="105">
                  <c:v>15.5</c:v>
                </c:pt>
                <c:pt idx="106">
                  <c:v>21.8</c:v>
                </c:pt>
                <c:pt idx="107">
                  <c:v>21.69</c:v>
                </c:pt>
                <c:pt idx="108">
                  <c:v>21.69</c:v>
                </c:pt>
                <c:pt idx="109">
                  <c:v>21.67</c:v>
                </c:pt>
                <c:pt idx="110">
                  <c:v>21.73</c:v>
                </c:pt>
                <c:pt idx="111">
                  <c:v>21.75</c:v>
                </c:pt>
                <c:pt idx="112">
                  <c:v>21.73</c:v>
                </c:pt>
                <c:pt idx="113">
                  <c:v>21.76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Jul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Sheet1!$C$2:$C$115</c:f>
              <c:numCache>
                <c:formatCode>General</c:formatCode>
                <c:ptCount val="114"/>
                <c:pt idx="10">
                  <c:v>28.33</c:v>
                </c:pt>
                <c:pt idx="12">
                  <c:v>29.5</c:v>
                </c:pt>
                <c:pt idx="37">
                  <c:v>28.05</c:v>
                </c:pt>
                <c:pt idx="56">
                  <c:v>24.58</c:v>
                </c:pt>
                <c:pt idx="57">
                  <c:v>21.66</c:v>
                </c:pt>
                <c:pt idx="78">
                  <c:v>15.91</c:v>
                </c:pt>
                <c:pt idx="79">
                  <c:v>13.36</c:v>
                </c:pt>
                <c:pt idx="94">
                  <c:v>12.84</c:v>
                </c:pt>
                <c:pt idx="95">
                  <c:v>11.64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Jul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Sheet1!$D$2:$D$115</c:f>
              <c:numCache>
                <c:formatCode>General</c:formatCode>
                <c:ptCount val="114"/>
                <c:pt idx="106">
                  <c:v>21.8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Sagent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SGNT  ·  acquired by Nichi-Iko Pharmaceutical Co., Ltd. (Japanese corporation)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$21.75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11, 2016   ·   Closed Aug 29, 2016   ·   Status: completed   ·   Pre-ann. volume 0.91×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Sagent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Sagent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556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9116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07122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92722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85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585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319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196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05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500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377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672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111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01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704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424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283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147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578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008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585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589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735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312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742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173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891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464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037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609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0612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898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475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762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905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905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050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5766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768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7198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7627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627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771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8486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632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775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918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0634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777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777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1779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068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3927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4500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4786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4929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072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5502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5932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075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504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04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6647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6791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6934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077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363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506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05136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4093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4522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522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2016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Board forms the Strategic Committee, a standing…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acquires Omega Laboratories Limited, a Canadian…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engages Perella Weinberg Partners LP as financial…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Large strategic competitor (majority owned by a financial…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engages Morgan Stanley &amp; Co. LLC as additional…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Spring 2015, Chinese-based pharmaceutical company (Party A)…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31, 2015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Late March 2015, Mr. Yordon announces decision to retire…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2015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Summer 2015, non-U.S. listed international pharmaceutical…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Between July and September 2015, Party A submits multiple…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August 2015, Board names Allan Oberman as Chief Executive…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regular meeting; discusses non-U.S. listed…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2015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Senior management and Morgan Stanley representatives meet…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2015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and Party A enter into confidentiality agreement…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Fall 2015, senior executive of a large health care company…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proposal to acquire Sagent for…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Mid-December 2015, over several days, Sagent senior…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 by teleconference with Morgan…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Chairman Robert Flanagan meets with Party A senior…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05, 2016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Oberman and CFO Singer meet with two senior executives…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2016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Reuters reports Sagent is considering a sale and has hired…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2016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Late January 2016, Eiichi Machida, senior executive adviser…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2016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proposal to acquire Sagent for…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and Party C (financial sponsor with a generic…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2016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submits non-binding proposal for a stock-for-stock…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70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Sagent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29, 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 by teleconference; Perella…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meeting; Oberman presents assessment of…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meeting; discusses Party C; agrees…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Machida sends email via Perella Weinberg expressing…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meets in Washington, D.C. at Kirkland offices; Party…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U.S. Treasury Department and IRS issue proposed and…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letter providing additional details on its…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Flanagan and Perella Weinberg meet with Machida; Machida…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Committee decides: (i) not to pursue Party C…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15, 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Early to mid-April 2016, Perella Weinberg and Morgan…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20, 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Oral indications of interest received: Nichi-Iko…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27, 2016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regular meeting in Schaumburg; determines to…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and Nichi-Iko enter confidentiality agreement with…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Flanagan and Nichi-Iko representatives including CEO Tamura…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announces Q1 2016 financial results, acknowledging…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04, 2016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and Party D enter confidentiality agreement with…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and Party E enter confidentiality agreement with…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17, 2016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senior management (Oberman, Singer, Ward) provides…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presentation to Party 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presentation to Party 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24, 2016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meeting; reviews status of discussions…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Late May 2016, Party E informs Morgan Stanley it will not…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Perella Weinberg and Morgan Stanley distribute bid process…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Early June, Party D contacts Morgan Stanley indicating…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Early to mid-June, Party A and Nichi-Iko provide revised…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16, 2016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announces definitive agreement with Teva…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proposal for equity value of $651 million…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2016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Committee holds special meeting; reviews Party A…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Nichi-Iko submits proposal to acquire Sagent for…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Committee holds special meeting; reviews…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meeting; reviews proposals and…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proposal for equity value of $660 million…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Committee holds special meeting; reviews June 30…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04, 2016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proposal for equity value of $725 million…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04, 2016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Following consultation with Flanagan, Perella Weinberg…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Oberman, Singer, Machida, one other Nichi-Iko senior…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Sagent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06, 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senior management provides updated management…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07, 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Nichi-Iko and Sagent advisors negotiate; Perella Weinberg…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holds special meeting with Kirkland; Oberman and…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 the morning of July 10, Nichi-Iko submits proposal for…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Nichi-Iko and Sagent issue joint press release announcing…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 14D9 filed; Purchaser commences tender offer.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as of expiration time, 28,229,440…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accepts for payment all validly tendered shares…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notifies NASDAQ that Merger has been consummated…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Sagent shares delisted from NASDAQ.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Sagent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Sagent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2015-07-28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Sagent Pharmaceuticals Sets Date and Time for Release of Second Quarter 2015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2015-08-04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Sagent Pharmaceuticals Reports Second Quarter 2015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2015-10-20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Sagent Pharmaceuticals Sets Date and Time for Release of Third Quarter 2015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Sagent Pharmaceuticals Reports Third Quarter 2015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Sagent Pharmaceuticals Sets Date and Time for Release of Fourth Quarter and Full Year 2015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Sagent Pharmaceuticals Reports Fourth Quarter and Full Year 2015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2016-04-25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Sagent Pharmaceuticals Sets Date and Time for Release of First Quarter 2016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Sagent Pharmaceuticals Reports First Quarter 2016 Financial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