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Sheet1!$A$2:$A$110</c:f>
              <c:strCache>
                <c:ptCount val="109"/>
                <c:pt idx="0">
                  <c:v>Jan '13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Mar '13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May '13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>Aug '13</c:v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Oct '13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Dec '13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Feb '14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Apr '14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Jun '14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>Aug '14</c:v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Oct '14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Dec '14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>Feb '15</c:v>
                </c:pt>
              </c:strCache>
            </c:strRef>
          </c:cat>
          <c:val>
            <c:numRef>
              <c:f>Sheet1!$B$2:$B$110</c:f>
              <c:numCache>
                <c:formatCode>General</c:formatCode>
                <c:ptCount val="109"/>
                <c:pt idx="0">
                  <c:v>8.93</c:v>
                </c:pt>
                <c:pt idx="1">
                  <c:v>8.8</c:v>
                </c:pt>
                <c:pt idx="2">
                  <c:v>8.59</c:v>
                </c:pt>
                <c:pt idx="3">
                  <c:v>7.99</c:v>
                </c:pt>
                <c:pt idx="4">
                  <c:v>7.82</c:v>
                </c:pt>
                <c:pt idx="5">
                  <c:v>7.93</c:v>
                </c:pt>
                <c:pt idx="6">
                  <c:v>8.21</c:v>
                </c:pt>
                <c:pt idx="7">
                  <c:v>9.18</c:v>
                </c:pt>
                <c:pt idx="8">
                  <c:v>9.89</c:v>
                </c:pt>
                <c:pt idx="9">
                  <c:v>10.21</c:v>
                </c:pt>
                <c:pt idx="10">
                  <c:v>10.92</c:v>
                </c:pt>
                <c:pt idx="11">
                  <c:v>12.15</c:v>
                </c:pt>
                <c:pt idx="12">
                  <c:v>12.66</c:v>
                </c:pt>
                <c:pt idx="13">
                  <c:v>13.49</c:v>
                </c:pt>
                <c:pt idx="14">
                  <c:v>13.25</c:v>
                </c:pt>
                <c:pt idx="15">
                  <c:v>14.37</c:v>
                </c:pt>
                <c:pt idx="16">
                  <c:v>14.28</c:v>
                </c:pt>
                <c:pt idx="17">
                  <c:v>14.91</c:v>
                </c:pt>
                <c:pt idx="18">
                  <c:v>15.75</c:v>
                </c:pt>
                <c:pt idx="19">
                  <c:v>15.87</c:v>
                </c:pt>
                <c:pt idx="20">
                  <c:v>15.25</c:v>
                </c:pt>
                <c:pt idx="21">
                  <c:v>14.74</c:v>
                </c:pt>
                <c:pt idx="22">
                  <c:v>15.11</c:v>
                </c:pt>
                <c:pt idx="23">
                  <c:v>16.4</c:v>
                </c:pt>
                <c:pt idx="24">
                  <c:v>17.51</c:v>
                </c:pt>
                <c:pt idx="25">
                  <c:v>18.26</c:v>
                </c:pt>
                <c:pt idx="26">
                  <c:v>18.53</c:v>
                </c:pt>
                <c:pt idx="27">
                  <c:v>18.74</c:v>
                </c:pt>
                <c:pt idx="28">
                  <c:v>22.69</c:v>
                </c:pt>
                <c:pt idx="29">
                  <c:v>23.7</c:v>
                </c:pt>
                <c:pt idx="30">
                  <c:v>25.24</c:v>
                </c:pt>
                <c:pt idx="31">
                  <c:v>25.1</c:v>
                </c:pt>
                <c:pt idx="32">
                  <c:v>27.6</c:v>
                </c:pt>
                <c:pt idx="33">
                  <c:v>28.23</c:v>
                </c:pt>
                <c:pt idx="34">
                  <c:v>30.36</c:v>
                </c:pt>
                <c:pt idx="35">
                  <c:v>32.38</c:v>
                </c:pt>
                <c:pt idx="36">
                  <c:v>34.79</c:v>
                </c:pt>
                <c:pt idx="37">
                  <c:v>29.74</c:v>
                </c:pt>
                <c:pt idx="38">
                  <c:v>30.05</c:v>
                </c:pt>
                <c:pt idx="39">
                  <c:v>29.6</c:v>
                </c:pt>
                <c:pt idx="40">
                  <c:v>28.0</c:v>
                </c:pt>
                <c:pt idx="41">
                  <c:v>24.26</c:v>
                </c:pt>
                <c:pt idx="42">
                  <c:v>25.63</c:v>
                </c:pt>
                <c:pt idx="43">
                  <c:v>23.86</c:v>
                </c:pt>
                <c:pt idx="44">
                  <c:v>26.41</c:v>
                </c:pt>
                <c:pt idx="45">
                  <c:v>24.22</c:v>
                </c:pt>
                <c:pt idx="46">
                  <c:v>24.69</c:v>
                </c:pt>
                <c:pt idx="47">
                  <c:v>28.42</c:v>
                </c:pt>
                <c:pt idx="48">
                  <c:v>29.65</c:v>
                </c:pt>
                <c:pt idx="49">
                  <c:v>32.39</c:v>
                </c:pt>
                <c:pt idx="50">
                  <c:v>36.37</c:v>
                </c:pt>
                <c:pt idx="51">
                  <c:v>35.67</c:v>
                </c:pt>
                <c:pt idx="52">
                  <c:v>35.96</c:v>
                </c:pt>
                <c:pt idx="53">
                  <c:v>35.78</c:v>
                </c:pt>
                <c:pt idx="54">
                  <c:v>35.13</c:v>
                </c:pt>
                <c:pt idx="55">
                  <c:v>37.03</c:v>
                </c:pt>
                <c:pt idx="56">
                  <c:v>38.57</c:v>
                </c:pt>
                <c:pt idx="57">
                  <c:v>34.98</c:v>
                </c:pt>
                <c:pt idx="58">
                  <c:v>33.18</c:v>
                </c:pt>
                <c:pt idx="59">
                  <c:v>32.98</c:v>
                </c:pt>
                <c:pt idx="60">
                  <c:v>30.08</c:v>
                </c:pt>
                <c:pt idx="61">
                  <c:v>28.27</c:v>
                </c:pt>
                <c:pt idx="62">
                  <c:v>26.49</c:v>
                </c:pt>
                <c:pt idx="63">
                  <c:v>23.84</c:v>
                </c:pt>
                <c:pt idx="64">
                  <c:v>24.55</c:v>
                </c:pt>
                <c:pt idx="65">
                  <c:v>24.29</c:v>
                </c:pt>
                <c:pt idx="66">
                  <c:v>27.55</c:v>
                </c:pt>
                <c:pt idx="67">
                  <c:v>27.52</c:v>
                </c:pt>
                <c:pt idx="68">
                  <c:v>26.04</c:v>
                </c:pt>
                <c:pt idx="69">
                  <c:v>26.8</c:v>
                </c:pt>
                <c:pt idx="70">
                  <c:v>31.13</c:v>
                </c:pt>
                <c:pt idx="71">
                  <c:v>34.6</c:v>
                </c:pt>
                <c:pt idx="72">
                  <c:v>34.62</c:v>
                </c:pt>
                <c:pt idx="73">
                  <c:v>34.37</c:v>
                </c:pt>
                <c:pt idx="74">
                  <c:v>33.18</c:v>
                </c:pt>
                <c:pt idx="75">
                  <c:v>32.94</c:v>
                </c:pt>
                <c:pt idx="76">
                  <c:v>30.28</c:v>
                </c:pt>
                <c:pt idx="77">
                  <c:v>29.09</c:v>
                </c:pt>
                <c:pt idx="78">
                  <c:v>29.22</c:v>
                </c:pt>
                <c:pt idx="79">
                  <c:v>27.86</c:v>
                </c:pt>
                <c:pt idx="80">
                  <c:v>27.9</c:v>
                </c:pt>
                <c:pt idx="81">
                  <c:v>26.97</c:v>
                </c:pt>
                <c:pt idx="82">
                  <c:v>27.24</c:v>
                </c:pt>
                <c:pt idx="83">
                  <c:v>30.18</c:v>
                </c:pt>
                <c:pt idx="84">
                  <c:v>27.5</c:v>
                </c:pt>
                <c:pt idx="85">
                  <c:v>32.7</c:v>
                </c:pt>
                <c:pt idx="86">
                  <c:v>27.13</c:v>
                </c:pt>
                <c:pt idx="87">
                  <c:v>27.55</c:v>
                </c:pt>
                <c:pt idx="88">
                  <c:v>23.97</c:v>
                </c:pt>
                <c:pt idx="89">
                  <c:v>23.15</c:v>
                </c:pt>
                <c:pt idx="90">
                  <c:v>26.16</c:v>
                </c:pt>
                <c:pt idx="91">
                  <c:v>26.93</c:v>
                </c:pt>
                <c:pt idx="92">
                  <c:v>27.4</c:v>
                </c:pt>
                <c:pt idx="93">
                  <c:v>27.49</c:v>
                </c:pt>
                <c:pt idx="94">
                  <c:v>29.0</c:v>
                </c:pt>
                <c:pt idx="95">
                  <c:v>32.0</c:v>
                </c:pt>
                <c:pt idx="96">
                  <c:v>33.18</c:v>
                </c:pt>
                <c:pt idx="97">
                  <c:v>33.35</c:v>
                </c:pt>
                <c:pt idx="98">
                  <c:v>31.28</c:v>
                </c:pt>
                <c:pt idx="99">
                  <c:v>36.04</c:v>
                </c:pt>
                <c:pt idx="100">
                  <c:v>36.6</c:v>
                </c:pt>
                <c:pt idx="101">
                  <c:v>35.75</c:v>
                </c:pt>
                <c:pt idx="102">
                  <c:v>41.91</c:v>
                </c:pt>
                <c:pt idx="103">
                  <c:v>45.45</c:v>
                </c:pt>
                <c:pt idx="104">
                  <c:v>45.64</c:v>
                </c:pt>
                <c:pt idx="105">
                  <c:v>45.86</c:v>
                </c:pt>
                <c:pt idx="106">
                  <c:v>45.87</c:v>
                </c:pt>
                <c:pt idx="107">
                  <c:v>45.88</c:v>
                </c:pt>
                <c:pt idx="108">
                  <c:v>45.97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Sheet1!$A$2:$A$110</c:f>
              <c:strCache>
                <c:ptCount val="109"/>
                <c:pt idx="0">
                  <c:v>Jan '13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Mar '13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May '13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>Aug '13</c:v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Oct '13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Dec '13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Feb '14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Apr '14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Jun '14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>Aug '14</c:v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Oct '14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Dec '14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>Feb '15</c:v>
                </c:pt>
              </c:strCache>
            </c:strRef>
          </c:cat>
          <c:val>
            <c:numRef>
              <c:f>Sheet1!$C$2:$C$110</c:f>
              <c:numCache>
                <c:formatCode>General</c:formatCode>
                <c:ptCount val="109"/>
                <c:pt idx="27">
                  <c:v>18.74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NPS Pharmaceuticals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NPSP  ·  acquired by Shire plc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47%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34%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72%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Jan 11, 2015   ·   Closed Feb 21, 2015   ·   Status: completed   ·   Pre-ann. volume 1.03×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NPS Pharmaceuticals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NPS Pharmaceuticals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21673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0233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6751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17956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6619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800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5584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3644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6186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Oct 2014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Feb 2015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09, 2014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contacts NPS Pharmaceuticals to explore a possible…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15, 2014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Shire CEO Dr. Flemming Ornskov proposes an all-cash…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05, 2014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Shire submits a revised proposal of $45.00 per share.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16, 2014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NPS Pharmaceuticals and Shire execute a confidentiality…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19, 2014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Management presentations held with Shire.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01, 2015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Shire increases its proposal to its "best and final" offer…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02, 2015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Strategic Committee conducts a market check of nine…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11, 2015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executed and deal publicly announced.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21, 2015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Transaction closes.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9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NPS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 unexplained pre-announcement move weeks (of 1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2013-08-09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+21%  ($18.74→$22.69)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520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NPS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C8F"/>
                </a:solidFill>
                <a:latin typeface="Calibri"/>
              </a:rPr>
              <a:t>No catalyst-tagged news in the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