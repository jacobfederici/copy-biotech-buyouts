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Close</c:v>
                </c:pt>
              </c:strCache>
            </c:strRef>
          </c:tx>
          <c:spPr>
            <a:ln w="25400">
              <a:solidFill>
                <a:srgbClr val="2E78D2"/>
              </a:solidFill>
            </a:ln>
          </c:spPr>
          <c:marker>
            <c:symbol val="none"/>
          </c:marker>
          <c:cat>
            <c:strRef>
              <c:f>Sheet1!$A$2:$A$112</c:f>
              <c:strCache>
                <c:ptCount val="111"/>
                <c:pt idx="0">
                  <c:v>Oct '20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Jan '21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Mar '21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May '21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Jul '21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Oct '21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Dec '21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Feb '22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May '22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Jul '22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Sep '22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Dec '22</c:v>
                </c:pt>
              </c:strCache>
            </c:strRef>
          </c:cat>
          <c:val>
            <c:numRef>
              <c:f>Sheet1!$B$2:$B$112</c:f>
              <c:numCache>
                <c:formatCode>General</c:formatCode>
                <c:ptCount val="111"/>
                <c:pt idx="0">
                  <c:v>19.7</c:v>
                </c:pt>
                <c:pt idx="1">
                  <c:v>19.41</c:v>
                </c:pt>
                <c:pt idx="2">
                  <c:v>19.18</c:v>
                </c:pt>
                <c:pt idx="3">
                  <c:v>18.52</c:v>
                </c:pt>
                <c:pt idx="4">
                  <c:v>19.09</c:v>
                </c:pt>
                <c:pt idx="5">
                  <c:v>20.71</c:v>
                </c:pt>
                <c:pt idx="6">
                  <c:v>19.74</c:v>
                </c:pt>
                <c:pt idx="7">
                  <c:v>18.49</c:v>
                </c:pt>
                <c:pt idx="8">
                  <c:v>18.52</c:v>
                </c:pt>
                <c:pt idx="9">
                  <c:v>20.76</c:v>
                </c:pt>
                <c:pt idx="10">
                  <c:v>19.83</c:v>
                </c:pt>
                <c:pt idx="11">
                  <c:v>19.12</c:v>
                </c:pt>
                <c:pt idx="12">
                  <c:v>17.76</c:v>
                </c:pt>
                <c:pt idx="13">
                  <c:v>16.95</c:v>
                </c:pt>
                <c:pt idx="14">
                  <c:v>15.92</c:v>
                </c:pt>
                <c:pt idx="15">
                  <c:v>16.41</c:v>
                </c:pt>
                <c:pt idx="16">
                  <c:v>17.97</c:v>
                </c:pt>
                <c:pt idx="17">
                  <c:v>19.19</c:v>
                </c:pt>
                <c:pt idx="18">
                  <c:v>20.37</c:v>
                </c:pt>
                <c:pt idx="19">
                  <c:v>17.33</c:v>
                </c:pt>
                <c:pt idx="20">
                  <c:v>19.13</c:v>
                </c:pt>
                <c:pt idx="21">
                  <c:v>19.22</c:v>
                </c:pt>
                <c:pt idx="22">
                  <c:v>17.41</c:v>
                </c:pt>
                <c:pt idx="23">
                  <c:v>13.94</c:v>
                </c:pt>
                <c:pt idx="24">
                  <c:v>13.87</c:v>
                </c:pt>
                <c:pt idx="25">
                  <c:v>13.76</c:v>
                </c:pt>
                <c:pt idx="26">
                  <c:v>13.98</c:v>
                </c:pt>
                <c:pt idx="27">
                  <c:v>14.22</c:v>
                </c:pt>
                <c:pt idx="28">
                  <c:v>13.17</c:v>
                </c:pt>
                <c:pt idx="29">
                  <c:v>12.4</c:v>
                </c:pt>
                <c:pt idx="30">
                  <c:v>12.49</c:v>
                </c:pt>
                <c:pt idx="31">
                  <c:v>13.06</c:v>
                </c:pt>
                <c:pt idx="32">
                  <c:v>13.01</c:v>
                </c:pt>
                <c:pt idx="33">
                  <c:v>13.0</c:v>
                </c:pt>
                <c:pt idx="34">
                  <c:v>13.1</c:v>
                </c:pt>
                <c:pt idx="35">
                  <c:v>15.07</c:v>
                </c:pt>
                <c:pt idx="36">
                  <c:v>13.03</c:v>
                </c:pt>
                <c:pt idx="37">
                  <c:v>12.76</c:v>
                </c:pt>
                <c:pt idx="38">
                  <c:v>12.27</c:v>
                </c:pt>
                <c:pt idx="39">
                  <c:v>11.66</c:v>
                </c:pt>
                <c:pt idx="40">
                  <c:v>10.87</c:v>
                </c:pt>
                <c:pt idx="41">
                  <c:v>12.55</c:v>
                </c:pt>
                <c:pt idx="42">
                  <c:v>11.3</c:v>
                </c:pt>
                <c:pt idx="43">
                  <c:v>10.29</c:v>
                </c:pt>
                <c:pt idx="44">
                  <c:v>11.15</c:v>
                </c:pt>
                <c:pt idx="45">
                  <c:v>12.27</c:v>
                </c:pt>
                <c:pt idx="46">
                  <c:v>12.75</c:v>
                </c:pt>
                <c:pt idx="47">
                  <c:v>12.54</c:v>
                </c:pt>
                <c:pt idx="48">
                  <c:v>12.86</c:v>
                </c:pt>
                <c:pt idx="49">
                  <c:v>11.38</c:v>
                </c:pt>
                <c:pt idx="50">
                  <c:v>10.43</c:v>
                </c:pt>
                <c:pt idx="51">
                  <c:v>10.01</c:v>
                </c:pt>
                <c:pt idx="52">
                  <c:v>9.5</c:v>
                </c:pt>
                <c:pt idx="53">
                  <c:v>9.32</c:v>
                </c:pt>
                <c:pt idx="54">
                  <c:v>9.03</c:v>
                </c:pt>
                <c:pt idx="55">
                  <c:v>9.18</c:v>
                </c:pt>
                <c:pt idx="56">
                  <c:v>8.12</c:v>
                </c:pt>
                <c:pt idx="57">
                  <c:v>7.73</c:v>
                </c:pt>
                <c:pt idx="58">
                  <c:v>7.81</c:v>
                </c:pt>
                <c:pt idx="59">
                  <c:v>8.01</c:v>
                </c:pt>
                <c:pt idx="60">
                  <c:v>8.4</c:v>
                </c:pt>
                <c:pt idx="61">
                  <c:v>8.95</c:v>
                </c:pt>
                <c:pt idx="62">
                  <c:v>8.5</c:v>
                </c:pt>
                <c:pt idx="63">
                  <c:v>8.29</c:v>
                </c:pt>
                <c:pt idx="64">
                  <c:v>8.23</c:v>
                </c:pt>
                <c:pt idx="65">
                  <c:v>5.59</c:v>
                </c:pt>
                <c:pt idx="66">
                  <c:v>5.71</c:v>
                </c:pt>
                <c:pt idx="67">
                  <c:v>5.91</c:v>
                </c:pt>
                <c:pt idx="68">
                  <c:v>5.94</c:v>
                </c:pt>
                <c:pt idx="69">
                  <c:v>5.28</c:v>
                </c:pt>
                <c:pt idx="70">
                  <c:v>5.49</c:v>
                </c:pt>
                <c:pt idx="71">
                  <c:v>4.55</c:v>
                </c:pt>
                <c:pt idx="72">
                  <c:v>4.63</c:v>
                </c:pt>
                <c:pt idx="73">
                  <c:v>4.76</c:v>
                </c:pt>
                <c:pt idx="74">
                  <c:v>4.81</c:v>
                </c:pt>
                <c:pt idx="75">
                  <c:v>4.69</c:v>
                </c:pt>
                <c:pt idx="76">
                  <c:v>4.18</c:v>
                </c:pt>
                <c:pt idx="77">
                  <c:v>3.68</c:v>
                </c:pt>
                <c:pt idx="78">
                  <c:v>3.26</c:v>
                </c:pt>
                <c:pt idx="79">
                  <c:v>2.8</c:v>
                </c:pt>
                <c:pt idx="80">
                  <c:v>2.83</c:v>
                </c:pt>
                <c:pt idx="81">
                  <c:v>3.15</c:v>
                </c:pt>
                <c:pt idx="82">
                  <c:v>2.85</c:v>
                </c:pt>
                <c:pt idx="83">
                  <c:v>2.74</c:v>
                </c:pt>
                <c:pt idx="84">
                  <c:v>3.2</c:v>
                </c:pt>
                <c:pt idx="85">
                  <c:v>4.18</c:v>
                </c:pt>
                <c:pt idx="86">
                  <c:v>3.61</c:v>
                </c:pt>
                <c:pt idx="87">
                  <c:v>3.97</c:v>
                </c:pt>
                <c:pt idx="88">
                  <c:v>3.11</c:v>
                </c:pt>
                <c:pt idx="89">
                  <c:v>3.89</c:v>
                </c:pt>
                <c:pt idx="90">
                  <c:v>4.21</c:v>
                </c:pt>
                <c:pt idx="91">
                  <c:v>3.63</c:v>
                </c:pt>
                <c:pt idx="92">
                  <c:v>3.23</c:v>
                </c:pt>
                <c:pt idx="93">
                  <c:v>3.19</c:v>
                </c:pt>
                <c:pt idx="94">
                  <c:v>3.12</c:v>
                </c:pt>
                <c:pt idx="95">
                  <c:v>3.53</c:v>
                </c:pt>
                <c:pt idx="96">
                  <c:v>3.4</c:v>
                </c:pt>
                <c:pt idx="97">
                  <c:v>3.59</c:v>
                </c:pt>
                <c:pt idx="98">
                  <c:v>3.29</c:v>
                </c:pt>
                <c:pt idx="99">
                  <c:v>5.16</c:v>
                </c:pt>
                <c:pt idx="100">
                  <c:v>4.44</c:v>
                </c:pt>
                <c:pt idx="101">
                  <c:v>6.76</c:v>
                </c:pt>
                <c:pt idx="102">
                  <c:v>6.83</c:v>
                </c:pt>
                <c:pt idx="103">
                  <c:v>7.39</c:v>
                </c:pt>
                <c:pt idx="104">
                  <c:v>13.23</c:v>
                </c:pt>
                <c:pt idx="105">
                  <c:v>13.17</c:v>
                </c:pt>
                <c:pt idx="106">
                  <c:v>13.18</c:v>
                </c:pt>
                <c:pt idx="107">
                  <c:v>13.39</c:v>
                </c:pt>
                <c:pt idx="108">
                  <c:v>13.29</c:v>
                </c:pt>
                <c:pt idx="109">
                  <c:v>13.2</c:v>
                </c:pt>
                <c:pt idx="110">
                  <c:v>13.29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Event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13A88A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Sheet1!$A$2:$A$112</c:f>
              <c:strCache>
                <c:ptCount val="111"/>
                <c:pt idx="0">
                  <c:v>Oct '20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Jan '21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Mar '21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May '21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Jul '21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Oct '21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Dec '21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Feb '22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May '22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Jul '22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Sep '22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Dec '22</c:v>
                </c:pt>
              </c:strCache>
            </c:strRef>
          </c:cat>
          <c:val>
            <c:numRef>
              <c:f>Sheet1!$C$2:$C$112</c:f>
              <c:numCache>
                <c:formatCode>General</c:formatCode>
                <c:ptCount val="111"/>
                <c:pt idx="98">
                  <c:v>3.29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Rumor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455F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Sheet1!$A$2:$A$112</c:f>
              <c:strCache>
                <c:ptCount val="111"/>
                <c:pt idx="0">
                  <c:v>Oct '20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Jan '21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Mar '21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May '21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Jul '21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Oct '21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Dec '21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Feb '22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May '22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Jul '22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Sep '22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Dec '22</c:v>
                </c:pt>
              </c:strCache>
            </c:strRef>
          </c:cat>
          <c:val>
            <c:numRef>
              <c:f>Sheet1!$D$2:$D$112</c:f>
              <c:numCache>
                <c:formatCode>General</c:formatCode>
                <c:ptCount val="111"/>
                <c:pt idx="64">
                  <c:v>8.23</c:v>
                </c:pt>
                <c:pt idx="84">
                  <c:v>3.2</c:v>
                </c:pt>
                <c:pt idx="87">
                  <c:v>3.97</c:v>
                </c:pt>
                <c:pt idx="88">
                  <c:v>3.11</c:v>
                </c:pt>
                <c:pt idx="100">
                  <c:v>4.44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Deal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9B2B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Sheet1!$A$2:$A$112</c:f>
              <c:strCache>
                <c:ptCount val="111"/>
                <c:pt idx="0">
                  <c:v>Oct '20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Jan '21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Mar '21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May '21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Jul '21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Oct '21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Dec '21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Feb '22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May '22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Jul '22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Sep '22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Dec '22</c:v>
                </c:pt>
              </c:strCache>
            </c:strRef>
          </c:cat>
          <c:val>
            <c:numRef>
              <c:f>Sheet1!$E$2:$E$112</c:f>
              <c:numCache>
                <c:formatCode>General</c:formatCode>
                <c:ptCount val="111"/>
                <c:pt idx="104">
                  <c:v>13.23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7C8F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4EAF1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B7C8F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FB4E0"/>
                </a:solidFill>
                <a:latin typeface="Calibri"/>
              </a:rPr>
              <a:t>BUYOUT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Akouos</a:t>
            </a:r>
          </a:p>
          <a:p>
            <a:pPr algn="l">
              <a:lnSpc>
                <a:spcPct val="105000"/>
              </a:lnSpc>
            </a:pPr>
            <a:r>
              <a:rPr sz="1800" b="0">
                <a:solidFill>
                  <a:srgbClr val="CADCFC"/>
                </a:solidFill>
                <a:latin typeface="Calibri"/>
              </a:rPr>
              <a:t>AKUS  ·  acquired by Eli Lilly and Company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9B2B"/>
                </a:solidFill>
                <a:latin typeface="Calibri"/>
              </a:rPr>
              <a:t>$12.5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Deal price/sh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3A88A"/>
                </a:solidFill>
                <a:latin typeface="Calibri"/>
              </a:rPr>
              <a:t>142%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Premium (unaffected)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43%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4-wk pre-ann. run-up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30%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% premium pre-captured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FB4E0"/>
                </a:solidFill>
                <a:latin typeface="Calibri"/>
              </a:rPr>
              <a:t>Announced Oct 18, 2022   ·   Closed Dec 01, 2022   ·   Status: completed   ·   Pre-ann. volume 0.91× normal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7790"/>
                </a:solidFill>
                <a:latin typeface="Calibri"/>
              </a:rPr>
              <a:t>Sources: SEC SC 14D-9 filing + weekly market data. Rumor = price move with no identified filing/news.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Stock price, events &amp; rumors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Akouos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25880"/>
          <a:ext cx="1124712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red = unexplained move (rumor/leak)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13A88A"/>
                </a:solidFill>
                <a:latin typeface="Calibri"/>
              </a:rPr>
              <a:t>teal = news-driven (event)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E89B2B"/>
                </a:solidFill>
                <a:latin typeface="Calibri"/>
              </a:rPr>
              <a:t>gold = deal announcement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C8F"/>
                </a:solidFill>
                <a:latin typeface="Calibri"/>
              </a:rPr>
              <a:t>Rumor/event markers are placed one week before the reported move week (weekly data; a reported move can lag the true move by up to a week). The deal marker is on the actual announcement week.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Interaction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Akouos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783080"/>
            <a:ext cx="10881360" cy="0"/>
          </a:xfrm>
          <a:prstGeom prst="line">
            <a:avLst/>
          </a:prstGeom>
          <a:ln w="25400">
            <a:solidFill>
              <a:srgbClr val="E4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9817597" y="1463039"/>
            <a:ext cx="0" cy="640081"/>
          </a:xfrm>
          <a:prstGeom prst="line">
            <a:avLst/>
          </a:prstGeom>
          <a:ln w="19050">
            <a:solidFill>
              <a:srgbClr val="E89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903197" y="139903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E89B2B"/>
                </a:solidFill>
              </a:rPr>
              <a:t>Announcement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1521440" y="1463039"/>
            <a:ext cx="0" cy="640081"/>
          </a:xfrm>
          <a:prstGeom prst="line">
            <a:avLst/>
          </a:prstGeom>
          <a:ln w="19050">
            <a:solidFill>
              <a:srgbClr val="2E7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607040" y="20574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2E78D2"/>
                </a:solidFill>
              </a:rPr>
              <a:t>Close</a:t>
            </a:r>
          </a:p>
        </p:txBody>
      </p:sp>
      <p:sp>
        <p:nvSpPr>
          <p:cNvPr id="10" name="Oval 9"/>
          <p:cNvSpPr/>
          <p:nvPr/>
        </p:nvSpPr>
        <p:spPr>
          <a:xfrm>
            <a:off x="58521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03162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14779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573757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045257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252508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48485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67846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72400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762733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266141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389128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46657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6B7C8F"/>
                </a:solidFill>
              </a:rPr>
              <a:t>Feb 2022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C8F"/>
                </a:solidFill>
              </a:rPr>
              <a:t>Dec 2022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23, 2022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20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Akouos and Eli Lilly enter into a confidentiality agreement…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23, 2022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20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Eli Lilly submits a non-binding proposal to acquire Akouos…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26, 2022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20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Akouos Board rejects the $9.00 offer as insufficient but…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06, 2022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20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Eli Lilly submits a revised proposal of $11.50 per share in…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14, 2022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20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Eli Lilly and Akouos mutually agree to pause acquisition…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09, 2022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20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Akouos receives FDA clearance for its IND application for…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15, 2022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20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Eli Lilly resumes acquisition interest with a proposal of…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63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20, 2022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35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Eli Lilly submits 'best and final' offer of $12.50 cash…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63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17, 2022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35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Akouos Board unanimously approves the Merger Agreement…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63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18, 2022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35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Public announcement of the transaction.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63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31, 2022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635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Tender offer formally commences.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63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29, 2022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35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Tender offer expires with 81.1% of shares tendered.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63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01, 2022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635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Merger completed; Akouos becomes a wholly-owned subsidiary…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C8F"/>
                </a:solidFill>
                <a:latin typeface="Calibri"/>
              </a:rPr>
              <a:t>13 disclosed milestones, first contact → close · dates shown at the precision the filing states (month/year where imprecise).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rumors — unexplained pre-announcement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Akouos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E78D2"/>
                </a:solidFill>
                <a:latin typeface="Calibri"/>
              </a:rPr>
              <a:t>6 unexplained pre-announcement move weeks (of 7 total unexplained inflections)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64240" cy="457200"/>
          </a:xfrm>
          <a:prstGeom prst="round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665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Week ended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066544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Move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0665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Timing vs. announcement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1460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2022-09-16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51460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+57%  ($3.29→$5.16)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514600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32 days before announcement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3522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2022-09-30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935224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+52%  ($4.44→$6.76)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293522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18 days before announcement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355848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2022-01-21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3355848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-32%  ($8.23→$5.59)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3355848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270 days before announcement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776472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2022-06-10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3776472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+31%  ($3.2→$4.18)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3776472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130 days before announcement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197096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2022-07-08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4197096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+25%  ($3.11→$3.89)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4197096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102 days before announcement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61772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2022-07-01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26080" y="461772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-22%  ($3.97→$3.11)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4617720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109 days before announcement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These are weeks the stock moved materially with no disclosed catalyst — the leak/rumor footprint.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events — disclosed catalysts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Akouos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08176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2646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137160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2022-08-15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37160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Akouos Reports Second Quarter 2022 Financial Results and Provides Business Highlights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20240"/>
            <a:ext cx="1417320" cy="310896"/>
          </a:xfrm>
          <a:prstGeom prst="roundRect">
            <a:avLst/>
          </a:prstGeom>
          <a:solidFill>
            <a:srgbClr val="E845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3852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Regulatory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188366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2022-09-13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188366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Akouos Receives FDA Clearance of its IND Application for AK-OTOF, a Gene Therapy Intended for the Treatment…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432304"/>
            <a:ext cx="1417320" cy="310896"/>
          </a:xfrm>
          <a:prstGeom prst="roundRect">
            <a:avLst/>
          </a:prstGeom>
          <a:solidFill>
            <a:srgbClr val="E845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450592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Regulatory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80" y="2395728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2022-09-13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395728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Akouos Receives FDA Clearance of its IND Application for AK-OTOF, a Gene Therapy Intended for the Treatment…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944368"/>
            <a:ext cx="1417320" cy="310896"/>
          </a:xfrm>
          <a:prstGeom prst="roundRect">
            <a:avLst/>
          </a:prstGeom>
          <a:solidFill>
            <a:srgbClr val="E845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962656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Regulatory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0280" y="2907792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2022-09-13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2907792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FDA Clears Akouos' Gene Therapy Trial For Genetic Form Of Hearing Loss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456432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474720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40280" y="3419856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2022-10-19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0" y="3419856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Akouos (AKUS) Surges on $610M Buyout Deal With Eli Lilly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3968496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98678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40280" y="393192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2022-11-01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0" y="393192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SHAREHOLDER INVESTIGATION: The M&amp;amp;A Class Action Firm Continues Investigating the Merger – ECOM, EVOP…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4480560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49884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40280" y="444398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2022-11-14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0" y="444398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Akouos Reports Third Quarter 2022 Financial Results and Provides Business Highlights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4992624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5010912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40280" y="4956048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2022-11-14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0" y="4956048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Akouos Reports Third Quarter 2022 Financial Results and Provides Business Highlights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" y="5504688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5522976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40280" y="5468112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2022-11-15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0" y="5468112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INVESTOR ALERT: The M&amp;amp;A Class Action Firm Continues Investigating the Merger –TALO, RCOR, BTRS, AKUS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Catalysts tagged by keyword from the report's Company News table.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