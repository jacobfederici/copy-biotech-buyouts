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Close</c:v>
                </c:pt>
              </c:strCache>
            </c:strRef>
          </c:tx>
          <c:spPr>
            <a:ln w="25400">
              <a:solidFill>
                <a:srgbClr val="2E78D2"/>
              </a:solidFill>
            </a:ln>
          </c:spPr>
          <c:marker>
            <c:symbol val="none"/>
          </c:marker>
          <c:cat>
            <c:strRef>
              <c:f>Sheet1!$A$2:$A$112</c:f>
              <c:strCache>
                <c:ptCount val="111"/>
                <c:pt idx="0">
                  <c:v>Jul '10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>Sep '10</c:v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>Nov '10</c:v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/>
                </c:pt>
                <c:pt idx="30">
                  <c:v>Jan '11</c:v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  <c:pt idx="36">
                  <c:v/>
                </c:pt>
                <c:pt idx="37">
                  <c:v/>
                </c:pt>
                <c:pt idx="38">
                  <c:v/>
                </c:pt>
                <c:pt idx="39">
                  <c:v/>
                </c:pt>
                <c:pt idx="40">
                  <c:v>Apr '11</c:v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/>
                </c:pt>
                <c:pt idx="45">
                  <c:v/>
                </c:pt>
                <c:pt idx="46">
                  <c:v/>
                </c:pt>
                <c:pt idx="47">
                  <c:v/>
                </c:pt>
                <c:pt idx="48">
                  <c:v/>
                </c:pt>
                <c:pt idx="49">
                  <c:v/>
                </c:pt>
                <c:pt idx="50">
                  <c:v>Jun '11</c:v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/>
                </c:pt>
                <c:pt idx="55">
                  <c:v/>
                </c:pt>
                <c:pt idx="56">
                  <c:v/>
                </c:pt>
                <c:pt idx="57">
                  <c:v/>
                </c:pt>
                <c:pt idx="58">
                  <c:v/>
                </c:pt>
                <c:pt idx="59">
                  <c:v/>
                </c:pt>
                <c:pt idx="60">
                  <c:v>Aug '11</c:v>
                </c:pt>
                <c:pt idx="61">
                  <c:v/>
                </c:pt>
                <c:pt idx="62">
                  <c:v/>
                </c:pt>
                <c:pt idx="63">
                  <c:v/>
                </c:pt>
                <c:pt idx="64">
                  <c:v/>
                </c:pt>
                <c:pt idx="65">
                  <c:v/>
                </c:pt>
                <c:pt idx="66">
                  <c:v/>
                </c:pt>
                <c:pt idx="67">
                  <c:v/>
                </c:pt>
                <c:pt idx="68">
                  <c:v/>
                </c:pt>
                <c:pt idx="69">
                  <c:v/>
                </c:pt>
                <c:pt idx="70">
                  <c:v>Nov '11</c:v>
                </c:pt>
                <c:pt idx="71">
                  <c:v/>
                </c:pt>
                <c:pt idx="72">
                  <c:v/>
                </c:pt>
                <c:pt idx="73">
                  <c:v/>
                </c:pt>
                <c:pt idx="74">
                  <c:v/>
                </c:pt>
                <c:pt idx="75">
                  <c:v/>
                </c:pt>
                <c:pt idx="76">
                  <c:v/>
                </c:pt>
                <c:pt idx="77">
                  <c:v/>
                </c:pt>
                <c:pt idx="78">
                  <c:v/>
                </c:pt>
                <c:pt idx="79">
                  <c:v/>
                </c:pt>
                <c:pt idx="80">
                  <c:v>Jan '12</c:v>
                </c:pt>
                <c:pt idx="81">
                  <c:v/>
                </c:pt>
                <c:pt idx="82">
                  <c:v/>
                </c:pt>
                <c:pt idx="83">
                  <c:v/>
                </c:pt>
                <c:pt idx="84">
                  <c:v/>
                </c:pt>
                <c:pt idx="85">
                  <c:v/>
                </c:pt>
                <c:pt idx="86">
                  <c:v/>
                </c:pt>
                <c:pt idx="87">
                  <c:v/>
                </c:pt>
                <c:pt idx="88">
                  <c:v/>
                </c:pt>
                <c:pt idx="89">
                  <c:v/>
                </c:pt>
                <c:pt idx="90">
                  <c:v>Mar '12</c:v>
                </c:pt>
                <c:pt idx="91">
                  <c:v/>
                </c:pt>
                <c:pt idx="92">
                  <c:v/>
                </c:pt>
                <c:pt idx="93">
                  <c:v/>
                </c:pt>
                <c:pt idx="94">
                  <c:v/>
                </c:pt>
                <c:pt idx="95">
                  <c:v/>
                </c:pt>
                <c:pt idx="96">
                  <c:v/>
                </c:pt>
                <c:pt idx="97">
                  <c:v/>
                </c:pt>
                <c:pt idx="98">
                  <c:v/>
                </c:pt>
                <c:pt idx="99">
                  <c:v/>
                </c:pt>
                <c:pt idx="100">
                  <c:v>Jun '12</c:v>
                </c:pt>
                <c:pt idx="101">
                  <c:v/>
                </c:pt>
                <c:pt idx="102">
                  <c:v/>
                </c:pt>
                <c:pt idx="103">
                  <c:v/>
                </c:pt>
                <c:pt idx="104">
                  <c:v/>
                </c:pt>
                <c:pt idx="105">
                  <c:v/>
                </c:pt>
                <c:pt idx="106">
                  <c:v/>
                </c:pt>
                <c:pt idx="107">
                  <c:v/>
                </c:pt>
                <c:pt idx="108">
                  <c:v/>
                </c:pt>
                <c:pt idx="109">
                  <c:v/>
                </c:pt>
                <c:pt idx="110">
                  <c:v>Aug '12</c:v>
                </c:pt>
              </c:strCache>
            </c:strRef>
          </c:cat>
          <c:val>
            <c:numRef>
              <c:f>Sheet1!$B$2:$B$112</c:f>
              <c:numCache>
                <c:formatCode>General</c:formatCode>
                <c:ptCount val="111"/>
                <c:pt idx="0">
                  <c:v>18.61</c:v>
                </c:pt>
                <c:pt idx="1">
                  <c:v>19.25</c:v>
                </c:pt>
                <c:pt idx="2">
                  <c:v>18.47</c:v>
                </c:pt>
                <c:pt idx="3">
                  <c:v>19.11</c:v>
                </c:pt>
                <c:pt idx="4">
                  <c:v>18.92</c:v>
                </c:pt>
                <c:pt idx="5">
                  <c:v>20.33</c:v>
                </c:pt>
                <c:pt idx="6">
                  <c:v>19.69</c:v>
                </c:pt>
                <c:pt idx="7">
                  <c:v>19.85</c:v>
                </c:pt>
                <c:pt idx="8">
                  <c:v>20.35</c:v>
                </c:pt>
                <c:pt idx="9">
                  <c:v>21.56</c:v>
                </c:pt>
                <c:pt idx="10">
                  <c:v>21.9</c:v>
                </c:pt>
                <c:pt idx="11">
                  <c:v>21.66</c:v>
                </c:pt>
                <c:pt idx="12">
                  <c:v>21.24</c:v>
                </c:pt>
                <c:pt idx="13">
                  <c:v>21.13</c:v>
                </c:pt>
                <c:pt idx="14">
                  <c:v>21.35</c:v>
                </c:pt>
                <c:pt idx="15">
                  <c:v>21.04</c:v>
                </c:pt>
                <c:pt idx="16">
                  <c:v>11.3</c:v>
                </c:pt>
                <c:pt idx="17">
                  <c:v>13.03</c:v>
                </c:pt>
                <c:pt idx="18">
                  <c:v>13.05</c:v>
                </c:pt>
                <c:pt idx="19">
                  <c:v>13.3</c:v>
                </c:pt>
                <c:pt idx="20">
                  <c:v>13.48</c:v>
                </c:pt>
                <c:pt idx="21">
                  <c:v>13.1</c:v>
                </c:pt>
                <c:pt idx="22">
                  <c:v>13.12</c:v>
                </c:pt>
                <c:pt idx="23">
                  <c:v>13.79</c:v>
                </c:pt>
                <c:pt idx="24">
                  <c:v>15.23</c:v>
                </c:pt>
                <c:pt idx="25">
                  <c:v>15.12</c:v>
                </c:pt>
                <c:pt idx="26">
                  <c:v>14.71</c:v>
                </c:pt>
                <c:pt idx="27">
                  <c:v>14.55</c:v>
                </c:pt>
                <c:pt idx="28">
                  <c:v>14.6</c:v>
                </c:pt>
                <c:pt idx="29">
                  <c:v>15.03</c:v>
                </c:pt>
                <c:pt idx="30">
                  <c:v>16.2</c:v>
                </c:pt>
                <c:pt idx="31">
                  <c:v>16.46</c:v>
                </c:pt>
                <c:pt idx="32">
                  <c:v>15.38</c:v>
                </c:pt>
                <c:pt idx="33">
                  <c:v>16.28</c:v>
                </c:pt>
                <c:pt idx="34">
                  <c:v>15.51</c:v>
                </c:pt>
                <c:pt idx="35">
                  <c:v>11.07</c:v>
                </c:pt>
                <c:pt idx="36">
                  <c:v>11.34</c:v>
                </c:pt>
                <c:pt idx="37">
                  <c:v>10.44</c:v>
                </c:pt>
                <c:pt idx="38">
                  <c:v>10.54</c:v>
                </c:pt>
                <c:pt idx="39">
                  <c:v>11.47</c:v>
                </c:pt>
                <c:pt idx="40">
                  <c:v>11.02</c:v>
                </c:pt>
                <c:pt idx="41">
                  <c:v>13.09</c:v>
                </c:pt>
                <c:pt idx="42">
                  <c:v>12.88</c:v>
                </c:pt>
                <c:pt idx="43">
                  <c:v>13.3</c:v>
                </c:pt>
                <c:pt idx="44">
                  <c:v>13.3</c:v>
                </c:pt>
                <c:pt idx="45">
                  <c:v>13.66</c:v>
                </c:pt>
                <c:pt idx="46">
                  <c:v>13.69</c:v>
                </c:pt>
                <c:pt idx="47">
                  <c:v>13.45</c:v>
                </c:pt>
                <c:pt idx="48">
                  <c:v>13.55</c:v>
                </c:pt>
                <c:pt idx="49">
                  <c:v>12.2</c:v>
                </c:pt>
                <c:pt idx="50">
                  <c:v>11.66</c:v>
                </c:pt>
                <c:pt idx="51">
                  <c:v>11.83</c:v>
                </c:pt>
                <c:pt idx="52">
                  <c:v>13.54</c:v>
                </c:pt>
                <c:pt idx="53">
                  <c:v>14.22</c:v>
                </c:pt>
                <c:pt idx="54">
                  <c:v>12.83</c:v>
                </c:pt>
                <c:pt idx="55">
                  <c:v>13.65</c:v>
                </c:pt>
                <c:pt idx="56">
                  <c:v>11.91</c:v>
                </c:pt>
                <c:pt idx="57">
                  <c:v>10.6</c:v>
                </c:pt>
                <c:pt idx="58">
                  <c:v>10.11</c:v>
                </c:pt>
                <c:pt idx="59">
                  <c:v>10.05</c:v>
                </c:pt>
                <c:pt idx="60">
                  <c:v>10.5</c:v>
                </c:pt>
                <c:pt idx="61">
                  <c:v>10.63</c:v>
                </c:pt>
                <c:pt idx="62">
                  <c:v>10.63</c:v>
                </c:pt>
                <c:pt idx="63">
                  <c:v>11.09</c:v>
                </c:pt>
                <c:pt idx="64">
                  <c:v>9.81</c:v>
                </c:pt>
                <c:pt idx="65">
                  <c:v>9.23</c:v>
                </c:pt>
                <c:pt idx="66">
                  <c:v>9.66</c:v>
                </c:pt>
                <c:pt idx="67">
                  <c:v>10.69</c:v>
                </c:pt>
                <c:pt idx="68">
                  <c:v>11.61</c:v>
                </c:pt>
                <c:pt idx="69">
                  <c:v>12.17</c:v>
                </c:pt>
                <c:pt idx="70">
                  <c:v>11.17</c:v>
                </c:pt>
                <c:pt idx="71">
                  <c:v>10.02</c:v>
                </c:pt>
                <c:pt idx="72">
                  <c:v>9.96</c:v>
                </c:pt>
                <c:pt idx="73">
                  <c:v>9.93</c:v>
                </c:pt>
                <c:pt idx="74">
                  <c:v>10.5</c:v>
                </c:pt>
                <c:pt idx="75">
                  <c:v>10.45</c:v>
                </c:pt>
                <c:pt idx="76">
                  <c:v>10.37</c:v>
                </c:pt>
                <c:pt idx="77">
                  <c:v>11.44</c:v>
                </c:pt>
                <c:pt idx="78">
                  <c:v>11.38</c:v>
                </c:pt>
                <c:pt idx="79">
                  <c:v>11.02</c:v>
                </c:pt>
                <c:pt idx="80">
                  <c:v>11.79</c:v>
                </c:pt>
                <c:pt idx="81">
                  <c:v>11.43</c:v>
                </c:pt>
                <c:pt idx="82">
                  <c:v>12.14</c:v>
                </c:pt>
                <c:pt idx="83">
                  <c:v>17.1</c:v>
                </c:pt>
                <c:pt idx="84">
                  <c:v>17.17</c:v>
                </c:pt>
                <c:pt idx="85">
                  <c:v>17.7</c:v>
                </c:pt>
                <c:pt idx="86">
                  <c:v>17.99</c:v>
                </c:pt>
                <c:pt idx="87">
                  <c:v>17.12</c:v>
                </c:pt>
                <c:pt idx="88">
                  <c:v>15.79</c:v>
                </c:pt>
                <c:pt idx="89">
                  <c:v>15.65</c:v>
                </c:pt>
                <c:pt idx="90">
                  <c:v>15.52</c:v>
                </c:pt>
                <c:pt idx="91">
                  <c:v>24.96</c:v>
                </c:pt>
                <c:pt idx="92">
                  <c:v>24.12</c:v>
                </c:pt>
                <c:pt idx="93">
                  <c:v>23.71</c:v>
                </c:pt>
                <c:pt idx="94">
                  <c:v>22.92</c:v>
                </c:pt>
                <c:pt idx="95">
                  <c:v>25.42</c:v>
                </c:pt>
                <c:pt idx="96">
                  <c:v>24.92</c:v>
                </c:pt>
                <c:pt idx="97">
                  <c:v>25.86</c:v>
                </c:pt>
                <c:pt idx="98">
                  <c:v>26.8</c:v>
                </c:pt>
                <c:pt idx="99">
                  <c:v>27.96</c:v>
                </c:pt>
                <c:pt idx="100">
                  <c:v>26.73</c:v>
                </c:pt>
                <c:pt idx="101">
                  <c:v>27.5</c:v>
                </c:pt>
                <c:pt idx="102">
                  <c:v>27.39</c:v>
                </c:pt>
                <c:pt idx="103">
                  <c:v>27.92</c:v>
                </c:pt>
                <c:pt idx="104">
                  <c:v>28.2</c:v>
                </c:pt>
                <c:pt idx="105">
                  <c:v>30.77</c:v>
                </c:pt>
                <c:pt idx="106">
                  <c:v>30.79</c:v>
                </c:pt>
                <c:pt idx="107">
                  <c:v>30.79</c:v>
                </c:pt>
                <c:pt idx="108">
                  <c:v>30.8</c:v>
                </c:pt>
                <c:pt idx="109">
                  <c:v>30.95</c:v>
                </c:pt>
                <c:pt idx="110">
                  <c:v>30.98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Rumor</c:v>
                </c:pt>
              </c:strCache>
            </c:strRef>
          </c:tx>
          <c:spPr>
            <a:ln>
              <a:noFill/>
            </a:ln>
          </c:spPr>
          <c:marker>
            <c:symbol val="circle"/>
            <c:size val="10"/>
            <c:spPr>
              <a:solidFill>
                <a:srgbClr val="E8455F"/>
              </a:solidFill>
              <a:ln w="12700">
                <a:solidFill>
                  <a:srgbClr val="FFFFFF"/>
                </a:solidFill>
              </a:ln>
            </c:spPr>
          </c:marker>
          <c:cat>
            <c:strRef>
              <c:f>Sheet1!$A$2:$A$112</c:f>
              <c:strCache>
                <c:ptCount val="111"/>
                <c:pt idx="0">
                  <c:v>Jul '10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>Sep '10</c:v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>Nov '10</c:v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/>
                </c:pt>
                <c:pt idx="30">
                  <c:v>Jan '11</c:v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  <c:pt idx="36">
                  <c:v/>
                </c:pt>
                <c:pt idx="37">
                  <c:v/>
                </c:pt>
                <c:pt idx="38">
                  <c:v/>
                </c:pt>
                <c:pt idx="39">
                  <c:v/>
                </c:pt>
                <c:pt idx="40">
                  <c:v>Apr '11</c:v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/>
                </c:pt>
                <c:pt idx="45">
                  <c:v/>
                </c:pt>
                <c:pt idx="46">
                  <c:v/>
                </c:pt>
                <c:pt idx="47">
                  <c:v/>
                </c:pt>
                <c:pt idx="48">
                  <c:v/>
                </c:pt>
                <c:pt idx="49">
                  <c:v/>
                </c:pt>
                <c:pt idx="50">
                  <c:v>Jun '11</c:v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/>
                </c:pt>
                <c:pt idx="55">
                  <c:v/>
                </c:pt>
                <c:pt idx="56">
                  <c:v/>
                </c:pt>
                <c:pt idx="57">
                  <c:v/>
                </c:pt>
                <c:pt idx="58">
                  <c:v/>
                </c:pt>
                <c:pt idx="59">
                  <c:v/>
                </c:pt>
                <c:pt idx="60">
                  <c:v>Aug '11</c:v>
                </c:pt>
                <c:pt idx="61">
                  <c:v/>
                </c:pt>
                <c:pt idx="62">
                  <c:v/>
                </c:pt>
                <c:pt idx="63">
                  <c:v/>
                </c:pt>
                <c:pt idx="64">
                  <c:v/>
                </c:pt>
                <c:pt idx="65">
                  <c:v/>
                </c:pt>
                <c:pt idx="66">
                  <c:v/>
                </c:pt>
                <c:pt idx="67">
                  <c:v/>
                </c:pt>
                <c:pt idx="68">
                  <c:v/>
                </c:pt>
                <c:pt idx="69">
                  <c:v/>
                </c:pt>
                <c:pt idx="70">
                  <c:v>Nov '11</c:v>
                </c:pt>
                <c:pt idx="71">
                  <c:v/>
                </c:pt>
                <c:pt idx="72">
                  <c:v/>
                </c:pt>
                <c:pt idx="73">
                  <c:v/>
                </c:pt>
                <c:pt idx="74">
                  <c:v/>
                </c:pt>
                <c:pt idx="75">
                  <c:v/>
                </c:pt>
                <c:pt idx="76">
                  <c:v/>
                </c:pt>
                <c:pt idx="77">
                  <c:v/>
                </c:pt>
                <c:pt idx="78">
                  <c:v/>
                </c:pt>
                <c:pt idx="79">
                  <c:v/>
                </c:pt>
                <c:pt idx="80">
                  <c:v>Jan '12</c:v>
                </c:pt>
                <c:pt idx="81">
                  <c:v/>
                </c:pt>
                <c:pt idx="82">
                  <c:v/>
                </c:pt>
                <c:pt idx="83">
                  <c:v/>
                </c:pt>
                <c:pt idx="84">
                  <c:v/>
                </c:pt>
                <c:pt idx="85">
                  <c:v/>
                </c:pt>
                <c:pt idx="86">
                  <c:v/>
                </c:pt>
                <c:pt idx="87">
                  <c:v/>
                </c:pt>
                <c:pt idx="88">
                  <c:v/>
                </c:pt>
                <c:pt idx="89">
                  <c:v/>
                </c:pt>
                <c:pt idx="90">
                  <c:v>Mar '12</c:v>
                </c:pt>
                <c:pt idx="91">
                  <c:v/>
                </c:pt>
                <c:pt idx="92">
                  <c:v/>
                </c:pt>
                <c:pt idx="93">
                  <c:v/>
                </c:pt>
                <c:pt idx="94">
                  <c:v/>
                </c:pt>
                <c:pt idx="95">
                  <c:v/>
                </c:pt>
                <c:pt idx="96">
                  <c:v/>
                </c:pt>
                <c:pt idx="97">
                  <c:v/>
                </c:pt>
                <c:pt idx="98">
                  <c:v/>
                </c:pt>
                <c:pt idx="99">
                  <c:v/>
                </c:pt>
                <c:pt idx="100">
                  <c:v>Jun '12</c:v>
                </c:pt>
                <c:pt idx="101">
                  <c:v/>
                </c:pt>
                <c:pt idx="102">
                  <c:v/>
                </c:pt>
                <c:pt idx="103">
                  <c:v/>
                </c:pt>
                <c:pt idx="104">
                  <c:v/>
                </c:pt>
                <c:pt idx="105">
                  <c:v/>
                </c:pt>
                <c:pt idx="106">
                  <c:v/>
                </c:pt>
                <c:pt idx="107">
                  <c:v/>
                </c:pt>
                <c:pt idx="108">
                  <c:v/>
                </c:pt>
                <c:pt idx="109">
                  <c:v/>
                </c:pt>
                <c:pt idx="110">
                  <c:v>Aug '12</c:v>
                </c:pt>
              </c:strCache>
            </c:strRef>
          </c:cat>
          <c:val>
            <c:numRef>
              <c:f>Sheet1!$C$2:$C$112</c:f>
              <c:numCache>
                <c:formatCode>General</c:formatCode>
                <c:ptCount val="111"/>
                <c:pt idx="15">
                  <c:v>21.04</c:v>
                </c:pt>
                <c:pt idx="34">
                  <c:v>15.51</c:v>
                </c:pt>
                <c:pt idx="82">
                  <c:v>12.14</c:v>
                </c:pt>
                <c:pt idx="90">
                  <c:v>15.52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800">
                <a:solidFill>
                  <a:srgbClr val="6B7C8F"/>
                </a:solidFill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 w="6350">
              <a:solidFill>
                <a:srgbClr val="E4EAF1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6B7C8F"/>
                </a:solidFill>
              </a:defRPr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10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88136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8FB4E0"/>
                </a:solidFill>
                <a:latin typeface="Calibri"/>
              </a:rPr>
              <a:t>BUYOUT CASE STUDY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51560"/>
            <a:ext cx="10881360" cy="13716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>
                <a:solidFill>
                  <a:srgbClr val="FFFFFF"/>
                </a:solidFill>
                <a:latin typeface="Calibri"/>
              </a:rPr>
              <a:t>AMYLIN PHARMACEUTICALS INC</a:t>
            </a:r>
          </a:p>
          <a:p>
            <a:pPr algn="l">
              <a:lnSpc>
                <a:spcPct val="105000"/>
              </a:lnSpc>
            </a:pPr>
            <a:r>
              <a:rPr sz="1800" b="0">
                <a:solidFill>
                  <a:srgbClr val="CADCFC"/>
                </a:solidFill>
                <a:latin typeface="Calibri"/>
              </a:rPr>
              <a:t>AMLN  ·  acquired by Bristol-Myers Squibb Company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59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9B2B"/>
                </a:solidFill>
                <a:latin typeface="Calibri"/>
              </a:rPr>
              <a:t>$31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Deal price/sh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0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3A88A"/>
                </a:solidFill>
                <a:latin typeface="Calibri"/>
              </a:rPr>
              <a:t>16%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Premium (unaffected)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455F"/>
                </a:solidFill>
                <a:latin typeface="Calibri"/>
              </a:rPr>
              <a:t>4%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4-wk pre-ann. run-up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0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455F"/>
                </a:solidFill>
                <a:latin typeface="Calibri"/>
              </a:rPr>
              <a:t>28%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0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% premium pre-captured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846320"/>
            <a:ext cx="1088136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8FB4E0"/>
                </a:solidFill>
                <a:latin typeface="Calibri"/>
              </a:rPr>
              <a:t>Announced Jun 29, 2012   ·   Closed Aug 08, 2012   ·   Status: completed   ·   Pre-ann. volume 0.81× normal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263640"/>
            <a:ext cx="108813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E7790"/>
                </a:solidFill>
                <a:latin typeface="Calibri"/>
              </a:rPr>
              <a:t>Sources: SEC SC 14D-9 filing + weekly market data. Rumor = price move with no identified filing/news.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Stock price, events &amp; rumors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AMYLIN PHARMACEUTICALS INC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457200" y="1325880"/>
          <a:ext cx="11247120" cy="4343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598932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red = unexplained move (rumor/leak)</a:t>
            </a:r>
            <a:r>
              <a:rPr sz="1100" b="0">
                <a:solidFill>
                  <a:srgbClr val="6B7C8F"/>
                </a:solidFill>
                <a:latin typeface="Calibri"/>
              </a:rPr>
              <a:t> · </a:t>
            </a:r>
            <a:r>
              <a:rPr sz="1100" b="1">
                <a:solidFill>
                  <a:srgbClr val="13A88A"/>
                </a:solidFill>
                <a:latin typeface="Calibri"/>
              </a:rPr>
              <a:t>teal = news-driven (event)</a:t>
            </a:r>
            <a:r>
              <a:rPr sz="1100" b="0">
                <a:solidFill>
                  <a:srgbClr val="6B7C8F"/>
                </a:solidFill>
                <a:latin typeface="Calibri"/>
              </a:rPr>
              <a:t> · </a:t>
            </a:r>
            <a:r>
              <a:rPr sz="1100" b="1">
                <a:solidFill>
                  <a:srgbClr val="E89B2B"/>
                </a:solidFill>
                <a:latin typeface="Calibri"/>
              </a:rPr>
              <a:t>gold = deal announcement</a:t>
            </a:r>
          </a:p>
          <a:p>
            <a:pPr algn="l">
              <a:lnSpc>
                <a:spcPct val="100000"/>
              </a:lnSpc>
            </a:pPr>
            <a:r>
              <a:rPr sz="950" b="0">
                <a:solidFill>
                  <a:srgbClr val="6B7C8F"/>
                </a:solidFill>
                <a:latin typeface="Calibri"/>
              </a:rPr>
              <a:t>Rumor/event markers are placed one week before the reported move week (weekly data; a reported move can lag the true move by up to a week). The deal marker is on the actual announcement week.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Interaction timeline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AMYLIN PHARMACEUTICALS INC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783080"/>
            <a:ext cx="10881360" cy="0"/>
          </a:xfrm>
          <a:prstGeom prst="line">
            <a:avLst/>
          </a:prstGeom>
          <a:ln w="25400">
            <a:solidFill>
              <a:srgbClr val="E4EA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9938696" y="1463039"/>
            <a:ext cx="0" cy="640081"/>
          </a:xfrm>
          <a:prstGeom prst="line">
            <a:avLst/>
          </a:prstGeom>
          <a:ln w="19050">
            <a:solidFill>
              <a:srgbClr val="E89B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024296" y="1399032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E89B2B"/>
                </a:solidFill>
              </a:rPr>
              <a:t>Announcement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1521440" y="1463039"/>
            <a:ext cx="0" cy="640081"/>
          </a:xfrm>
          <a:prstGeom prst="line">
            <a:avLst/>
          </a:prstGeom>
          <a:ln w="19050">
            <a:solidFill>
              <a:srgbClr val="2E78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10607040" y="2057400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2E78D2"/>
                </a:solidFill>
              </a:rPr>
              <a:t>Close</a:t>
            </a:r>
          </a:p>
        </p:txBody>
      </p:sp>
      <p:sp>
        <p:nvSpPr>
          <p:cNvPr id="10" name="Oval 9"/>
          <p:cNvSpPr/>
          <p:nvPr/>
        </p:nvSpPr>
        <p:spPr>
          <a:xfrm>
            <a:off x="585215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790271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542074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5333445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203954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995326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826266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459363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9804695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844264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9883832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0319087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1427007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1466576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1929384"/>
            <a:ext cx="12801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>
                <a:solidFill>
                  <a:srgbClr val="6B7C8F"/>
                </a:solidFill>
              </a:rPr>
              <a:t>Nov 2011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241280" y="1929384"/>
            <a:ext cx="12801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B7C8F"/>
                </a:solidFill>
              </a:rPr>
              <a:t>Aug 2012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260604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Nov 07, 2011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20240" y="260604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Amylin terminates exenatide collaboration with Eli Lilly…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28803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Jan 27, 2012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920240" y="28803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FDA approves BYDUREON (exenatide extended-release).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31546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Feb 15, 2012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920240" y="31546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BMS CEO Lamberto Andreotti makes unsolicited $22.00 per…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342900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Mar 06, 2012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20240" y="342900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Amylin Board formally rejects BMS proposal and authorizes a…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370332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Mar 28, 2012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920240" y="370332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Bloomberg reports Amylin rejected a $22.00 offer from BMS…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640" y="3977639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Apr 17, 2012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920240" y="3977639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Amylin Board determines to explore strategic alternatives…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8640" y="42519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May 08, 2012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920240" y="42519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BMS and Amylin enter into a confidentiality agreement with…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263640" y="260604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May 24, 2012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635240" y="260604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BMS submits non-binding proposal of $25.00-$27.00; Party B…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263640" y="28803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Jun 27, 2012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635240" y="28803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BMS submits definitive $31.00 per share bid; other parties…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263640" y="31546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Jun 28, 2012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635240" y="31546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Amylin requests $32.00; BMS refuses but requests…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263640" y="342900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Jun 29, 2012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635240" y="342900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Amylin Board unanimously approves Merger Agreement at…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263640" y="370332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Jul 10, 2012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635240" y="370332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BMS commences tender offer.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263640" y="3977639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Aug 07, 2012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635240" y="3977639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Tender offer expires at 5:00 PM ET.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263640" y="42519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Aug 08, 2012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635240" y="42519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BMS completes acquisition via short-form merger.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48640" y="64465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6B7C8F"/>
                </a:solidFill>
                <a:latin typeface="Calibri"/>
              </a:rPr>
              <a:t>14 disclosed milestones, first contact → close · dates shown at the precision the filing states (month/year where imprecise).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The rumors — unexplained pre-announcement moves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AMYLIN PHARMACEUTICALS INC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6424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E78D2"/>
                </a:solidFill>
                <a:latin typeface="Calibri"/>
              </a:rPr>
              <a:t>4 unexplained pre-announcement move weeks (of 4 total unexplained inflections)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011680"/>
            <a:ext cx="11064240" cy="457200"/>
          </a:xfrm>
          <a:prstGeom prst="roundRect">
            <a:avLst/>
          </a:prstGeom>
          <a:solidFill>
            <a:srgbClr val="EAF1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066544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2733"/>
                </a:solidFill>
                <a:latin typeface="Calibri"/>
              </a:rPr>
              <a:t>Week ended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0" y="2066544"/>
            <a:ext cx="23774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2733"/>
                </a:solidFill>
                <a:latin typeface="Calibri"/>
              </a:rPr>
              <a:t>Move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2066544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2733"/>
                </a:solidFill>
                <a:latin typeface="Calibri"/>
              </a:rPr>
              <a:t>Timing vs. announcement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514600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2012-03-30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0" y="2514600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+61%  ($15.52→$24.96)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2514600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91 days before announcement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935224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2010-10-22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0" y="2935224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6B7C8F"/>
                </a:solidFill>
                <a:latin typeface="Calibri"/>
              </a:rPr>
              <a:t>-46%  ($21.04→$11.3)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0" y="2935224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616 days before announcement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3355848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2012-02-03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26080" y="3355848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+41%  ($12.14→$17.1)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0" y="3355848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147 days before announcement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3776472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2011-03-04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26080" y="3776472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6B7C8F"/>
                </a:solidFill>
                <a:latin typeface="Calibri"/>
              </a:rPr>
              <a:t>-29%  ($15.51→$11.07)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0" y="3776472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483 days before announcement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26364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B7C8F"/>
                </a:solidFill>
                <a:latin typeface="Calibri"/>
              </a:rPr>
              <a:t>These are weeks the stock moved materially with no disclosed catalyst — the leak/rumor footprint.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The events — disclosed catalysts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AMYLIN PHARMACEUTICALS INC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08176"/>
            <a:ext cx="1417320" cy="310896"/>
          </a:xfrm>
          <a:prstGeom prst="roundRect">
            <a:avLst/>
          </a:prstGeom>
          <a:solidFill>
            <a:srgbClr val="E89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426464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Deal/M&amp;A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40280" y="1371600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2012-06-29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66160" y="1371600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Amylin and Bristol-Myers Squibb Announce Definitive Merger Agreement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920240"/>
            <a:ext cx="1417320" cy="310896"/>
          </a:xfrm>
          <a:prstGeom prst="roundRect">
            <a:avLst/>
          </a:prstGeom>
          <a:solidFill>
            <a:srgbClr val="E89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938528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Deal/M&amp;A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40280" y="1883664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2012-08-08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0" y="1883664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Bristol-Myers Squibb Completes Tender Offer and Merger with Amylin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35508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B7C8F"/>
                </a:solidFill>
                <a:latin typeface="Calibri"/>
              </a:rPr>
              <a:t>Catalysts tagged by keyword from the report's Company News table.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