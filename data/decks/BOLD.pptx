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Close</c:v>
                </c:pt>
              </c:strCache>
            </c:strRef>
          </c:tx>
          <c:spPr>
            <a:ln w="25400">
              <a:solidFill>
                <a:srgbClr val="2E78D2"/>
              </a:solidFill>
            </a:ln>
          </c:spPr>
          <c:marker>
            <c:symbol val="none"/>
          </c:marker>
          <c:cat>
            <c:strRef>
              <c:f>Sheet1!$A$2:$A$112</c:f>
              <c:strCache>
                <c:ptCount val="111"/>
                <c:pt idx="0">
                  <c:v>Dec '17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Feb '18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Apr '18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Jul '18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Sep '18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Nov '18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Feb '19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Apr '19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Jun '19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Aug '19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Nov '19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Jan '20</c:v>
                </c:pt>
              </c:strCache>
            </c:strRef>
          </c:cat>
          <c:val>
            <c:numRef>
              <c:f>Sheet1!$B$2:$B$112</c:f>
              <c:numCache>
                <c:formatCode>General</c:formatCode>
                <c:ptCount val="111"/>
                <c:pt idx="0">
                  <c:v>29.13</c:v>
                </c:pt>
                <c:pt idx="1">
                  <c:v>29.56</c:v>
                </c:pt>
                <c:pt idx="2">
                  <c:v>31.0</c:v>
                </c:pt>
                <c:pt idx="3">
                  <c:v>31.25</c:v>
                </c:pt>
                <c:pt idx="4">
                  <c:v>36.63</c:v>
                </c:pt>
                <c:pt idx="5">
                  <c:v>37.47</c:v>
                </c:pt>
                <c:pt idx="6">
                  <c:v>37.86</c:v>
                </c:pt>
                <c:pt idx="7">
                  <c:v>38.04</c:v>
                </c:pt>
                <c:pt idx="8">
                  <c:v>34.22</c:v>
                </c:pt>
                <c:pt idx="9">
                  <c:v>31.33</c:v>
                </c:pt>
                <c:pt idx="10">
                  <c:v>33.51</c:v>
                </c:pt>
                <c:pt idx="11">
                  <c:v>33.0</c:v>
                </c:pt>
                <c:pt idx="12">
                  <c:v>36.13</c:v>
                </c:pt>
                <c:pt idx="13">
                  <c:v>36.24</c:v>
                </c:pt>
                <c:pt idx="14">
                  <c:v>29.45</c:v>
                </c:pt>
                <c:pt idx="15">
                  <c:v>29.18</c:v>
                </c:pt>
                <c:pt idx="16">
                  <c:v>30.05</c:v>
                </c:pt>
                <c:pt idx="17">
                  <c:v>28.11</c:v>
                </c:pt>
                <c:pt idx="18">
                  <c:v>37.88</c:v>
                </c:pt>
                <c:pt idx="19">
                  <c:v>38.49</c:v>
                </c:pt>
                <c:pt idx="20">
                  <c:v>37.84</c:v>
                </c:pt>
                <c:pt idx="21">
                  <c:v>35.96</c:v>
                </c:pt>
                <c:pt idx="22">
                  <c:v>34.2</c:v>
                </c:pt>
                <c:pt idx="23">
                  <c:v>38.24</c:v>
                </c:pt>
                <c:pt idx="24">
                  <c:v>38.12</c:v>
                </c:pt>
                <c:pt idx="25">
                  <c:v>37.76</c:v>
                </c:pt>
                <c:pt idx="26">
                  <c:v>38.65</c:v>
                </c:pt>
                <c:pt idx="27">
                  <c:v>38.3</c:v>
                </c:pt>
                <c:pt idx="28">
                  <c:v>41.59</c:v>
                </c:pt>
                <c:pt idx="29">
                  <c:v>38.21</c:v>
                </c:pt>
                <c:pt idx="30">
                  <c:v>39.46</c:v>
                </c:pt>
                <c:pt idx="31">
                  <c:v>38.09</c:v>
                </c:pt>
                <c:pt idx="32">
                  <c:v>41.43</c:v>
                </c:pt>
                <c:pt idx="33">
                  <c:v>37.14</c:v>
                </c:pt>
                <c:pt idx="34">
                  <c:v>37.26</c:v>
                </c:pt>
                <c:pt idx="35">
                  <c:v>36.02</c:v>
                </c:pt>
                <c:pt idx="36">
                  <c:v>33.04</c:v>
                </c:pt>
                <c:pt idx="37">
                  <c:v>34.04</c:v>
                </c:pt>
                <c:pt idx="38">
                  <c:v>36.4</c:v>
                </c:pt>
                <c:pt idx="39">
                  <c:v>35.01</c:v>
                </c:pt>
                <c:pt idx="40">
                  <c:v>39.28</c:v>
                </c:pt>
                <c:pt idx="41">
                  <c:v>37.65</c:v>
                </c:pt>
                <c:pt idx="42">
                  <c:v>39.59</c:v>
                </c:pt>
                <c:pt idx="43">
                  <c:v>36.64</c:v>
                </c:pt>
                <c:pt idx="44">
                  <c:v>27.69</c:v>
                </c:pt>
                <c:pt idx="45">
                  <c:v>26.97</c:v>
                </c:pt>
                <c:pt idx="46">
                  <c:v>27.0</c:v>
                </c:pt>
                <c:pt idx="47">
                  <c:v>29.5</c:v>
                </c:pt>
                <c:pt idx="48">
                  <c:v>24.0</c:v>
                </c:pt>
                <c:pt idx="49">
                  <c:v>23.53</c:v>
                </c:pt>
                <c:pt idx="50">
                  <c:v>23.91</c:v>
                </c:pt>
                <c:pt idx="51">
                  <c:v>24.45</c:v>
                </c:pt>
                <c:pt idx="52">
                  <c:v>23.44</c:v>
                </c:pt>
                <c:pt idx="53">
                  <c:v>23.13</c:v>
                </c:pt>
                <c:pt idx="54">
                  <c:v>19.07</c:v>
                </c:pt>
                <c:pt idx="55">
                  <c:v>21.01</c:v>
                </c:pt>
                <c:pt idx="56">
                  <c:v>23.07</c:v>
                </c:pt>
                <c:pt idx="57">
                  <c:v>25.87</c:v>
                </c:pt>
                <c:pt idx="58">
                  <c:v>24.56</c:v>
                </c:pt>
                <c:pt idx="59">
                  <c:v>23.76</c:v>
                </c:pt>
                <c:pt idx="60">
                  <c:v>25.39</c:v>
                </c:pt>
                <c:pt idx="61">
                  <c:v>23.39</c:v>
                </c:pt>
                <c:pt idx="62">
                  <c:v>24.72</c:v>
                </c:pt>
                <c:pt idx="63">
                  <c:v>26.27</c:v>
                </c:pt>
                <c:pt idx="64">
                  <c:v>34.16</c:v>
                </c:pt>
                <c:pt idx="65">
                  <c:v>33.99</c:v>
                </c:pt>
                <c:pt idx="66">
                  <c:v>38.19</c:v>
                </c:pt>
                <c:pt idx="67">
                  <c:v>36.9</c:v>
                </c:pt>
                <c:pt idx="68">
                  <c:v>39.02</c:v>
                </c:pt>
                <c:pt idx="69">
                  <c:v>39.0</c:v>
                </c:pt>
                <c:pt idx="70">
                  <c:v>40.32</c:v>
                </c:pt>
                <c:pt idx="71">
                  <c:v>38.9</c:v>
                </c:pt>
                <c:pt idx="72">
                  <c:v>40.13</c:v>
                </c:pt>
                <c:pt idx="73">
                  <c:v>37.73</c:v>
                </c:pt>
                <c:pt idx="74">
                  <c:v>38.58</c:v>
                </c:pt>
                <c:pt idx="75">
                  <c:v>39.36</c:v>
                </c:pt>
                <c:pt idx="76">
                  <c:v>38.1</c:v>
                </c:pt>
                <c:pt idx="77">
                  <c:v>35.12</c:v>
                </c:pt>
                <c:pt idx="78">
                  <c:v>39.63</c:v>
                </c:pt>
                <c:pt idx="79">
                  <c:v>37.95</c:v>
                </c:pt>
                <c:pt idx="80">
                  <c:v>40.4</c:v>
                </c:pt>
                <c:pt idx="81">
                  <c:v>37.86</c:v>
                </c:pt>
                <c:pt idx="82">
                  <c:v>36.22</c:v>
                </c:pt>
                <c:pt idx="83">
                  <c:v>34.29</c:v>
                </c:pt>
                <c:pt idx="84">
                  <c:v>37.9</c:v>
                </c:pt>
                <c:pt idx="85">
                  <c:v>39.65</c:v>
                </c:pt>
                <c:pt idx="86">
                  <c:v>37.85</c:v>
                </c:pt>
                <c:pt idx="87">
                  <c:v>35.47</c:v>
                </c:pt>
                <c:pt idx="88">
                  <c:v>33.88</c:v>
                </c:pt>
                <c:pt idx="89">
                  <c:v>30.79</c:v>
                </c:pt>
                <c:pt idx="90">
                  <c:v>31.1</c:v>
                </c:pt>
                <c:pt idx="91">
                  <c:v>30.46</c:v>
                </c:pt>
                <c:pt idx="92">
                  <c:v>31.74</c:v>
                </c:pt>
                <c:pt idx="93">
                  <c:v>32.67</c:v>
                </c:pt>
                <c:pt idx="94">
                  <c:v>27.86</c:v>
                </c:pt>
                <c:pt idx="95">
                  <c:v>27.84</c:v>
                </c:pt>
                <c:pt idx="96">
                  <c:v>28.73</c:v>
                </c:pt>
                <c:pt idx="97">
                  <c:v>26.85</c:v>
                </c:pt>
                <c:pt idx="98">
                  <c:v>27.5</c:v>
                </c:pt>
                <c:pt idx="99">
                  <c:v>29.06</c:v>
                </c:pt>
                <c:pt idx="100">
                  <c:v>28.57</c:v>
                </c:pt>
                <c:pt idx="101">
                  <c:v>25.86</c:v>
                </c:pt>
                <c:pt idx="102">
                  <c:v>28.45</c:v>
                </c:pt>
                <c:pt idx="103">
                  <c:v>29.03</c:v>
                </c:pt>
                <c:pt idx="104">
                  <c:v>59.25</c:v>
                </c:pt>
                <c:pt idx="105">
                  <c:v>59.4</c:v>
                </c:pt>
                <c:pt idx="106">
                  <c:v>59.68</c:v>
                </c:pt>
                <c:pt idx="107">
                  <c:v>59.84</c:v>
                </c:pt>
                <c:pt idx="108">
                  <c:v>59.86</c:v>
                </c:pt>
                <c:pt idx="109">
                  <c:v>59.97</c:v>
                </c:pt>
                <c:pt idx="110">
                  <c:v>59.97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Rumor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455F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Sheet1!$A$2:$A$112</c:f>
              <c:strCache>
                <c:ptCount val="111"/>
                <c:pt idx="0">
                  <c:v>Dec '17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Feb '18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Apr '18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Jul '18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Sep '18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Nov '18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Feb '19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Apr '19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Jun '19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Aug '19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Nov '19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Jan '20</c:v>
                </c:pt>
              </c:strCache>
            </c:strRef>
          </c:cat>
          <c:val>
            <c:numRef>
              <c:f>Sheet1!$C$2:$C$112</c:f>
              <c:numCache>
                <c:formatCode>General</c:formatCode>
                <c:ptCount val="111"/>
                <c:pt idx="17">
                  <c:v>28.11</c:v>
                </c:pt>
                <c:pt idx="43">
                  <c:v>36.64</c:v>
                </c:pt>
                <c:pt idx="63">
                  <c:v>26.27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Deal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9B2B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Sheet1!$A$2:$A$112</c:f>
              <c:strCache>
                <c:ptCount val="111"/>
                <c:pt idx="0">
                  <c:v>Dec '17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Feb '18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Apr '18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Jul '18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Sep '18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Nov '18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Feb '19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Apr '19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Jun '19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Aug '19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Nov '19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Jan '20</c:v>
                </c:pt>
              </c:strCache>
            </c:strRef>
          </c:cat>
          <c:val>
            <c:numRef>
              <c:f>Sheet1!$D$2:$D$112</c:f>
              <c:numCache>
                <c:formatCode>General</c:formatCode>
                <c:ptCount val="111"/>
                <c:pt idx="104">
                  <c:v>59.25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6B7C8F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E4EAF1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6B7C8F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8FB4E0"/>
                </a:solidFill>
                <a:latin typeface="Calibri"/>
              </a:rPr>
              <a:t>BUYOUT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881360" cy="1371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Calibri"/>
              </a:rPr>
              <a:t>Audentes Therapeutics</a:t>
            </a:r>
          </a:p>
          <a:p>
            <a:pPr algn="l">
              <a:lnSpc>
                <a:spcPct val="105000"/>
              </a:lnSpc>
            </a:pPr>
            <a:r>
              <a:rPr sz="1800" b="0">
                <a:solidFill>
                  <a:srgbClr val="CADCFC"/>
                </a:solidFill>
                <a:latin typeface="Calibri"/>
              </a:rPr>
              <a:t>BOLD  ·  acquired by Astellas Pharma Inc.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9B2B"/>
                </a:solidFill>
                <a:latin typeface="Calibri"/>
              </a:rPr>
              <a:t>$60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Deal price/sh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3A88A"/>
                </a:solidFill>
                <a:latin typeface="Calibri"/>
              </a:rPr>
              <a:t>106%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Premium (unaffected)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-0%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4-wk pre-ann. run-up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-0%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% premium pre-captured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84632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8FB4E0"/>
                </a:solidFill>
                <a:latin typeface="Calibri"/>
              </a:rPr>
              <a:t>Announced Dec 02, 2019   ·   Closed Jan 15, 2020   ·   Status: completed   ·   Pre-ann. volume 0.78× normal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7790"/>
                </a:solidFill>
                <a:latin typeface="Calibri"/>
              </a:rPr>
              <a:t>Sources: SEC SC 14D-9 filing + weekly market data. Rumor = price move with no identified filing/news.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Stock price, events &amp; rumors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Audentes Therapeutics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325880"/>
          <a:ext cx="1124712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98932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red = unexplained move (rumor/leak)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13A88A"/>
                </a:solidFill>
                <a:latin typeface="Calibri"/>
              </a:rPr>
              <a:t>teal = news-driven (event)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E89B2B"/>
                </a:solidFill>
                <a:latin typeface="Calibri"/>
              </a:rPr>
              <a:t>gold = deal announcement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C8F"/>
                </a:solidFill>
                <a:latin typeface="Calibri"/>
              </a:rPr>
              <a:t>Rumor/event markers are placed one week before the reported move week (weekly data; a reported move can lag the true move by up to a week). The deal marker is on the actual announcement week.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Interaction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Audentes Therapeutics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783080"/>
            <a:ext cx="10881360" cy="0"/>
          </a:xfrm>
          <a:prstGeom prst="line">
            <a:avLst/>
          </a:prstGeom>
          <a:ln w="25400">
            <a:solidFill>
              <a:srgbClr val="E4EA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9509760" y="1463039"/>
            <a:ext cx="0" cy="640081"/>
          </a:xfrm>
          <a:prstGeom prst="line">
            <a:avLst/>
          </a:prstGeom>
          <a:ln w="19050">
            <a:solidFill>
              <a:srgbClr val="E89B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595360" y="1399032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E89B2B"/>
                </a:solidFill>
              </a:rPr>
              <a:t>Announcement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1521440" y="1463039"/>
            <a:ext cx="0" cy="640081"/>
          </a:xfrm>
          <a:prstGeom prst="line">
            <a:avLst/>
          </a:prstGeom>
          <a:ln w="19050">
            <a:solidFill>
              <a:srgbClr val="2E78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0607040" y="205740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2E78D2"/>
                </a:solidFill>
              </a:rPr>
              <a:t>Close</a:t>
            </a:r>
          </a:p>
        </p:txBody>
      </p:sp>
      <p:sp>
        <p:nvSpPr>
          <p:cNvPr id="10" name="Oval 9"/>
          <p:cNvSpPr/>
          <p:nvPr/>
        </p:nvSpPr>
        <p:spPr>
          <a:xfrm>
            <a:off x="58521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86537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73405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71169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84885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16889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53465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71753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85469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99185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99769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13485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40917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454896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094976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420855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1466576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6B7C8F"/>
                </a:solidFill>
              </a:rPr>
              <a:t>May 2019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412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C8F"/>
                </a:solidFill>
              </a:rPr>
              <a:t>Jan 2020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22, 2019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20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Astellas contacts Audentes CEO Matthew Patterson to propose…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19, 2019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20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Management teams meet in San Francisco to discuss AT132…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Jul 08, 2019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920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Astellas and Audentes execute a confidentiality agreement…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03, 2019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20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Astellas CSO Naoki Okamura delivers a non-binding proposal…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06, 2019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20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Audentes Board meets to discuss the proposal and directs…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13, 2019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920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Audentes informs Astellas that the $50.00 price is…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21, 2019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920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Astellas submits a revised proposal of $55.00 per share.…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640" y="45262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25, 2019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920240" y="45262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Company C submits a proposal at $49.00 per share.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640" y="48006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28, 2019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920240" y="48006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Company C increases its proposal to $52.00 per share and is…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63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31, 2019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635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Astellas increases its offer to $60.00 per share…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63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22, 2019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635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Company C increases its proposal to $55.00 per share.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63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25, 2019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635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Company C withdraws from the process after being told it…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263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01, 2019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635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Audentes Board unanimously approves the Merger Agreement at…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263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02, 2019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635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Merger Agreement is executed and publicly announced.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263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16, 2019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635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Tender offer formally commences.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263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14, 2020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635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Tender offer expires at midnight.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263640" y="45262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15, 2020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635240" y="45262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Merger completed; Audentes becomes a wholly-owned…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48640" y="64465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C8F"/>
                </a:solidFill>
                <a:latin typeface="Calibri"/>
              </a:rPr>
              <a:t>17 disclosed milestones, first contact → close · dates shown at the precision the filing states (month/year where imprecise).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rumors — unexplained pre-announcement moves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Audentes Therapeutics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E78D2"/>
                </a:solidFill>
                <a:latin typeface="Calibri"/>
              </a:rPr>
              <a:t>3 unexplained pre-announcement move weeks (of 4 total unexplained inflections)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1064240" cy="457200"/>
          </a:xfrm>
          <a:prstGeom prst="roundRect">
            <a:avLst/>
          </a:prstGeom>
          <a:solidFill>
            <a:srgbClr val="EA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6654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Week ended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2066544"/>
            <a:ext cx="23774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Move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206654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Timing vs. announcement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14600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2018-04-13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514600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+35%  ($28.11→$37.88)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2514600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598 days before announcement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93522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2019-03-01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2935224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+30%  ($26.27→$34.16)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293522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276 days before announcement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355848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2018-10-12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3355848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C8F"/>
                </a:solidFill>
                <a:latin typeface="Calibri"/>
              </a:rPr>
              <a:t>-24%  ($36.64→$27.69)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3355848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416 days before announcement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These are weeks the stock moved materially with no disclosed catalyst — the leak/rumor footprint.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events — disclosed catalysts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Audentes Therapeutics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08176"/>
            <a:ext cx="1417320" cy="310896"/>
          </a:xfrm>
          <a:prstGeom prst="roundRect">
            <a:avLst/>
          </a:prstGeom>
          <a:solidFill>
            <a:srgbClr val="E89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26464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Deal/M&amp;A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0280" y="137160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2019-12-02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1371600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Astellas and Audentes Therapeutics Announce Definitive Agreement for Astellas to Acquire Audentes for…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Catalysts tagged by keyword from the report's Company News table.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