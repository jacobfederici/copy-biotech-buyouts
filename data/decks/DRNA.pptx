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Nov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'21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22.5</c:v>
                </c:pt>
                <c:pt idx="1">
                  <c:v>24.06</c:v>
                </c:pt>
                <c:pt idx="2">
                  <c:v>26.63</c:v>
                </c:pt>
                <c:pt idx="3">
                  <c:v>26.79</c:v>
                </c:pt>
                <c:pt idx="4">
                  <c:v>23.28</c:v>
                </c:pt>
                <c:pt idx="5">
                  <c:v>22.26</c:v>
                </c:pt>
                <c:pt idx="6">
                  <c:v>21.25</c:v>
                </c:pt>
                <c:pt idx="7">
                  <c:v>21.82</c:v>
                </c:pt>
                <c:pt idx="8">
                  <c:v>21.36</c:v>
                </c:pt>
                <c:pt idx="9">
                  <c:v>19.26</c:v>
                </c:pt>
                <c:pt idx="10">
                  <c:v>19.75</c:v>
                </c:pt>
                <c:pt idx="11">
                  <c:v>20.44</c:v>
                </c:pt>
                <c:pt idx="12">
                  <c:v>21.27</c:v>
                </c:pt>
                <c:pt idx="13">
                  <c:v>20.82</c:v>
                </c:pt>
                <c:pt idx="14">
                  <c:v>19.74</c:v>
                </c:pt>
                <c:pt idx="15">
                  <c:v>19.7</c:v>
                </c:pt>
                <c:pt idx="16">
                  <c:v>16.39</c:v>
                </c:pt>
                <c:pt idx="17">
                  <c:v>15.17</c:v>
                </c:pt>
                <c:pt idx="18">
                  <c:v>17.12</c:v>
                </c:pt>
                <c:pt idx="19">
                  <c:v>17.9</c:v>
                </c:pt>
                <c:pt idx="20">
                  <c:v>19.57</c:v>
                </c:pt>
                <c:pt idx="21">
                  <c:v>21.85</c:v>
                </c:pt>
                <c:pt idx="22">
                  <c:v>21.85</c:v>
                </c:pt>
                <c:pt idx="23">
                  <c:v>19.93</c:v>
                </c:pt>
                <c:pt idx="24">
                  <c:v>20.84</c:v>
                </c:pt>
                <c:pt idx="25">
                  <c:v>21.67</c:v>
                </c:pt>
                <c:pt idx="26">
                  <c:v>23.1</c:v>
                </c:pt>
                <c:pt idx="27">
                  <c:v>21.57</c:v>
                </c:pt>
                <c:pt idx="28">
                  <c:v>20.27</c:v>
                </c:pt>
                <c:pt idx="29">
                  <c:v>20.05</c:v>
                </c:pt>
                <c:pt idx="30">
                  <c:v>24.04</c:v>
                </c:pt>
                <c:pt idx="31">
                  <c:v>25.21</c:v>
                </c:pt>
                <c:pt idx="32">
                  <c:v>25.67</c:v>
                </c:pt>
                <c:pt idx="33">
                  <c:v>24.89</c:v>
                </c:pt>
                <c:pt idx="34">
                  <c:v>22.76</c:v>
                </c:pt>
                <c:pt idx="35">
                  <c:v>23.15</c:v>
                </c:pt>
                <c:pt idx="36">
                  <c:v>21.5</c:v>
                </c:pt>
                <c:pt idx="37">
                  <c:v>21.03</c:v>
                </c:pt>
                <c:pt idx="38">
                  <c:v>19.0</c:v>
                </c:pt>
                <c:pt idx="39">
                  <c:v>19.52</c:v>
                </c:pt>
                <c:pt idx="40">
                  <c:v>17.55</c:v>
                </c:pt>
                <c:pt idx="41">
                  <c:v>17.13</c:v>
                </c:pt>
                <c:pt idx="42">
                  <c:v>17.41</c:v>
                </c:pt>
                <c:pt idx="43">
                  <c:v>19.85</c:v>
                </c:pt>
                <c:pt idx="44">
                  <c:v>18.67</c:v>
                </c:pt>
                <c:pt idx="45">
                  <c:v>18.08</c:v>
                </c:pt>
                <c:pt idx="46">
                  <c:v>19.88</c:v>
                </c:pt>
                <c:pt idx="47">
                  <c:v>20.43</c:v>
                </c:pt>
                <c:pt idx="48">
                  <c:v>19.39</c:v>
                </c:pt>
                <c:pt idx="49">
                  <c:v>20.99</c:v>
                </c:pt>
                <c:pt idx="50">
                  <c:v>22.6</c:v>
                </c:pt>
                <c:pt idx="51">
                  <c:v>22.88</c:v>
                </c:pt>
                <c:pt idx="52">
                  <c:v>22.83</c:v>
                </c:pt>
                <c:pt idx="53">
                  <c:v>24.54</c:v>
                </c:pt>
                <c:pt idx="54">
                  <c:v>24.31</c:v>
                </c:pt>
                <c:pt idx="55">
                  <c:v>23.57</c:v>
                </c:pt>
                <c:pt idx="56">
                  <c:v>22.22</c:v>
                </c:pt>
                <c:pt idx="57">
                  <c:v>23.43</c:v>
                </c:pt>
                <c:pt idx="58">
                  <c:v>22.03</c:v>
                </c:pt>
                <c:pt idx="59">
                  <c:v>23.29</c:v>
                </c:pt>
                <c:pt idx="60">
                  <c:v>23.57</c:v>
                </c:pt>
                <c:pt idx="61">
                  <c:v>24.64</c:v>
                </c:pt>
                <c:pt idx="62">
                  <c:v>22.47</c:v>
                </c:pt>
                <c:pt idx="63">
                  <c:v>27.41</c:v>
                </c:pt>
                <c:pt idx="64">
                  <c:v>26.01</c:v>
                </c:pt>
                <c:pt idx="65">
                  <c:v>27.43</c:v>
                </c:pt>
                <c:pt idx="66">
                  <c:v>26.98</c:v>
                </c:pt>
                <c:pt idx="67">
                  <c:v>27.4</c:v>
                </c:pt>
                <c:pt idx="68">
                  <c:v>27.8</c:v>
                </c:pt>
                <c:pt idx="69">
                  <c:v>26.06</c:v>
                </c:pt>
                <c:pt idx="70">
                  <c:v>24.09</c:v>
                </c:pt>
                <c:pt idx="71">
                  <c:v>25.76</c:v>
                </c:pt>
                <c:pt idx="72">
                  <c:v>26.09</c:v>
                </c:pt>
                <c:pt idx="73">
                  <c:v>28.96</c:v>
                </c:pt>
                <c:pt idx="74">
                  <c:v>28.68</c:v>
                </c:pt>
                <c:pt idx="75">
                  <c:v>31.19</c:v>
                </c:pt>
                <c:pt idx="76">
                  <c:v>25.77</c:v>
                </c:pt>
                <c:pt idx="77">
                  <c:v>26.22</c:v>
                </c:pt>
                <c:pt idx="78">
                  <c:v>29.13</c:v>
                </c:pt>
                <c:pt idx="79">
                  <c:v>32.6</c:v>
                </c:pt>
                <c:pt idx="80">
                  <c:v>31.1</c:v>
                </c:pt>
                <c:pt idx="81">
                  <c:v>37.36</c:v>
                </c:pt>
                <c:pt idx="82">
                  <c:v>36.18</c:v>
                </c:pt>
                <c:pt idx="83">
                  <c:v>37.49</c:v>
                </c:pt>
                <c:pt idx="84">
                  <c:v>37.77</c:v>
                </c:pt>
                <c:pt idx="85">
                  <c:v>38.04</c:v>
                </c:pt>
                <c:pt idx="86">
                  <c:v>38.0</c:v>
                </c:pt>
                <c:pt idx="87">
                  <c:v>37.51</c:v>
                </c:pt>
                <c:pt idx="88">
                  <c:v>37.51</c:v>
                </c:pt>
                <c:pt idx="89">
                  <c:v>27.25</c:v>
                </c:pt>
                <c:pt idx="90">
                  <c:v>20.58</c:v>
                </c:pt>
                <c:pt idx="91">
                  <c:v>20.64</c:v>
                </c:pt>
                <c:pt idx="92">
                  <c:v>20.65</c:v>
                </c:pt>
                <c:pt idx="93">
                  <c:v>21.24</c:v>
                </c:pt>
                <c:pt idx="94">
                  <c:v>21.7</c:v>
                </c:pt>
                <c:pt idx="95">
                  <c:v>21.61</c:v>
                </c:pt>
                <c:pt idx="96">
                  <c:v>21.3</c:v>
                </c:pt>
                <c:pt idx="97">
                  <c:v>20.26</c:v>
                </c:pt>
                <c:pt idx="98">
                  <c:v>19.91</c:v>
                </c:pt>
                <c:pt idx="99">
                  <c:v>21.23</c:v>
                </c:pt>
                <c:pt idx="100">
                  <c:v>21.83</c:v>
                </c:pt>
                <c:pt idx="101">
                  <c:v>20.81</c:v>
                </c:pt>
                <c:pt idx="102">
                  <c:v>21.91</c:v>
                </c:pt>
                <c:pt idx="103">
                  <c:v>22.16</c:v>
                </c:pt>
                <c:pt idx="104">
                  <c:v>37.92</c:v>
                </c:pt>
                <c:pt idx="105">
                  <c:v>37.99</c:v>
                </c:pt>
                <c:pt idx="106">
                  <c:v>38.25</c:v>
                </c:pt>
                <c:pt idx="107">
                  <c:v>37.91</c:v>
                </c:pt>
                <c:pt idx="108">
                  <c:v>37.81</c:v>
                </c:pt>
                <c:pt idx="109">
                  <c:v>38.0</c:v>
                </c:pt>
                <c:pt idx="110">
                  <c:v>38.22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'21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88">
                  <c:v>37.51</c:v>
                </c:pt>
                <c:pt idx="89">
                  <c:v>27.25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'21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37.92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Dicerna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DRNA  ·  acquired by Novo Nordisk A/S (Danish aktieselskab)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$38.25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18, 2021   ·   Closed Dec 28, 2021   ·   Status: completed   ·   Pre-ann. volume 0.9×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Dicerna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Dicerna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6814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5374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089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03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8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505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505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010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23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423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776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129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394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483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659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748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013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101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89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189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278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366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984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984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249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0249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426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0602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602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0691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867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956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1044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11328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4861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16627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44007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45774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and Dicerna enter Mutual Confidentiality Agreement for…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Mutual Confidentiality Agreement amended. (SC 14D9)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and Dicerna enter Collaboration and License Agreement…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09, 2021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and Dicerna enter Confidential Disclosure Agreement…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approaches Dicerna regarding a significant expansion…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2021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Members of Dicerna senior management discuss with the…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Dicerna Board holds regularly scheduled meetings with…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Lars Jørgensen, CEO of Novo, calls Dr. Douglas M. Fambrough…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Dicerna Board holds meeting by teleconference with senior…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11, 2021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Based on Board discussions, Dr. Fambrough and Centerview…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15, 2021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communicates to Centerview that it is not…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2021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Dicerna Board holds meeting by videoconference with senior…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19, 2021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At Board direction, Dr. Fambrough calls Jørgensen to…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2021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submits revised proposal to acquire all outstanding…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Dicerna Board holds meeting by videoconference with senior…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At Board direction, Dr. Fambrough calls Jørgensen to…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Jørgensen calls Dr. Fambrough and states Novo is prepared…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2021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Dicerna Board holds meeting by videoconference with senior…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2021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Dicerna enters separate NDAs with Novo (containing a…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28, 2021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Skadden provides Davis Polk &amp; Wardell LLP (counsel to Novo)…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2021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Dicerna grants Novo and its advisors access to a virtual…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05, 2021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provides a verbal indication of interest at…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05, 2021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representatives tell Company A that $29.00 is…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makes a revised verbal indication of interest at…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38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Dicerna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conveys Board's position to Company A. (SC 14D9)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10,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of Dicerna and Novo, along with Centerview, hold…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Following discussions on material open issues (scope of MAE…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Skadden and Davis Polk negotiate open terms, including the…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Jørgensen calls Dr. Fambrough to discuss transaction…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Skadden sends Davis Polk updated Disclosure Schedules. (SC…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Jørgensen calls Dr. Fambrough and verbally indicates Novo…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Skadden sends Davis Polk revised Merger Agreement and…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Dicerna and Novo each issue press releases announcing the…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22, 2021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and Dicerna each file Notification and Report Forms…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Offer at $38.25 per share. Dicerna…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25,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HSR Act waiting period expires. Dicerna announces…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5:00 p.m. Eastern Time. American…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28, 2021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merges with and into Dicerna under DGCL Section…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Dicerna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2021-08-06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($37.51→$27.25)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2021-08-13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($27.25→$20.58)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Dicerna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2021-11-18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(Novo Nordisk and Dicerna each issue press releases announcing Merger Agreement)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