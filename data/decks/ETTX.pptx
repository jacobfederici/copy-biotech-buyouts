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Close</c:v>
                </c:pt>
              </c:strCache>
            </c:strRef>
          </c:tx>
          <c:spPr>
            <a:ln w="25400">
              <a:solidFill>
                <a:srgbClr val="2E78D2"/>
              </a:solidFill>
            </a:ln>
          </c:spPr>
          <c:marker>
            <c:symbol val="none"/>
          </c:marker>
          <c:cat>
            <c:strRef>
              <c:f>Sheet1!$A$2:$A$113</c:f>
              <c:strCache>
                <c:ptCount val="112"/>
                <c:pt idx="0">
                  <c:v>May '20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Aug '20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Oct '20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Dec '20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Mar '21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May '21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Jul '21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Oct '21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Dec '21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Feb '22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Apr '22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Jul '22</c:v>
                </c:pt>
                <c:pt idx="111">
                  <c:v/>
                </c:pt>
              </c:strCache>
            </c:strRef>
          </c:cat>
          <c:val>
            <c:numRef>
              <c:f>Sheet1!$B$2:$B$113</c:f>
              <c:numCache>
                <c:formatCode>General</c:formatCode>
                <c:ptCount val="112"/>
                <c:pt idx="0">
                  <c:v>2.77</c:v>
                </c:pt>
                <c:pt idx="1">
                  <c:v>2.88</c:v>
                </c:pt>
                <c:pt idx="2">
                  <c:v>2.81</c:v>
                </c:pt>
                <c:pt idx="3">
                  <c:v>2.98</c:v>
                </c:pt>
                <c:pt idx="4">
                  <c:v>2.94</c:v>
                </c:pt>
                <c:pt idx="5">
                  <c:v>2.92</c:v>
                </c:pt>
                <c:pt idx="6">
                  <c:v>2.94</c:v>
                </c:pt>
                <c:pt idx="7">
                  <c:v>3.91</c:v>
                </c:pt>
                <c:pt idx="8">
                  <c:v>3.01</c:v>
                </c:pt>
                <c:pt idx="9">
                  <c:v>2.8</c:v>
                </c:pt>
                <c:pt idx="10">
                  <c:v>2.87</c:v>
                </c:pt>
                <c:pt idx="11">
                  <c:v>2.88</c:v>
                </c:pt>
                <c:pt idx="12">
                  <c:v>2.58</c:v>
                </c:pt>
                <c:pt idx="13">
                  <c:v>2.61</c:v>
                </c:pt>
                <c:pt idx="14">
                  <c:v>2.76</c:v>
                </c:pt>
                <c:pt idx="15">
                  <c:v>2.94</c:v>
                </c:pt>
                <c:pt idx="16">
                  <c:v>2.86</c:v>
                </c:pt>
                <c:pt idx="17">
                  <c:v>2.29</c:v>
                </c:pt>
                <c:pt idx="18">
                  <c:v>2.15</c:v>
                </c:pt>
                <c:pt idx="19">
                  <c:v>2.02</c:v>
                </c:pt>
                <c:pt idx="20">
                  <c:v>2.07</c:v>
                </c:pt>
                <c:pt idx="21">
                  <c:v>1.77</c:v>
                </c:pt>
                <c:pt idx="22">
                  <c:v>1.61</c:v>
                </c:pt>
                <c:pt idx="23">
                  <c:v>1.67</c:v>
                </c:pt>
                <c:pt idx="24">
                  <c:v>1.72</c:v>
                </c:pt>
                <c:pt idx="25">
                  <c:v>1.81</c:v>
                </c:pt>
                <c:pt idx="26">
                  <c:v>1.76</c:v>
                </c:pt>
                <c:pt idx="27">
                  <c:v>1.75</c:v>
                </c:pt>
                <c:pt idx="28">
                  <c:v>2.0</c:v>
                </c:pt>
                <c:pt idx="29">
                  <c:v>2.39</c:v>
                </c:pt>
                <c:pt idx="30">
                  <c:v>2.85</c:v>
                </c:pt>
                <c:pt idx="31">
                  <c:v>2.47</c:v>
                </c:pt>
                <c:pt idx="32">
                  <c:v>2.62</c:v>
                </c:pt>
                <c:pt idx="33">
                  <c:v>2.64</c:v>
                </c:pt>
                <c:pt idx="34">
                  <c:v>3.47</c:v>
                </c:pt>
                <c:pt idx="35">
                  <c:v>3.15</c:v>
                </c:pt>
                <c:pt idx="36">
                  <c:v>3.29</c:v>
                </c:pt>
                <c:pt idx="37">
                  <c:v>3.39</c:v>
                </c:pt>
                <c:pt idx="38">
                  <c:v>3.37</c:v>
                </c:pt>
                <c:pt idx="39">
                  <c:v>2.66</c:v>
                </c:pt>
                <c:pt idx="40">
                  <c:v>2.46</c:v>
                </c:pt>
                <c:pt idx="41">
                  <c:v>2.83</c:v>
                </c:pt>
                <c:pt idx="42">
                  <c:v>2.82</c:v>
                </c:pt>
                <c:pt idx="43">
                  <c:v>2.05</c:v>
                </c:pt>
                <c:pt idx="44">
                  <c:v>2.16</c:v>
                </c:pt>
                <c:pt idx="45">
                  <c:v>2.06</c:v>
                </c:pt>
                <c:pt idx="46">
                  <c:v>1.9</c:v>
                </c:pt>
                <c:pt idx="47">
                  <c:v>1.99</c:v>
                </c:pt>
                <c:pt idx="48">
                  <c:v>2.1</c:v>
                </c:pt>
                <c:pt idx="49">
                  <c:v>1.91</c:v>
                </c:pt>
                <c:pt idx="50">
                  <c:v>1.96</c:v>
                </c:pt>
                <c:pt idx="51">
                  <c:v>2.38</c:v>
                </c:pt>
                <c:pt idx="52">
                  <c:v>2.37</c:v>
                </c:pt>
                <c:pt idx="53">
                  <c:v>2.44</c:v>
                </c:pt>
                <c:pt idx="54">
                  <c:v>2.68</c:v>
                </c:pt>
                <c:pt idx="55">
                  <c:v>2.78</c:v>
                </c:pt>
                <c:pt idx="56">
                  <c:v>2.9</c:v>
                </c:pt>
                <c:pt idx="57">
                  <c:v>2.75</c:v>
                </c:pt>
                <c:pt idx="58">
                  <c:v>2.49</c:v>
                </c:pt>
                <c:pt idx="59">
                  <c:v>2.44</c:v>
                </c:pt>
                <c:pt idx="60">
                  <c:v>2.5</c:v>
                </c:pt>
                <c:pt idx="61">
                  <c:v>2.27</c:v>
                </c:pt>
                <c:pt idx="62">
                  <c:v>2.38</c:v>
                </c:pt>
                <c:pt idx="63">
                  <c:v>2.5</c:v>
                </c:pt>
                <c:pt idx="64">
                  <c:v>2.34</c:v>
                </c:pt>
                <c:pt idx="65">
                  <c:v>2.74</c:v>
                </c:pt>
                <c:pt idx="66">
                  <c:v>2.9</c:v>
                </c:pt>
                <c:pt idx="67">
                  <c:v>2.78</c:v>
                </c:pt>
                <c:pt idx="68">
                  <c:v>3.11</c:v>
                </c:pt>
                <c:pt idx="69">
                  <c:v>3.77</c:v>
                </c:pt>
                <c:pt idx="70">
                  <c:v>3.29</c:v>
                </c:pt>
                <c:pt idx="71">
                  <c:v>3.1</c:v>
                </c:pt>
                <c:pt idx="72">
                  <c:v>3.15</c:v>
                </c:pt>
                <c:pt idx="73">
                  <c:v>2.64</c:v>
                </c:pt>
                <c:pt idx="74">
                  <c:v>2.85</c:v>
                </c:pt>
                <c:pt idx="75">
                  <c:v>2.99</c:v>
                </c:pt>
                <c:pt idx="76">
                  <c:v>2.82</c:v>
                </c:pt>
                <c:pt idx="77">
                  <c:v>2.65</c:v>
                </c:pt>
                <c:pt idx="78">
                  <c:v>2.61</c:v>
                </c:pt>
                <c:pt idx="79">
                  <c:v>2.38</c:v>
                </c:pt>
                <c:pt idx="80">
                  <c:v>2.27</c:v>
                </c:pt>
                <c:pt idx="81">
                  <c:v>2.15</c:v>
                </c:pt>
                <c:pt idx="82">
                  <c:v>2.34</c:v>
                </c:pt>
                <c:pt idx="83">
                  <c:v>2.19</c:v>
                </c:pt>
                <c:pt idx="84">
                  <c:v>2.03</c:v>
                </c:pt>
                <c:pt idx="85">
                  <c:v>1.92</c:v>
                </c:pt>
                <c:pt idx="86">
                  <c:v>1.74</c:v>
                </c:pt>
                <c:pt idx="87">
                  <c:v>1.55</c:v>
                </c:pt>
                <c:pt idx="88">
                  <c:v>1.88</c:v>
                </c:pt>
                <c:pt idx="89">
                  <c:v>1.79</c:v>
                </c:pt>
                <c:pt idx="90">
                  <c:v>1.81</c:v>
                </c:pt>
                <c:pt idx="91">
                  <c:v>1.8</c:v>
                </c:pt>
                <c:pt idx="92">
                  <c:v>1.75</c:v>
                </c:pt>
                <c:pt idx="93">
                  <c:v>1.64</c:v>
                </c:pt>
                <c:pt idx="94">
                  <c:v>1.95</c:v>
                </c:pt>
                <c:pt idx="95">
                  <c:v>1.9</c:v>
                </c:pt>
                <c:pt idx="96">
                  <c:v>1.86</c:v>
                </c:pt>
                <c:pt idx="97">
                  <c:v>1.85</c:v>
                </c:pt>
                <c:pt idx="98">
                  <c:v>1.89</c:v>
                </c:pt>
                <c:pt idx="99">
                  <c:v>1.88</c:v>
                </c:pt>
                <c:pt idx="100">
                  <c:v>1.88</c:v>
                </c:pt>
                <c:pt idx="101">
                  <c:v>1.85</c:v>
                </c:pt>
                <c:pt idx="102">
                  <c:v>1.8</c:v>
                </c:pt>
                <c:pt idx="103">
                  <c:v>1.8</c:v>
                </c:pt>
                <c:pt idx="104">
                  <c:v>2.19</c:v>
                </c:pt>
                <c:pt idx="105">
                  <c:v>2.18</c:v>
                </c:pt>
                <c:pt idx="106">
                  <c:v>2.19</c:v>
                </c:pt>
                <c:pt idx="107">
                  <c:v>2.19</c:v>
                </c:pt>
                <c:pt idx="108">
                  <c:v>2.2</c:v>
                </c:pt>
                <c:pt idx="109">
                  <c:v>2.19</c:v>
                </c:pt>
                <c:pt idx="110">
                  <c:v>2.19</c:v>
                </c:pt>
                <c:pt idx="111">
                  <c:v>2.19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Event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13A88A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Sheet1!$A$2:$A$113</c:f>
              <c:strCache>
                <c:ptCount val="112"/>
                <c:pt idx="0">
                  <c:v>May '20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Aug '20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Oct '20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Dec '20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Mar '21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May '21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Jul '21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Oct '21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Dec '21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Feb '22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Apr '22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Jul '22</c:v>
                </c:pt>
                <c:pt idx="111">
                  <c:v/>
                </c:pt>
              </c:strCache>
            </c:strRef>
          </c:cat>
          <c:val>
            <c:numRef>
              <c:f>Sheet1!$C$2:$C$113</c:f>
              <c:numCache>
                <c:formatCode>General</c:formatCode>
                <c:ptCount val="112"/>
                <c:pt idx="42">
                  <c:v>2.82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Rumor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455F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Sheet1!$A$2:$A$113</c:f>
              <c:strCache>
                <c:ptCount val="112"/>
                <c:pt idx="0">
                  <c:v>May '20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Aug '20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Oct '20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Dec '20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Mar '21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May '21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Jul '21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Oct '21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Dec '21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Feb '22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Apr '22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Jul '22</c:v>
                </c:pt>
                <c:pt idx="111">
                  <c:v/>
                </c:pt>
              </c:strCache>
            </c:strRef>
          </c:cat>
          <c:val>
            <c:numRef>
              <c:f>Sheet1!$D$2:$D$113</c:f>
              <c:numCache>
                <c:formatCode>General</c:formatCode>
                <c:ptCount val="112"/>
                <c:pt idx="6">
                  <c:v>2.94</c:v>
                </c:pt>
                <c:pt idx="7">
                  <c:v>3.91</c:v>
                </c:pt>
                <c:pt idx="33">
                  <c:v>2.64</c:v>
                </c:pt>
                <c:pt idx="38">
                  <c:v>3.37</c:v>
                </c:pt>
                <c:pt idx="50">
                  <c:v>1.96</c:v>
                </c:pt>
                <c:pt idx="68">
                  <c:v>3.11</c:v>
                </c:pt>
                <c:pt idx="87">
                  <c:v>1.55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Deal</c:v>
                </c:pt>
              </c:strCache>
            </c:strRef>
          </c:tx>
          <c:spPr>
            <a:ln>
              <a:noFill/>
            </a:ln>
          </c:spPr>
          <c:marker>
            <c:symbol val="circle"/>
            <c:size val="10"/>
            <c:spPr>
              <a:solidFill>
                <a:srgbClr val="E89B2B"/>
              </a:solidFill>
              <a:ln w="12700">
                <a:solidFill>
                  <a:srgbClr val="FFFFFF"/>
                </a:solidFill>
              </a:ln>
            </c:spPr>
          </c:marker>
          <c:cat>
            <c:strRef>
              <c:f>Sheet1!$A$2:$A$113</c:f>
              <c:strCache>
                <c:ptCount val="112"/>
                <c:pt idx="0">
                  <c:v>May '20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>Aug '20</c:v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Oct '20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Dec '20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Mar '21</c:v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/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>May '21</c:v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  <c:pt idx="60">
                  <c:v>Jul '21</c:v>
                </c:pt>
                <c:pt idx="61">
                  <c:v/>
                </c:pt>
                <c:pt idx="62">
                  <c:v/>
                </c:pt>
                <c:pt idx="63">
                  <c:v/>
                </c:pt>
                <c:pt idx="64">
                  <c:v/>
                </c:pt>
                <c:pt idx="65">
                  <c:v/>
                </c:pt>
                <c:pt idx="66">
                  <c:v/>
                </c:pt>
                <c:pt idx="67">
                  <c:v/>
                </c:pt>
                <c:pt idx="68">
                  <c:v/>
                </c:pt>
                <c:pt idx="69">
                  <c:v/>
                </c:pt>
                <c:pt idx="70">
                  <c:v>Oct '21</c:v>
                </c:pt>
                <c:pt idx="71">
                  <c:v/>
                </c:pt>
                <c:pt idx="72">
                  <c:v/>
                </c:pt>
                <c:pt idx="73">
                  <c:v/>
                </c:pt>
                <c:pt idx="74">
                  <c:v/>
                </c:pt>
                <c:pt idx="75">
                  <c:v/>
                </c:pt>
                <c:pt idx="76">
                  <c:v/>
                </c:pt>
                <c:pt idx="77">
                  <c:v/>
                </c:pt>
                <c:pt idx="78">
                  <c:v/>
                </c:pt>
                <c:pt idx="79">
                  <c:v/>
                </c:pt>
                <c:pt idx="80">
                  <c:v>Dec '21</c:v>
                </c:pt>
                <c:pt idx="81">
                  <c:v/>
                </c:pt>
                <c:pt idx="82">
                  <c:v/>
                </c:pt>
                <c:pt idx="83">
                  <c:v/>
                </c:pt>
                <c:pt idx="84">
                  <c:v/>
                </c:pt>
                <c:pt idx="85">
                  <c:v/>
                </c:pt>
                <c:pt idx="86">
                  <c:v/>
                </c:pt>
                <c:pt idx="87">
                  <c:v/>
                </c:pt>
                <c:pt idx="88">
                  <c:v/>
                </c:pt>
                <c:pt idx="89">
                  <c:v/>
                </c:pt>
                <c:pt idx="90">
                  <c:v>Feb '22</c:v>
                </c:pt>
                <c:pt idx="91">
                  <c:v/>
                </c:pt>
                <c:pt idx="92">
                  <c:v/>
                </c:pt>
                <c:pt idx="93">
                  <c:v/>
                </c:pt>
                <c:pt idx="94">
                  <c:v/>
                </c:pt>
                <c:pt idx="95">
                  <c:v/>
                </c:pt>
                <c:pt idx="96">
                  <c:v/>
                </c:pt>
                <c:pt idx="97">
                  <c:v/>
                </c:pt>
                <c:pt idx="98">
                  <c:v/>
                </c:pt>
                <c:pt idx="99">
                  <c:v/>
                </c:pt>
                <c:pt idx="100">
                  <c:v>Apr '22</c:v>
                </c:pt>
                <c:pt idx="101">
                  <c:v/>
                </c:pt>
                <c:pt idx="102">
                  <c:v/>
                </c:pt>
                <c:pt idx="103">
                  <c:v/>
                </c:pt>
                <c:pt idx="104">
                  <c:v/>
                </c:pt>
                <c:pt idx="105">
                  <c:v/>
                </c:pt>
                <c:pt idx="106">
                  <c:v/>
                </c:pt>
                <c:pt idx="107">
                  <c:v/>
                </c:pt>
                <c:pt idx="108">
                  <c:v/>
                </c:pt>
                <c:pt idx="109">
                  <c:v/>
                </c:pt>
                <c:pt idx="110">
                  <c:v>Jul '22</c:v>
                </c:pt>
                <c:pt idx="111">
                  <c:v/>
                </c:pt>
              </c:strCache>
            </c:strRef>
          </c:cat>
          <c:val>
            <c:numRef>
              <c:f>Sheet1!$E$2:$E$113</c:f>
              <c:numCache>
                <c:formatCode>General</c:formatCode>
                <c:ptCount val="112"/>
                <c:pt idx="104">
                  <c:v>2.19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7C8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4EAF1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7C8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0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8FB4E0"/>
                </a:solidFill>
                <a:latin typeface="Calibri"/>
              </a:rPr>
              <a:t>BUYOUT CASE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51560"/>
            <a:ext cx="10881360" cy="13716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Calibri"/>
              </a:rPr>
              <a:t>Entasis Therapeutics</a:t>
            </a:r>
          </a:p>
          <a:p>
            <a:pPr algn="l">
              <a:lnSpc>
                <a:spcPct val="105000"/>
              </a:lnSpc>
            </a:pPr>
            <a:r>
              <a:rPr sz="1800" b="0">
                <a:solidFill>
                  <a:srgbClr val="CADCFC"/>
                </a:solidFill>
                <a:latin typeface="Calibri"/>
              </a:rPr>
              <a:t>ETTX  ·  acquired by Innoviva, Inc.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9B2B"/>
                </a:solidFill>
                <a:latin typeface="Calibri"/>
              </a:rPr>
              <a:t>$2.2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Deal price/sh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3A88A"/>
                </a:solidFill>
                <a:latin typeface="Calibri"/>
              </a:rPr>
              <a:t>17%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Premium (unaffected)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-4%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4-wk pre-ann. run-up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834640"/>
            <a:ext cx="2606040" cy="1554480"/>
          </a:xfrm>
          <a:prstGeom prst="roundRect">
            <a:avLst/>
          </a:prstGeom>
          <a:solidFill>
            <a:srgbClr val="16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2971800"/>
            <a:ext cx="2240280" cy="914400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E8455F"/>
                </a:solidFill>
                <a:latin typeface="Calibri"/>
              </a:rPr>
              <a:t>-25%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886200"/>
            <a:ext cx="2240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DB2C9"/>
                </a:solidFill>
                <a:latin typeface="Calibri"/>
              </a:rPr>
              <a:t>% premium pre-captured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46320"/>
            <a:ext cx="1088136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8FB4E0"/>
                </a:solidFill>
                <a:latin typeface="Calibri"/>
              </a:rPr>
              <a:t>Announced May 23, 2022   ·   Closed Jul 11, 2022   ·   Status: completed   ·   Pre-ann. volume 0.63× normal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63640"/>
            <a:ext cx="108813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E7790"/>
                </a:solidFill>
                <a:latin typeface="Calibri"/>
              </a:rPr>
              <a:t>Sources: SEC SC 14D-9 filing + weekly market data. Rumor = price move with no identified filing/news.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Stock price, events &amp; rumors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Entasis Therapeutics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325880"/>
          <a:ext cx="11247120" cy="4343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598932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red = unexplained move (rumor/leak)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13A88A"/>
                </a:solidFill>
                <a:latin typeface="Calibri"/>
              </a:rPr>
              <a:t>teal = news-driven (event)</a:t>
            </a:r>
            <a:r>
              <a:rPr sz="1100" b="0">
                <a:solidFill>
                  <a:srgbClr val="6B7C8F"/>
                </a:solidFill>
                <a:latin typeface="Calibri"/>
              </a:rPr>
              <a:t> · </a:t>
            </a:r>
            <a:r>
              <a:rPr sz="1100" b="1">
                <a:solidFill>
                  <a:srgbClr val="E89B2B"/>
                </a:solidFill>
                <a:latin typeface="Calibri"/>
              </a:rPr>
              <a:t>gold = deal announcement</a:t>
            </a:r>
          </a:p>
          <a:p>
            <a:pPr algn="l">
              <a:lnSpc>
                <a:spcPct val="100000"/>
              </a:lnSpc>
            </a:pPr>
            <a:r>
              <a:rPr sz="950" b="0">
                <a:solidFill>
                  <a:srgbClr val="6B7C8F"/>
                </a:solidFill>
                <a:latin typeface="Calibri"/>
              </a:rPr>
              <a:t>Rumor/event markers are placed one week before the reported move week (weekly data; a reported move can lag the true move by up to a week). The deal marker is on the actual announcement week.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Interaction timeline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Entasis Therapeutics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783080"/>
            <a:ext cx="10881360" cy="0"/>
          </a:xfrm>
          <a:prstGeom prst="line">
            <a:avLst/>
          </a:prstGeom>
          <a:ln w="25400">
            <a:solidFill>
              <a:srgbClr val="E4EA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871212" y="1463039"/>
            <a:ext cx="0" cy="640081"/>
          </a:xfrm>
          <a:prstGeom prst="line">
            <a:avLst/>
          </a:prstGeom>
          <a:ln w="19050">
            <a:solidFill>
              <a:srgbClr val="E89B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956812" y="1399032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E89B2B"/>
                </a:solidFill>
              </a:rPr>
              <a:t>Announcement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1521440" y="1463039"/>
            <a:ext cx="0" cy="640081"/>
          </a:xfrm>
          <a:prstGeom prst="line">
            <a:avLst/>
          </a:prstGeom>
          <a:ln w="19050">
            <a:solidFill>
              <a:srgbClr val="2E78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607040" y="2057400"/>
            <a:ext cx="1828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2E78D2"/>
                </a:solidFill>
              </a:rPr>
              <a:t>Close</a:t>
            </a:r>
          </a:p>
        </p:txBody>
      </p:sp>
      <p:sp>
        <p:nvSpPr>
          <p:cNvPr id="10" name="Oval 9"/>
          <p:cNvSpPr/>
          <p:nvPr/>
        </p:nvSpPr>
        <p:spPr>
          <a:xfrm>
            <a:off x="585215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658100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02965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34338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555703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90072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980341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803078" y="1728216"/>
            <a:ext cx="109728" cy="109728"/>
          </a:xfrm>
          <a:prstGeom prst="ellipse">
            <a:avLst/>
          </a:prstGeom>
          <a:solidFill>
            <a:srgbClr val="13A88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816348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015397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141349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466576" y="1728216"/>
            <a:ext cx="109728" cy="109728"/>
          </a:xfrm>
          <a:prstGeom prst="ellipse">
            <a:avLst/>
          </a:prstGeom>
          <a:solidFill>
            <a:srgbClr val="E89B2B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6B7C8F"/>
                </a:solidFill>
              </a:rPr>
              <a:t>Apr 2020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1929384"/>
            <a:ext cx="12801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B7C8F"/>
                </a:solidFill>
              </a:rPr>
              <a:t>Jul 2022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Apr 12, 2020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920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Innoviva makes initial private placement investment in…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Sep 27, 2021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Entasis engages MTS Health Partners to explore strategic…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Oct 25, 2021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Entasis Board establishes a Special Transactions Committee…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01, 2022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Innoviva submits a non-binding proposal to acquire Entasis…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Feb 17, 2022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0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Entasis enters into a $15 million bridge financing…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15, 2022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20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Innoviva increases its offer to $2.00 per share in cash.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260604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Mar 21, 2022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35240" y="260604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Willkie Farr &amp; Gallagher (Innoviva counsel) sends initial…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63640" y="288036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22, 2022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35240" y="288036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Innoviva increases its offer to $2.20 per share, designated…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3640" y="315468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May 23, 2022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35240" y="315468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Agreement and Amendment No. 1 to the Investor Rights…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63640" y="342900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Jun 07, 2022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35240" y="342900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Innoviva commences the tender offer.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63640" y="3703320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07, 2022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35240" y="3703320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Tender offer expires with approximately 60.45% of the…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63640" y="3977639"/>
            <a:ext cx="13258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>
                <a:solidFill>
                  <a:srgbClr val="2E78D2"/>
                </a:solidFill>
                <a:latin typeface="Calibri"/>
              </a:rPr>
              <a:t>Jul 11, 2022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635240" y="3977639"/>
            <a:ext cx="4069080" cy="256032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1B2733"/>
                </a:solidFill>
                <a:latin typeface="Calibri"/>
              </a:rPr>
              <a:t>Merger completed; Entasis becomes a wholly owned subsidiary…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64465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C8F"/>
                </a:solidFill>
                <a:latin typeface="Calibri"/>
              </a:rPr>
              <a:t>12 disclosed milestones, first contact → close · dates shown at the precision the filing states (month/year where imprecise).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rumors — unexplained pre-announcement moves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Entasis Therapeutics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E78D2"/>
                </a:solidFill>
                <a:latin typeface="Calibri"/>
              </a:rPr>
              <a:t>8 unexplained pre-announcement move weeks (of 9 total unexplained inflections)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011680"/>
            <a:ext cx="11064240" cy="45720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665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Week ended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2066544"/>
            <a:ext cx="23774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0665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B2733"/>
                </a:solidFill>
                <a:latin typeface="Calibri"/>
              </a:rPr>
              <a:t>Timing vs. announcement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1460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2020-07-17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51460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+33%  ($2.94→$3.91)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51460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675 days before announcement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3522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2021-01-22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293522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+31%  ($2.64→$3.47)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93522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486 days before announcement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35584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2021-03-26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335584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-27%  ($2.82→$2.05)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35584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423 days before announcement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776472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2020-07-24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26080" y="3776472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-23%  ($3.91→$3.01)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3776472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668 days before announcement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197096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2021-05-21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197096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+21%  ($1.96→$2.38)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4197096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367 days before announcement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617720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2022-02-04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4617720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+21%  ($1.55→$1.88)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4617720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108 days before announcement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038344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2021-09-24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26080" y="5038344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E8455F"/>
                </a:solidFill>
                <a:latin typeface="Calibri"/>
              </a:rPr>
              <a:t>+21%  ($3.11→$3.77)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5038344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241 days before announcement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458968"/>
            <a:ext cx="219456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733"/>
                </a:solidFill>
                <a:latin typeface="Calibri"/>
              </a:rPr>
              <a:t>2021-02-26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26080" y="5458968"/>
            <a:ext cx="246888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6B7C8F"/>
                </a:solidFill>
                <a:latin typeface="Calibri"/>
              </a:rPr>
              <a:t>-21%  ($3.37→$2.66)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0" y="5458968"/>
            <a:ext cx="5943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No filing/news identified · 451 days before announcement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These are weeks the stock moved materially with no disclosed catalyst — the leak/rumor footprint.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6424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A2B"/>
                </a:solidFill>
                <a:latin typeface="Calibri"/>
              </a:rPr>
              <a:t>The events — disclosed catalysts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6012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2E78D2"/>
                </a:solidFill>
                <a:latin typeface="Calibri"/>
              </a:rPr>
              <a:t>Entasis Therapeutics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08176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2646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40280" y="137160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2022-04-18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137160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Entasis Therapeutics Presents SUL-DUR Topline Data from Phase 3 ATTACK Trial at ECCMID 2022 Conference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3852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188366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2022-04-26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188366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Entasis Therapeutics Presents Efficacy and Safety Data from Landmark Phase 3 ATTACK Trial at ECCMID 2022…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432304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45059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239572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2022-04-27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39572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Entasis Therapeutics Announces First Quarter 2022 Financial Results and Provides Business Update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944368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96265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40280" y="290779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2022-04-27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90779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Innoviva Reports First Quarter 2022 Financial Results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456432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3474720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40280" y="3419856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2022-05-17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3419856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Entasis Therapeutics Presents Data Highlights from Phase 3 ATTACK Trial at 2022 American Thoracic Society…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968496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986784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40280" y="3931920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2022-05-24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66160" y="3931920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ENTASIS ALERT: Bragar Eagel &amp;amp; Squire, P.C. Investigates Merger of ETTX and Encourages Investors to…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480560"/>
            <a:ext cx="1417320" cy="310896"/>
          </a:xfrm>
          <a:prstGeom prst="roundRect">
            <a:avLst/>
          </a:prstGeom>
          <a:solidFill>
            <a:srgbClr val="E89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498848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Deal/M&amp;A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40280" y="4443984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2022-05-24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4443984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Entasis (ETTX) Stock Rises on Buyout Offer From Innoviva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4992624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5010912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240280" y="4956048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2022-06-09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66160" y="4956048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Entasis Therapeutics Presents Data on Sulbactam-Durlobactam and ETX0462 at 2022 ASM Microbe Annual…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504688"/>
            <a:ext cx="1417320" cy="310896"/>
          </a:xfrm>
          <a:prstGeom prst="roundRect">
            <a:avLst/>
          </a:prstGeom>
          <a:solidFill>
            <a:srgbClr val="13A8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5522976"/>
            <a:ext cx="1417320" cy="274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Calibri"/>
              </a:rPr>
              <a:t>Clinical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40280" y="5468112"/>
            <a:ext cx="137160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C8F"/>
                </a:solidFill>
                <a:latin typeface="Calibri"/>
              </a:rPr>
              <a:t>2022-10-12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566160" y="5468112"/>
            <a:ext cx="804672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733"/>
                </a:solidFill>
                <a:latin typeface="Calibri"/>
              </a:rPr>
              <a:t>Entasis Therapeutics, a Wholly Owned Subsidiary of Innoviva, Announces Data on SUL-DUR to be Presented at…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C8F"/>
                </a:solidFill>
                <a:latin typeface="Calibri"/>
              </a:rPr>
              <a:t>Catalysts tagged by keyword from the report's Company News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