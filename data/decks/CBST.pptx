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Sheet1!$A$2:$A$33</c:f>
              <c:strCache>
                <c:ptCount val="32"/>
                <c:pt idx="0">
                  <c:v>Dec '12</c:v>
                </c:pt>
                <c:pt idx="1">
                  <c:v/>
                </c:pt>
                <c:pt idx="2">
                  <c:v>Jan '13</c:v>
                </c:pt>
                <c:pt idx="3">
                  <c:v/>
                </c:pt>
                <c:pt idx="4">
                  <c:v>Mar '13</c:v>
                </c:pt>
                <c:pt idx="5">
                  <c:v/>
                </c:pt>
                <c:pt idx="6">
                  <c:v>May '13</c:v>
                </c:pt>
                <c:pt idx="7">
                  <c:v/>
                </c:pt>
                <c:pt idx="8">
                  <c:v>Jul '13</c:v>
                </c:pt>
                <c:pt idx="9">
                  <c:v/>
                </c:pt>
                <c:pt idx="10">
                  <c:v>Sep '13</c:v>
                </c:pt>
                <c:pt idx="11">
                  <c:v/>
                </c:pt>
                <c:pt idx="12">
                  <c:v>Nov '13</c:v>
                </c:pt>
                <c:pt idx="13">
                  <c:v/>
                </c:pt>
                <c:pt idx="14">
                  <c:v>Jan '14</c:v>
                </c:pt>
                <c:pt idx="15">
                  <c:v/>
                </c:pt>
                <c:pt idx="16">
                  <c:v>Mar '14</c:v>
                </c:pt>
                <c:pt idx="17">
                  <c:v/>
                </c:pt>
                <c:pt idx="18">
                  <c:v>May '14</c:v>
                </c:pt>
                <c:pt idx="19">
                  <c:v/>
                </c:pt>
                <c:pt idx="20">
                  <c:v>Jul '14</c:v>
                </c:pt>
                <c:pt idx="21">
                  <c:v/>
                </c:pt>
                <c:pt idx="22">
                  <c:v>Sep '14</c:v>
                </c:pt>
                <c:pt idx="23">
                  <c:v/>
                </c:pt>
                <c:pt idx="24">
                  <c:v>Nov '14</c:v>
                </c:pt>
                <c:pt idx="25">
                  <c:v/>
                </c:pt>
                <c:pt idx="26">
                  <c:v>Dec '14</c:v>
                </c:pt>
                <c:pt idx="27">
                  <c:v/>
                </c:pt>
                <c:pt idx="28">
                  <c:v>Dec '14</c:v>
                </c:pt>
                <c:pt idx="29">
                  <c:v/>
                </c:pt>
                <c:pt idx="30">
                  <c:v>Jan '15</c:v>
                </c:pt>
                <c:pt idx="31">
                  <c:v/>
                </c:pt>
              </c:strCache>
            </c:strRef>
          </c:cat>
          <c:val>
            <c:numRef>
              <c:f>Sheet1!$B$2:$B$33</c:f>
              <c:numCache>
                <c:formatCode>General</c:formatCode>
                <c:ptCount val="32"/>
                <c:pt idx="0">
                  <c:v>42.45</c:v>
                </c:pt>
                <c:pt idx="1">
                  <c:v>43.05</c:v>
                </c:pt>
                <c:pt idx="2">
                  <c:v>43.21</c:v>
                </c:pt>
                <c:pt idx="3">
                  <c:v>44.02</c:v>
                </c:pt>
                <c:pt idx="4">
                  <c:v>46.5</c:v>
                </c:pt>
                <c:pt idx="5">
                  <c:v>50.13</c:v>
                </c:pt>
                <c:pt idx="6">
                  <c:v>50.76</c:v>
                </c:pt>
                <c:pt idx="7">
                  <c:v>51.83</c:v>
                </c:pt>
                <c:pt idx="8">
                  <c:v>53.97</c:v>
                </c:pt>
                <c:pt idx="9">
                  <c:v>59.28</c:v>
                </c:pt>
                <c:pt idx="10">
                  <c:v>61.0</c:v>
                </c:pt>
                <c:pt idx="11">
                  <c:v>60.53</c:v>
                </c:pt>
                <c:pt idx="12">
                  <c:v>64.71</c:v>
                </c:pt>
                <c:pt idx="13">
                  <c:v>67.3</c:v>
                </c:pt>
                <c:pt idx="14">
                  <c:v>73.42</c:v>
                </c:pt>
                <c:pt idx="15">
                  <c:v>72.56</c:v>
                </c:pt>
                <c:pt idx="16">
                  <c:v>75.68</c:v>
                </c:pt>
                <c:pt idx="17">
                  <c:v>76.9</c:v>
                </c:pt>
                <c:pt idx="18">
                  <c:v>78.39</c:v>
                </c:pt>
                <c:pt idx="19">
                  <c:v>78.5</c:v>
                </c:pt>
                <c:pt idx="20">
                  <c:v>79.92</c:v>
                </c:pt>
                <c:pt idx="21">
                  <c:v>80.21</c:v>
                </c:pt>
                <c:pt idx="22">
                  <c:v>82.12</c:v>
                </c:pt>
                <c:pt idx="23">
                  <c:v>81.46</c:v>
                </c:pt>
                <c:pt idx="24">
                  <c:v>77.95</c:v>
                </c:pt>
                <c:pt idx="25">
                  <c:v>74.36</c:v>
                </c:pt>
                <c:pt idx="26">
                  <c:v>96.31</c:v>
                </c:pt>
                <c:pt idx="27">
                  <c:v>99.25</c:v>
                </c:pt>
                <c:pt idx="28">
                  <c:v>100.88</c:v>
                </c:pt>
                <c:pt idx="29">
                  <c:v>100.3</c:v>
                </c:pt>
                <c:pt idx="30">
                  <c:v>100.65</c:v>
                </c:pt>
                <c:pt idx="31">
                  <c:v>100.21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Sheet1!$A$2:$A$33</c:f>
              <c:strCache>
                <c:ptCount val="32"/>
                <c:pt idx="0">
                  <c:v>Dec '12</c:v>
                </c:pt>
                <c:pt idx="1">
                  <c:v/>
                </c:pt>
                <c:pt idx="2">
                  <c:v>Jan '13</c:v>
                </c:pt>
                <c:pt idx="3">
                  <c:v/>
                </c:pt>
                <c:pt idx="4">
                  <c:v>Mar '13</c:v>
                </c:pt>
                <c:pt idx="5">
                  <c:v/>
                </c:pt>
                <c:pt idx="6">
                  <c:v>May '13</c:v>
                </c:pt>
                <c:pt idx="7">
                  <c:v/>
                </c:pt>
                <c:pt idx="8">
                  <c:v>Jul '13</c:v>
                </c:pt>
                <c:pt idx="9">
                  <c:v/>
                </c:pt>
                <c:pt idx="10">
                  <c:v>Sep '13</c:v>
                </c:pt>
                <c:pt idx="11">
                  <c:v/>
                </c:pt>
                <c:pt idx="12">
                  <c:v>Nov '13</c:v>
                </c:pt>
                <c:pt idx="13">
                  <c:v/>
                </c:pt>
                <c:pt idx="14">
                  <c:v>Jan '14</c:v>
                </c:pt>
                <c:pt idx="15">
                  <c:v/>
                </c:pt>
                <c:pt idx="16">
                  <c:v>Mar '14</c:v>
                </c:pt>
                <c:pt idx="17">
                  <c:v/>
                </c:pt>
                <c:pt idx="18">
                  <c:v>May '14</c:v>
                </c:pt>
                <c:pt idx="19">
                  <c:v/>
                </c:pt>
                <c:pt idx="20">
                  <c:v>Jul '14</c:v>
                </c:pt>
                <c:pt idx="21">
                  <c:v/>
                </c:pt>
                <c:pt idx="22">
                  <c:v>Sep '14</c:v>
                </c:pt>
                <c:pt idx="23">
                  <c:v/>
                </c:pt>
                <c:pt idx="24">
                  <c:v>Nov '14</c:v>
                </c:pt>
                <c:pt idx="25">
                  <c:v/>
                </c:pt>
                <c:pt idx="26">
                  <c:v>Dec '14</c:v>
                </c:pt>
                <c:pt idx="27">
                  <c:v/>
                </c:pt>
                <c:pt idx="28">
                  <c:v>Dec '14</c:v>
                </c:pt>
                <c:pt idx="29">
                  <c:v/>
                </c:pt>
                <c:pt idx="30">
                  <c:v>Jan '15</c:v>
                </c:pt>
                <c:pt idx="31">
                  <c:v/>
                </c:pt>
              </c:strCache>
            </c:strRef>
          </c:cat>
          <c:val>
            <c:numRef>
              <c:f>Sheet1!$C$2:$C$33</c:f>
              <c:numCache>
                <c:formatCode>General</c:formatCode>
                <c:ptCount val="32"/>
                <c:pt idx="26">
                  <c:v>96.31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Cubist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CBST  ·  acquired by Merck &amp; Co.,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Dec 08, 2014   ·   Closed Jan 21, 2015   ·   Status: completed   ·   Pre-ann. volume 1.31×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Cubist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Cubist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714723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00323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4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1140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5509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961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372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6040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835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246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657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101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101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531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352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7632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9951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2269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637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637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458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1013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511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5922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922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5922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333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7437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67437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1543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71543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7975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8386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8386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87968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87968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92074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92074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96181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0287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0849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1260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1260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16711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24924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29030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3313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3724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3724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3724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41348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41348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41348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4545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49561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61879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65985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11153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42551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May 2014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Jan 2015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2014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and Cubist held several meetings related to the…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05, 2014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and Cubist entered a confidentiality agreement to…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07, 2014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Kenneth C. Frazier, Merck's Chairman and CEO, called…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08, 2014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Frazier and Bonney met in person in New York City. Frazier…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09, 2014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Frazier sent Bonney an email requesting management meetings…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10, 2014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Bonney held a telephone conference with Cubist Board…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13, 2014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Cubist Board held a telephonic meeting. Bonney described…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16, 2014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Bonney called Frazier to relay the Board's feedback. Bonney…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17, 2014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held a telephonic meeting to discuss…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18, 2014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Cubist Board held a telephonic meeting to discuss the…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23, 2014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Bonney and Frazier held two telephone conversations.…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23, 2014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held a meeting. Financial advisors…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25, 2014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Bonney informed Frazier that the Special Committee…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27, 2014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An unsolicited telephone call was received from the Chief…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28, 2014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held a meeting. Bonney outlined the plan…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31, 2014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held a meeting. Goldman Sachs and Morgan…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03, 2014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and Cubist executed a confidentiality agreement with…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04, 2014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and Cubist representatives held a telephonic meeting…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04, 2014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Cubist Board held a telephonic meeting. Bonney reviewed…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06, 2014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Cubist's external patent counsel and Merck representatives…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10, 2014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Frazier informed Bonney that Merck was prepared to make a…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11, 2014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held a meeting. Bonney updated on recent…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12, 2014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Frazier delivered a letter to Bonney memorializing Merck's…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12, 2014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held a meeting. Bonney reviewed Merck's…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59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Cubist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12, 2014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Bonney replied to Frazier by letter, noting that while…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13, 2014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At the Special Committee's request, Cubist and its…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14, 2014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and Cubist management held a meeting in Cambridge…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14, 2014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Cubist delivered a draft confidentiality agreement to Party…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15, 2014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held a meeting. Bonney provided an…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15, 2014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Bonney held a telephone call with the Chief Executive…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17, 2014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Confidentiality agreement with Party B was executed.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18, 2014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Bonney and Frazier discussed diligence progress and…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18, 2014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Bonney spoke with a senior executive of Party D regarding…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19, 2014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C conducted intellectual property due diligence with…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19, 2014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Confidentiality agreement with Party C was executed.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20, 2014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C held a management presentation with Cubist.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20, 2014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Bonney spoke with Frazier regarding Merck's diligence…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21, 2014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held a management presentation with Cubist.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22, 2014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D notified Bonney it did not view Cubist as 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24, 2014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Ropes &amp; Gray held separate discussions with Merck's counsel…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25, 2014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C contacted Goldman Sachs indicating its preliminary…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8978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25, 2014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58978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Bonney and Party B's CEO held a dinner meeting in Boston to…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26, 2014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Bonney spoke with Frazier. Frazier reiterated Merck's…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28, 2014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notified Cubist it was withdrawing from the…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29, 2014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Frazier requested additional assistance on certain…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30, 2014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Frazier informed Bonney that Merck remained committed to…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01, 2014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C informed Cubist's financial advisors it could not…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01, 2014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submitted a non-binding proposal to acquire Cubist…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01, 2014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held a meeting. Bonney provided an…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02, 2014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Bonney called Frazier and stated that if Merck increased…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02, 2014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Ropes &amp; Gray and Hughes Hubbard held a telephonic…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02, 2014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Cubist, Merck, and their representatives continued…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03, 2014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Frazier contacted Bonney and stated that $102.00 per share…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04, 2014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Cubist Board held a meeting. Bonney summarized the process…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07, 2014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Cubist Board held a telephonic meeting attended by all…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08, 2014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Cubist and Merck executed the Merger Agreement. The parties…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19, 2014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tender offer commenced on Merck's behalf, with the…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20, 2015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tender offer expired at 11:59 PM Eastern time.…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21, 2015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accepted for payment all validly tendered shares and…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Cubist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Cubist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