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Dec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Jan '19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May '19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Aug '19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'19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Dec '19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12.61</c:v>
                </c:pt>
                <c:pt idx="1">
                  <c:v>14.9</c:v>
                </c:pt>
                <c:pt idx="2">
                  <c:v>12.91</c:v>
                </c:pt>
                <c:pt idx="3">
                  <c:v>15.9</c:v>
                </c:pt>
                <c:pt idx="4">
                  <c:v>15.78</c:v>
                </c:pt>
                <c:pt idx="5">
                  <c:v>13.74</c:v>
                </c:pt>
                <c:pt idx="6">
                  <c:v>14.77</c:v>
                </c:pt>
                <c:pt idx="7">
                  <c:v>13.97</c:v>
                </c:pt>
                <c:pt idx="8">
                  <c:v>14.1</c:v>
                </c:pt>
                <c:pt idx="9">
                  <c:v>15.71</c:v>
                </c:pt>
                <c:pt idx="10">
                  <c:v>19.92</c:v>
                </c:pt>
                <c:pt idx="11">
                  <c:v>20.18</c:v>
                </c:pt>
                <c:pt idx="12">
                  <c:v>20.43</c:v>
                </c:pt>
                <c:pt idx="13">
                  <c:v>16.42</c:v>
                </c:pt>
                <c:pt idx="14">
                  <c:v>19.21</c:v>
                </c:pt>
                <c:pt idx="15">
                  <c:v>18.64</c:v>
                </c:pt>
                <c:pt idx="16">
                  <c:v>20.37</c:v>
                </c:pt>
                <c:pt idx="17">
                  <c:v>21.68</c:v>
                </c:pt>
                <c:pt idx="18">
                  <c:v>19.79</c:v>
                </c:pt>
                <c:pt idx="19">
                  <c:v>16.92</c:v>
                </c:pt>
                <c:pt idx="20">
                  <c:v>16.15</c:v>
                </c:pt>
                <c:pt idx="21">
                  <c:v>17.04</c:v>
                </c:pt>
                <c:pt idx="22">
                  <c:v>16.77</c:v>
                </c:pt>
                <c:pt idx="23">
                  <c:v>16.02</c:v>
                </c:pt>
                <c:pt idx="24">
                  <c:v>15.53</c:v>
                </c:pt>
                <c:pt idx="25">
                  <c:v>14.35</c:v>
                </c:pt>
                <c:pt idx="26">
                  <c:v>12.4</c:v>
                </c:pt>
                <c:pt idx="27">
                  <c:v>12.8</c:v>
                </c:pt>
                <c:pt idx="28">
                  <c:v>13.5</c:v>
                </c:pt>
                <c:pt idx="29">
                  <c:v>13.51</c:v>
                </c:pt>
                <c:pt idx="30">
                  <c:v>14.38</c:v>
                </c:pt>
                <c:pt idx="31">
                  <c:v>15.47</c:v>
                </c:pt>
                <c:pt idx="32">
                  <c:v>16.54</c:v>
                </c:pt>
                <c:pt idx="33">
                  <c:v>15.55</c:v>
                </c:pt>
                <c:pt idx="34">
                  <c:v>15.92</c:v>
                </c:pt>
                <c:pt idx="35">
                  <c:v>14.99</c:v>
                </c:pt>
                <c:pt idx="36">
                  <c:v>16.71</c:v>
                </c:pt>
                <c:pt idx="37">
                  <c:v>16.89</c:v>
                </c:pt>
                <c:pt idx="38">
                  <c:v>17.91</c:v>
                </c:pt>
                <c:pt idx="39">
                  <c:v>18.62</c:v>
                </c:pt>
                <c:pt idx="40">
                  <c:v>18.96</c:v>
                </c:pt>
                <c:pt idx="41">
                  <c:v>18.66</c:v>
                </c:pt>
                <c:pt idx="42">
                  <c:v>17.57</c:v>
                </c:pt>
                <c:pt idx="43">
                  <c:v>13.31</c:v>
                </c:pt>
                <c:pt idx="44">
                  <c:v>13.03</c:v>
                </c:pt>
                <c:pt idx="45">
                  <c:v>12.63</c:v>
                </c:pt>
                <c:pt idx="46">
                  <c:v>11.78</c:v>
                </c:pt>
                <c:pt idx="47">
                  <c:v>14.41</c:v>
                </c:pt>
                <c:pt idx="48">
                  <c:v>16.03</c:v>
                </c:pt>
                <c:pt idx="49">
                  <c:v>15.29</c:v>
                </c:pt>
                <c:pt idx="50">
                  <c:v>16.96</c:v>
                </c:pt>
                <c:pt idx="51">
                  <c:v>17.9</c:v>
                </c:pt>
                <c:pt idx="52">
                  <c:v>25.03</c:v>
                </c:pt>
                <c:pt idx="53">
                  <c:v>68.03</c:v>
                </c:pt>
                <c:pt idx="54">
                  <c:v>68.02</c:v>
                </c:pt>
                <c:pt idx="55">
                  <c:v>70.96</c:v>
                </c:pt>
                <c:pt idx="56">
                  <c:v>69.35</c:v>
                </c:pt>
                <c:pt idx="57">
                  <c:v>69.0</c:v>
                </c:pt>
                <c:pt idx="58">
                  <c:v>68.03</c:v>
                </c:pt>
                <c:pt idx="59">
                  <c:v>67.99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Dec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Jan '19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May '19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Aug '19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'19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Dec '19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46">
                  <c:v>11.78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Dec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Jan '19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May '19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Aug '19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'19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Dec '19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Sheet1!$D$2:$D$61</c:f>
              <c:numCache>
                <c:formatCode>General</c:formatCode>
                <c:ptCount val="60"/>
                <c:pt idx="2">
                  <c:v>12.91</c:v>
                </c:pt>
                <c:pt idx="9">
                  <c:v>15.71</c:v>
                </c:pt>
                <c:pt idx="42">
                  <c:v>17.57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Sheet1!$A$2:$A$61</c:f>
              <c:strCache>
                <c:ptCount val="60"/>
                <c:pt idx="0">
                  <c:v>Dec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>Jan '19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Mar '19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>May '19</c:v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>Aug '19</c:v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'19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Dec '19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Sheet1!$E$2:$E$61</c:f>
              <c:numCache>
                <c:formatCode>General</c:formatCode>
                <c:ptCount val="60"/>
                <c:pt idx="52">
                  <c:v>25.03</c:v>
                </c:pt>
                <c:pt idx="53">
                  <c:v>68.03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Synthorx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THOR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324%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08, 2019   ·   Closed Jan 23, 2020   ·   Status: completed   ·   Pre-ann. volume 1.55×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Synthorx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Synthorx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3566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52126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598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89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54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531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712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724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2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33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04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041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9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079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452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869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341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13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049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57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465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4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770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478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602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739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97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211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211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68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919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155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1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627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863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3099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33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3571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8080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044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348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attended the European Society…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completed its initial public offering at $11.00…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met with Sanofi, Company A, and Company B at the…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29, 2019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attended the American Association for Cancer…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entered into a confidentiality agreement with…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met with Dr. John Reed, Global…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attended the ASCO annual…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attended the BIO International…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entered into a confidentiality agreement with…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held a webex conference with Company A to discuss…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held a business development…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held in-person meetings with…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met with representatives of…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submitted a non-binding term sheet for a partnering…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entered into a confidentiality agreement with…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2019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verbally communicated to Sanofi that its proposed…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2019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met with representatives of…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Laura Shawver, CEO of Synthorx, met telephonically with…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2019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Shawver communicated to Company B that its proposed…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2019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Dr. Shawver and Dr. Pratik Shah, Chairman of the Board of…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B terminated potential partnering discussions with…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2019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held a business development…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Synthorx gave Company A access to portions of the…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Synthorx held in-person meetings with…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Synthorx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submitted an unsolicited, non-binding offer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Synthorx Board held a special telephonic meeting with…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Centerview representative contacted Sanofi, communicating…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representative of Company A contacted Centerview and…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Synthorx Board held a special telephonic meeting with…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Centerview representative conveyed to Sanofi that the…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Morgan Stanley, Sanofi’s financial advisor, contacted…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submitted a revised written non-binding offer of…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03,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 representative of Company C contacted Centerview…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04, 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Centerview sent a draft merger agreement to Sanofi, and…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submitted an unsolicited written offer to acquire…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submitted an updated offer to acquire Synthorx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Weil circulated an updated draft of the merger agreement…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submitted an unsolicited offer to acquire…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execution of the Merger Agreement was publicly…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the tender offer to acquire all…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 tender offer expired. Purchaser accepted for payment…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Synthorx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2019-02-15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($15.71→$19.92)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2019-10-04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($17.57→$13.31)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2018-12-28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($12.91→$15.9)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345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($11.78→$14.41)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Synthorx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2019-03-12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Reports Fourth Quarter and Full Year 2018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2019-04-30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Reports First Quarter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2019-08-01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Reports Second Quarter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Reports Third Quarter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2019-11-05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to Present THOR-809 Data at the American College of Rheumatology (ACR) Annual Meeting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2019-12-09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Synthorx Merger Investigation: Halper Sadeh LLP Announces Investigation Into Whether the Sale of Synthorx…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