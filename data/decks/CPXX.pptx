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Sheet1!$A$2:$A$108</c:f>
              <c:strCache>
                <c:ptCount val="107"/>
                <c:pt idx="0">
                  <c:v>May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Aug '14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Oct '14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Jan '15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Mar '15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May '15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Jul '15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Sep '15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Nov '15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Jan '16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May '16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</c:strCache>
            </c:strRef>
          </c:cat>
          <c:val>
            <c:numRef>
              <c:f>Sheet1!$B$2:$B$108</c:f>
              <c:numCache>
                <c:formatCode>General</c:formatCode>
                <c:ptCount val="107"/>
                <c:pt idx="0">
                  <c:v>2.69</c:v>
                </c:pt>
                <c:pt idx="1">
                  <c:v>2.66</c:v>
                </c:pt>
                <c:pt idx="2">
                  <c:v>2.93</c:v>
                </c:pt>
                <c:pt idx="3">
                  <c:v>3.03</c:v>
                </c:pt>
                <c:pt idx="4">
                  <c:v>2.95</c:v>
                </c:pt>
                <c:pt idx="5">
                  <c:v>3.15</c:v>
                </c:pt>
                <c:pt idx="6">
                  <c:v>3.31</c:v>
                </c:pt>
                <c:pt idx="7">
                  <c:v>3.42</c:v>
                </c:pt>
                <c:pt idx="8">
                  <c:v>3.54</c:v>
                </c:pt>
                <c:pt idx="9">
                  <c:v>3.31</c:v>
                </c:pt>
                <c:pt idx="10">
                  <c:v>3.63</c:v>
                </c:pt>
                <c:pt idx="11">
                  <c:v>3.85</c:v>
                </c:pt>
                <c:pt idx="12">
                  <c:v>3.98</c:v>
                </c:pt>
                <c:pt idx="13">
                  <c:v>3.84</c:v>
                </c:pt>
                <c:pt idx="14">
                  <c:v>3.98</c:v>
                </c:pt>
                <c:pt idx="15">
                  <c:v>4.26</c:v>
                </c:pt>
                <c:pt idx="16">
                  <c:v>4.13</c:v>
                </c:pt>
                <c:pt idx="17">
                  <c:v>4.83</c:v>
                </c:pt>
                <c:pt idx="18">
                  <c:v>5.45</c:v>
                </c:pt>
                <c:pt idx="19">
                  <c:v>5.19</c:v>
                </c:pt>
                <c:pt idx="20">
                  <c:v>5.17</c:v>
                </c:pt>
                <c:pt idx="21">
                  <c:v>5.34</c:v>
                </c:pt>
                <c:pt idx="22">
                  <c:v>5.75</c:v>
                </c:pt>
                <c:pt idx="23">
                  <c:v>6.3</c:v>
                </c:pt>
                <c:pt idx="24">
                  <c:v>6.79</c:v>
                </c:pt>
                <c:pt idx="25">
                  <c:v>7.15</c:v>
                </c:pt>
                <c:pt idx="26">
                  <c:v>7.54</c:v>
                </c:pt>
                <c:pt idx="27">
                  <c:v>7.55</c:v>
                </c:pt>
                <c:pt idx="28">
                  <c:v>8.31</c:v>
                </c:pt>
                <c:pt idx="29">
                  <c:v>8.53</c:v>
                </c:pt>
                <c:pt idx="30">
                  <c:v>9.4</c:v>
                </c:pt>
                <c:pt idx="31">
                  <c:v>8.96</c:v>
                </c:pt>
                <c:pt idx="32">
                  <c:v>9.51</c:v>
                </c:pt>
                <c:pt idx="33">
                  <c:v>9.25</c:v>
                </c:pt>
                <c:pt idx="34">
                  <c:v>9.35</c:v>
                </c:pt>
                <c:pt idx="35">
                  <c:v>9.63</c:v>
                </c:pt>
                <c:pt idx="36">
                  <c:v>10.45</c:v>
                </c:pt>
                <c:pt idx="37">
                  <c:v>10.65</c:v>
                </c:pt>
                <c:pt idx="38">
                  <c:v>10.42</c:v>
                </c:pt>
                <c:pt idx="39">
                  <c:v>10.09</c:v>
                </c:pt>
                <c:pt idx="40">
                  <c:v>10.6</c:v>
                </c:pt>
                <c:pt idx="41">
                  <c:v>10.15</c:v>
                </c:pt>
                <c:pt idx="42">
                  <c:v>10.67</c:v>
                </c:pt>
                <c:pt idx="43">
                  <c:v>10.88</c:v>
                </c:pt>
                <c:pt idx="44">
                  <c:v>11.11</c:v>
                </c:pt>
                <c:pt idx="45">
                  <c:v>11.46</c:v>
                </c:pt>
                <c:pt idx="46">
                  <c:v>11.57</c:v>
                </c:pt>
                <c:pt idx="47">
                  <c:v>11.78</c:v>
                </c:pt>
                <c:pt idx="48">
                  <c:v>12.26</c:v>
                </c:pt>
                <c:pt idx="49">
                  <c:v>12.4</c:v>
                </c:pt>
                <c:pt idx="50">
                  <c:v>12.62</c:v>
                </c:pt>
                <c:pt idx="51">
                  <c:v>12.81</c:v>
                </c:pt>
                <c:pt idx="52">
                  <c:v>13.65</c:v>
                </c:pt>
                <c:pt idx="53">
                  <c:v>12.97</c:v>
                </c:pt>
                <c:pt idx="54">
                  <c:v>13.03</c:v>
                </c:pt>
                <c:pt idx="55">
                  <c:v>13.13</c:v>
                </c:pt>
                <c:pt idx="56">
                  <c:v>13.4</c:v>
                </c:pt>
                <c:pt idx="57">
                  <c:v>13.78</c:v>
                </c:pt>
                <c:pt idx="58">
                  <c:v>12.67</c:v>
                </c:pt>
                <c:pt idx="59">
                  <c:v>11.8</c:v>
                </c:pt>
                <c:pt idx="60">
                  <c:v>12.41</c:v>
                </c:pt>
                <c:pt idx="61">
                  <c:v>12.42</c:v>
                </c:pt>
                <c:pt idx="62">
                  <c:v>12.16</c:v>
                </c:pt>
                <c:pt idx="63">
                  <c:v>12.65</c:v>
                </c:pt>
                <c:pt idx="64">
                  <c:v>13.02</c:v>
                </c:pt>
                <c:pt idx="65">
                  <c:v>13.13</c:v>
                </c:pt>
                <c:pt idx="66">
                  <c:v>13.39</c:v>
                </c:pt>
                <c:pt idx="67">
                  <c:v>12.82</c:v>
                </c:pt>
                <c:pt idx="68">
                  <c:v>12.25</c:v>
                </c:pt>
                <c:pt idx="69">
                  <c:v>12.68</c:v>
                </c:pt>
                <c:pt idx="70">
                  <c:v>13.26</c:v>
                </c:pt>
                <c:pt idx="71">
                  <c:v>13.48</c:v>
                </c:pt>
                <c:pt idx="72">
                  <c:v>13.96</c:v>
                </c:pt>
                <c:pt idx="73">
                  <c:v>13.51</c:v>
                </c:pt>
                <c:pt idx="74">
                  <c:v>14.05</c:v>
                </c:pt>
                <c:pt idx="75">
                  <c:v>14.77</c:v>
                </c:pt>
                <c:pt idx="76">
                  <c:v>15.4</c:v>
                </c:pt>
                <c:pt idx="77">
                  <c:v>15.32</c:v>
                </c:pt>
                <c:pt idx="78">
                  <c:v>15.35</c:v>
                </c:pt>
                <c:pt idx="79">
                  <c:v>15.21</c:v>
                </c:pt>
                <c:pt idx="80">
                  <c:v>15.67</c:v>
                </c:pt>
                <c:pt idx="81">
                  <c:v>14.41</c:v>
                </c:pt>
                <c:pt idx="82">
                  <c:v>13.6</c:v>
                </c:pt>
                <c:pt idx="83">
                  <c:v>13.83</c:v>
                </c:pt>
                <c:pt idx="84">
                  <c:v>13.49</c:v>
                </c:pt>
                <c:pt idx="85">
                  <c:v>12.65</c:v>
                </c:pt>
                <c:pt idx="86">
                  <c:v>12.39</c:v>
                </c:pt>
                <c:pt idx="87">
                  <c:v>11.94</c:v>
                </c:pt>
                <c:pt idx="88">
                  <c:v>1.68</c:v>
                </c:pt>
                <c:pt idx="89">
                  <c:v>8.94</c:v>
                </c:pt>
                <c:pt idx="90">
                  <c:v>9.3</c:v>
                </c:pt>
                <c:pt idx="91">
                  <c:v>9.48</c:v>
                </c:pt>
                <c:pt idx="92">
                  <c:v>10.41</c:v>
                </c:pt>
                <c:pt idx="93">
                  <c:v>13.84</c:v>
                </c:pt>
                <c:pt idx="94">
                  <c:v>14.99</c:v>
                </c:pt>
                <c:pt idx="95">
                  <c:v>14.84</c:v>
                </c:pt>
                <c:pt idx="96">
                  <c:v>16.98</c:v>
                </c:pt>
                <c:pt idx="97">
                  <c:v>16.38</c:v>
                </c:pt>
                <c:pt idx="98">
                  <c:v>16.9</c:v>
                </c:pt>
                <c:pt idx="99">
                  <c:v>17.5</c:v>
                </c:pt>
                <c:pt idx="100">
                  <c:v>30.24</c:v>
                </c:pt>
                <c:pt idx="101">
                  <c:v>30.25</c:v>
                </c:pt>
                <c:pt idx="102">
                  <c:v>30.25</c:v>
                </c:pt>
                <c:pt idx="103">
                  <c:v>30.23</c:v>
                </c:pt>
                <c:pt idx="104">
                  <c:v>30.25</c:v>
                </c:pt>
                <c:pt idx="105">
                  <c:v>30.25</c:v>
                </c:pt>
                <c:pt idx="106">
                  <c:v>30.25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Sheet1!$A$2:$A$108</c:f>
              <c:strCache>
                <c:ptCount val="107"/>
                <c:pt idx="0">
                  <c:v>May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Aug '14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Oct '14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Jan '15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Mar '15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May '15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Jul '15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Sep '15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Nov '15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Jan '16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May '16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</c:strCache>
            </c:strRef>
          </c:cat>
          <c:val>
            <c:numRef>
              <c:f>Sheet1!$C$2:$C$108</c:f>
              <c:numCache>
                <c:formatCode>General</c:formatCode>
                <c:ptCount val="107"/>
                <c:pt idx="88">
                  <c:v>1.68</c:v>
                </c:pt>
                <c:pt idx="95">
                  <c:v>14.84</c:v>
                </c:pt>
                <c:pt idx="97">
                  <c:v>16.38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Sheet1!$A$2:$A$108</c:f>
              <c:strCache>
                <c:ptCount val="107"/>
                <c:pt idx="0">
                  <c:v>May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Aug '14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Oct '14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Jan '15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Mar '15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May '15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Jul '15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Sep '15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Nov '15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Jan '16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May '16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</c:strCache>
            </c:strRef>
          </c:cat>
          <c:val>
            <c:numRef>
              <c:f>Sheet1!$D$2:$D$108</c:f>
              <c:numCache>
                <c:formatCode>General</c:formatCode>
                <c:ptCount val="107"/>
                <c:pt idx="99">
                  <c:v>17.5</c:v>
                </c:pt>
                <c:pt idx="100">
                  <c:v>30.24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Celator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CPXX  ·  acquired by Jazz Pharmaceuticals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$30.25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104%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May 27, 2016   ·   Closed Jul 12, 2016   ·   Status: completed   ·   Pre-ann. volume 0.45×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Celator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Celator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71800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0360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663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458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1263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304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8164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596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96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702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2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706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881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230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326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374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120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819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0518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216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566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566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740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264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264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264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439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3836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3836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4884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5408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5758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758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6282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282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456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6456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6456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66313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66313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6313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6313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66313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73300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90766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44910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Oct 2014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Jul 2016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28, 2014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Celator completed public offering of 7.6 million shares and…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06, 2014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meeting between Celator management (Scott Jackson…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22, 2014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Celator and Jazz Pharmaceuticals entered into mutual…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12, 2015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Celator and Jazz met again at San Francisco industry…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17, 2015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Jazz and Party A submitted non-binding indications of…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2015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Kirkland &amp; Ellis LLP retained as Celator's legal advisor…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24, 2015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Celator publicly announced final induction response rate…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24, 2015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Celator pursued business development strategy focused on…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11, 2016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Derek Miller met Jazz representatives at San Francisco…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13, 2016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Scott Jackson, Michael Dougherty (Executive Chairman), and…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14, 2016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Celator announced positive Phase 3 trial results for VYXEOS…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15, 2016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Stock price surged to $8.94 per share following Phase 3…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17, 2016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meeting to discuss proposed financing strategy; Board…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29, 2016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Celator completed public offering of 4.6 million shares at…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04, 2016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Jazz representative contacted Derek Miller expressing…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14, 2016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Celator entered into confidentiality agreement with Party 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18, 2016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Derek Miller and other Celator representatives met Jazz…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22, 2016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Regular Board meeting; management updated Board on Phase 3…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26, 2016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Derek Miller and Celator representatives met Jazz…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28, 2016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Jazz CEO Bruce Cozadd called Michael Dougherty and Scott…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28, 2016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held telephonic meeting with Board…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29, 2016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MTS contacted Jazz indicating Company considering…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02, 2016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held management meetings with Potential Bidders for…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02, 2016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meeting with management and advisors; discussed…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46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Celator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02, 2016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MTS distributed letter to approximately 35 Potential…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03, 2016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Celator entered into confidentiality agreement with Party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11, 2016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Derek Miller and other Celator representatives met with…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11, 2016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meeting; MTS provided presentation on level of…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17, 2016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Scott Jackson, Michael Dougherty and Celator…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20, 2016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Celator received six non-binding indications of interest…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22, 2016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meeting; management reviewed financial matters and…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22, 2016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MTS distributed letter to four acquisition bidders…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25, 2016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 informed MTS it was no longer interested in…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25, 2016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Celator received revised indications from Jazz…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26, 2016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meeting; discussed revised indications; Board focused…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26, 2016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MTS contacted Jazz, Party B and Party D highlighting…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26, 2016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Celator received revised indications: Jazz $30.25/share…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27, 2016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held telephonic meeting; MTS reviewed preliminary…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27, 2016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MTS contacted Jazz informing of Board's decision; Kirkland…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27, 2016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Kirkland &amp; Ellis and Cooley worked to finalize merger…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27, 2016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held telephonic meeting to approve proposed merger…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27, 2016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Parties executed Merger Agreement; Jazz and certain Celator…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31, 2016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Jazz and Celator issued joint press release announcing…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10, 2016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commenced tender offer at $30.25 per share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11, 2016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expired at 11:59 p.m. New York 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12, 2016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36,516,173 shares tendered (approximately 81.13% of…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Celator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Celator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2016-03-14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Positive Phase 3 trial results for VYXEOS announced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