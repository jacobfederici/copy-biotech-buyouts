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Close</c:v>
                </c:pt>
              </c:strCache>
            </c:strRef>
          </c:tx>
          <c:spPr>
            <a:ln w="25400">
              <a:solidFill>
                <a:srgbClr val="2E78D2"/>
              </a:solidFill>
            </a:ln>
          </c:spPr>
          <c:marker>
            <c:symbol val="none"/>
          </c:marker>
          <c:cat>
            <c:strRef>
              <c:f>Sheet1!$A$2:$A$67</c:f>
              <c:strCache>
                <c:ptCount val="66"/>
                <c:pt idx="0">
                  <c:v>Feb '14</c:v>
                </c:pt>
                <c:pt idx="1">
                  <c:v/>
                </c:pt>
                <c:pt idx="2">
                  <c:v/>
                </c:pt>
                <c:pt idx="3">
                  <c:v/>
                </c:pt>
                <c:pt idx="4">
                  <c:v/>
                </c:pt>
                <c:pt idx="5">
                  <c:v/>
                </c:pt>
                <c:pt idx="6">
                  <c:v>Mar '14</c:v>
                </c:pt>
                <c:pt idx="7">
                  <c:v/>
                </c:pt>
                <c:pt idx="8">
                  <c:v/>
                </c:pt>
                <c:pt idx="9">
                  <c:v/>
                </c:pt>
                <c:pt idx="10">
                  <c:v/>
                </c:pt>
                <c:pt idx="11">
                  <c:v/>
                </c:pt>
                <c:pt idx="12">
                  <c:v>May '14</c:v>
                </c:pt>
                <c:pt idx="13">
                  <c:v/>
                </c:pt>
                <c:pt idx="14">
                  <c:v/>
                </c:pt>
                <c:pt idx="15">
                  <c:v/>
                </c:pt>
                <c:pt idx="16">
                  <c:v/>
                </c:pt>
                <c:pt idx="17">
                  <c:v/>
                </c:pt>
                <c:pt idx="18">
                  <c:v>Jun '14</c:v>
                </c:pt>
                <c:pt idx="19">
                  <c:v/>
                </c:pt>
                <c:pt idx="20">
                  <c:v/>
                </c:pt>
                <c:pt idx="21">
                  <c:v/>
                </c:pt>
                <c:pt idx="22">
                  <c:v/>
                </c:pt>
                <c:pt idx="23">
                  <c:v/>
                </c:pt>
                <c:pt idx="24">
                  <c:v>Jul '14</c:v>
                </c:pt>
                <c:pt idx="25">
                  <c:v/>
                </c:pt>
                <c:pt idx="26">
                  <c:v/>
                </c:pt>
                <c:pt idx="27">
                  <c:v/>
                </c:pt>
                <c:pt idx="28">
                  <c:v/>
                </c:pt>
                <c:pt idx="29">
                  <c:v/>
                </c:pt>
                <c:pt idx="30">
                  <c:v>Sep '14</c:v>
                </c:pt>
                <c:pt idx="31">
                  <c:v/>
                </c:pt>
                <c:pt idx="32">
                  <c:v/>
                </c:pt>
                <c:pt idx="33">
                  <c:v/>
                </c:pt>
                <c:pt idx="34">
                  <c:v/>
                </c:pt>
                <c:pt idx="35">
                  <c:v/>
                </c:pt>
                <c:pt idx="36">
                  <c:v>Oct '14</c:v>
                </c:pt>
                <c:pt idx="37">
                  <c:v/>
                </c:pt>
                <c:pt idx="38">
                  <c:v/>
                </c:pt>
                <c:pt idx="39">
                  <c:v/>
                </c:pt>
                <c:pt idx="40">
                  <c:v/>
                </c:pt>
                <c:pt idx="41">
                  <c:v/>
                </c:pt>
                <c:pt idx="42">
                  <c:v>Nov '14</c:v>
                </c:pt>
                <c:pt idx="43">
                  <c:v/>
                </c:pt>
                <c:pt idx="44">
                  <c:v/>
                </c:pt>
                <c:pt idx="45">
                  <c:v/>
                </c:pt>
                <c:pt idx="46">
                  <c:v/>
                </c:pt>
                <c:pt idx="47">
                  <c:v/>
                </c:pt>
                <c:pt idx="48">
                  <c:v>Jan '15</c:v>
                </c:pt>
                <c:pt idx="49">
                  <c:v/>
                </c:pt>
                <c:pt idx="50">
                  <c:v/>
                </c:pt>
                <c:pt idx="51">
                  <c:v/>
                </c:pt>
                <c:pt idx="52">
                  <c:v/>
                </c:pt>
                <c:pt idx="53">
                  <c:v/>
                </c:pt>
                <c:pt idx="54">
                  <c:v>Feb '15</c:v>
                </c:pt>
                <c:pt idx="55">
                  <c:v/>
                </c:pt>
                <c:pt idx="56">
                  <c:v/>
                </c:pt>
                <c:pt idx="57">
                  <c:v/>
                </c:pt>
                <c:pt idx="58">
                  <c:v/>
                </c:pt>
                <c:pt idx="59">
                  <c:v/>
                </c:pt>
                <c:pt idx="60">
                  <c:v>Apr '15</c:v>
                </c:pt>
                <c:pt idx="61">
                  <c:v/>
                </c:pt>
                <c:pt idx="62">
                  <c:v/>
                </c:pt>
                <c:pt idx="63">
                  <c:v/>
                </c:pt>
                <c:pt idx="64">
                  <c:v/>
                </c:pt>
                <c:pt idx="65">
                  <c:v/>
                </c:pt>
              </c:strCache>
            </c:strRef>
          </c:cat>
          <c:val>
            <c:numRef>
              <c:f>Sheet1!$B$2:$B$67</c:f>
              <c:numCache>
                <c:formatCode>General</c:formatCode>
                <c:ptCount val="66"/>
                <c:pt idx="0">
                  <c:v>17.65</c:v>
                </c:pt>
                <c:pt idx="1">
                  <c:v>23.93</c:v>
                </c:pt>
                <c:pt idx="2">
                  <c:v>24.11</c:v>
                </c:pt>
                <c:pt idx="3">
                  <c:v>24.7</c:v>
                </c:pt>
                <c:pt idx="4">
                  <c:v>29.66</c:v>
                </c:pt>
                <c:pt idx="5">
                  <c:v>30.4</c:v>
                </c:pt>
                <c:pt idx="6">
                  <c:v>29.65</c:v>
                </c:pt>
                <c:pt idx="7">
                  <c:v>30.35</c:v>
                </c:pt>
                <c:pt idx="8">
                  <c:v>29.74</c:v>
                </c:pt>
                <c:pt idx="9">
                  <c:v>29.94</c:v>
                </c:pt>
                <c:pt idx="10">
                  <c:v>20.86</c:v>
                </c:pt>
                <c:pt idx="11">
                  <c:v>23.38</c:v>
                </c:pt>
                <c:pt idx="12">
                  <c:v>18.92</c:v>
                </c:pt>
                <c:pt idx="13">
                  <c:v>16.45</c:v>
                </c:pt>
                <c:pt idx="14">
                  <c:v>16.53</c:v>
                </c:pt>
                <c:pt idx="15">
                  <c:v>18.24</c:v>
                </c:pt>
                <c:pt idx="16">
                  <c:v>21.15</c:v>
                </c:pt>
                <c:pt idx="17">
                  <c:v>21.1</c:v>
                </c:pt>
                <c:pt idx="18">
                  <c:v>20.15</c:v>
                </c:pt>
                <c:pt idx="19">
                  <c:v>22.73</c:v>
                </c:pt>
                <c:pt idx="20">
                  <c:v>22.65</c:v>
                </c:pt>
                <c:pt idx="21">
                  <c:v>25.22</c:v>
                </c:pt>
                <c:pt idx="22">
                  <c:v>20.01</c:v>
                </c:pt>
                <c:pt idx="23">
                  <c:v>19.39</c:v>
                </c:pt>
                <c:pt idx="24">
                  <c:v>20.27</c:v>
                </c:pt>
                <c:pt idx="25">
                  <c:v>17.09</c:v>
                </c:pt>
                <c:pt idx="26">
                  <c:v>19.5</c:v>
                </c:pt>
                <c:pt idx="27">
                  <c:v>20.17</c:v>
                </c:pt>
                <c:pt idx="28">
                  <c:v>20.76</c:v>
                </c:pt>
                <c:pt idx="29">
                  <c:v>22.99</c:v>
                </c:pt>
                <c:pt idx="30">
                  <c:v>23.33</c:v>
                </c:pt>
                <c:pt idx="31">
                  <c:v>22.78</c:v>
                </c:pt>
                <c:pt idx="32">
                  <c:v>22.54</c:v>
                </c:pt>
                <c:pt idx="33">
                  <c:v>24.64</c:v>
                </c:pt>
                <c:pt idx="34">
                  <c:v>27.29</c:v>
                </c:pt>
                <c:pt idx="35">
                  <c:v>24.1</c:v>
                </c:pt>
                <c:pt idx="36">
                  <c:v>25.25</c:v>
                </c:pt>
                <c:pt idx="37">
                  <c:v>27.39</c:v>
                </c:pt>
                <c:pt idx="38">
                  <c:v>27.1</c:v>
                </c:pt>
                <c:pt idx="39">
                  <c:v>27.72</c:v>
                </c:pt>
                <c:pt idx="40">
                  <c:v>24.56</c:v>
                </c:pt>
                <c:pt idx="41">
                  <c:v>24.71</c:v>
                </c:pt>
                <c:pt idx="42">
                  <c:v>24.23</c:v>
                </c:pt>
                <c:pt idx="43">
                  <c:v>23.71</c:v>
                </c:pt>
                <c:pt idx="44">
                  <c:v>24.9</c:v>
                </c:pt>
                <c:pt idx="45">
                  <c:v>53.37</c:v>
                </c:pt>
                <c:pt idx="46">
                  <c:v>49.5</c:v>
                </c:pt>
                <c:pt idx="47">
                  <c:v>53.11</c:v>
                </c:pt>
                <c:pt idx="48">
                  <c:v>59.34</c:v>
                </c:pt>
                <c:pt idx="49">
                  <c:v>59.65</c:v>
                </c:pt>
                <c:pt idx="50">
                  <c:v>58.46</c:v>
                </c:pt>
                <c:pt idx="51">
                  <c:v>61.45</c:v>
                </c:pt>
                <c:pt idx="52">
                  <c:v>59.07</c:v>
                </c:pt>
                <c:pt idx="53">
                  <c:v>65.76</c:v>
                </c:pt>
                <c:pt idx="54">
                  <c:v>70.25</c:v>
                </c:pt>
                <c:pt idx="55">
                  <c:v>67.24</c:v>
                </c:pt>
                <c:pt idx="56">
                  <c:v>69.14</c:v>
                </c:pt>
                <c:pt idx="57">
                  <c:v>79.06</c:v>
                </c:pt>
                <c:pt idx="58">
                  <c:v>79.99</c:v>
                </c:pt>
                <c:pt idx="59">
                  <c:v>70.91</c:v>
                </c:pt>
                <c:pt idx="60">
                  <c:v>100.55</c:v>
                </c:pt>
                <c:pt idx="61">
                  <c:v>100.58</c:v>
                </c:pt>
                <c:pt idx="62">
                  <c:v>100.68</c:v>
                </c:pt>
                <c:pt idx="63">
                  <c:v>100.88</c:v>
                </c:pt>
                <c:pt idx="64">
                  <c:v>100.95</c:v>
                </c:pt>
                <c:pt idx="65">
                  <c:v>100.96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Rumor</c:v>
                </c:pt>
              </c:strCache>
            </c:strRef>
          </c:tx>
          <c:spPr>
            <a:ln>
              <a:noFill/>
            </a:ln>
          </c:spPr>
          <c:marker>
            <c:symbol val="circle"/>
            <c:size val="10"/>
            <c:spPr>
              <a:solidFill>
                <a:srgbClr val="E8455F"/>
              </a:solidFill>
              <a:ln w="12700">
                <a:solidFill>
                  <a:srgbClr val="FFFFFF"/>
                </a:solidFill>
              </a:ln>
            </c:spPr>
          </c:marker>
          <c:cat>
            <c:strRef>
              <c:f>Sheet1!$A$2:$A$67</c:f>
              <c:strCache>
                <c:ptCount val="66"/>
                <c:pt idx="0">
                  <c:v>Feb '14</c:v>
                </c:pt>
                <c:pt idx="1">
                  <c:v/>
                </c:pt>
                <c:pt idx="2">
                  <c:v/>
                </c:pt>
                <c:pt idx="3">
                  <c:v/>
                </c:pt>
                <c:pt idx="4">
                  <c:v/>
                </c:pt>
                <c:pt idx="5">
                  <c:v/>
                </c:pt>
                <c:pt idx="6">
                  <c:v>Mar '14</c:v>
                </c:pt>
                <c:pt idx="7">
                  <c:v/>
                </c:pt>
                <c:pt idx="8">
                  <c:v/>
                </c:pt>
                <c:pt idx="9">
                  <c:v/>
                </c:pt>
                <c:pt idx="10">
                  <c:v/>
                </c:pt>
                <c:pt idx="11">
                  <c:v/>
                </c:pt>
                <c:pt idx="12">
                  <c:v>May '14</c:v>
                </c:pt>
                <c:pt idx="13">
                  <c:v/>
                </c:pt>
                <c:pt idx="14">
                  <c:v/>
                </c:pt>
                <c:pt idx="15">
                  <c:v/>
                </c:pt>
                <c:pt idx="16">
                  <c:v/>
                </c:pt>
                <c:pt idx="17">
                  <c:v/>
                </c:pt>
                <c:pt idx="18">
                  <c:v>Jun '14</c:v>
                </c:pt>
                <c:pt idx="19">
                  <c:v/>
                </c:pt>
                <c:pt idx="20">
                  <c:v/>
                </c:pt>
                <c:pt idx="21">
                  <c:v/>
                </c:pt>
                <c:pt idx="22">
                  <c:v/>
                </c:pt>
                <c:pt idx="23">
                  <c:v/>
                </c:pt>
                <c:pt idx="24">
                  <c:v>Jul '14</c:v>
                </c:pt>
                <c:pt idx="25">
                  <c:v/>
                </c:pt>
                <c:pt idx="26">
                  <c:v/>
                </c:pt>
                <c:pt idx="27">
                  <c:v/>
                </c:pt>
                <c:pt idx="28">
                  <c:v/>
                </c:pt>
                <c:pt idx="29">
                  <c:v/>
                </c:pt>
                <c:pt idx="30">
                  <c:v>Sep '14</c:v>
                </c:pt>
                <c:pt idx="31">
                  <c:v/>
                </c:pt>
                <c:pt idx="32">
                  <c:v/>
                </c:pt>
                <c:pt idx="33">
                  <c:v/>
                </c:pt>
                <c:pt idx="34">
                  <c:v/>
                </c:pt>
                <c:pt idx="35">
                  <c:v/>
                </c:pt>
                <c:pt idx="36">
                  <c:v>Oct '14</c:v>
                </c:pt>
                <c:pt idx="37">
                  <c:v/>
                </c:pt>
                <c:pt idx="38">
                  <c:v/>
                </c:pt>
                <c:pt idx="39">
                  <c:v/>
                </c:pt>
                <c:pt idx="40">
                  <c:v/>
                </c:pt>
                <c:pt idx="41">
                  <c:v/>
                </c:pt>
                <c:pt idx="42">
                  <c:v>Nov '14</c:v>
                </c:pt>
                <c:pt idx="43">
                  <c:v/>
                </c:pt>
                <c:pt idx="44">
                  <c:v/>
                </c:pt>
                <c:pt idx="45">
                  <c:v/>
                </c:pt>
                <c:pt idx="46">
                  <c:v/>
                </c:pt>
                <c:pt idx="47">
                  <c:v/>
                </c:pt>
                <c:pt idx="48">
                  <c:v>Jan '15</c:v>
                </c:pt>
                <c:pt idx="49">
                  <c:v/>
                </c:pt>
                <c:pt idx="50">
                  <c:v/>
                </c:pt>
                <c:pt idx="51">
                  <c:v/>
                </c:pt>
                <c:pt idx="52">
                  <c:v/>
                </c:pt>
                <c:pt idx="53">
                  <c:v/>
                </c:pt>
                <c:pt idx="54">
                  <c:v>Feb '15</c:v>
                </c:pt>
                <c:pt idx="55">
                  <c:v/>
                </c:pt>
                <c:pt idx="56">
                  <c:v/>
                </c:pt>
                <c:pt idx="57">
                  <c:v/>
                </c:pt>
                <c:pt idx="58">
                  <c:v/>
                </c:pt>
                <c:pt idx="59">
                  <c:v/>
                </c:pt>
                <c:pt idx="60">
                  <c:v>Apr '15</c:v>
                </c:pt>
                <c:pt idx="61">
                  <c:v/>
                </c:pt>
                <c:pt idx="62">
                  <c:v/>
                </c:pt>
                <c:pt idx="63">
                  <c:v/>
                </c:pt>
                <c:pt idx="64">
                  <c:v/>
                </c:pt>
                <c:pt idx="65">
                  <c:v/>
                </c:pt>
              </c:strCache>
            </c:strRef>
          </c:cat>
          <c:val>
            <c:numRef>
              <c:f>Sheet1!$C$2:$C$67</c:f>
              <c:numCache>
                <c:formatCode>General</c:formatCode>
                <c:ptCount val="66"/>
                <c:pt idx="0">
                  <c:v>17.65</c:v>
                </c:pt>
                <c:pt idx="3">
                  <c:v>24.7</c:v>
                </c:pt>
                <c:pt idx="9">
                  <c:v>29.94</c:v>
                </c:pt>
                <c:pt idx="21">
                  <c:v>25.22</c:v>
                </c:pt>
                <c:pt idx="44">
                  <c:v>24.9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Deal</c:v>
                </c:pt>
              </c:strCache>
            </c:strRef>
          </c:tx>
          <c:spPr>
            <a:ln>
              <a:noFill/>
            </a:ln>
          </c:spPr>
          <c:marker>
            <c:symbol val="circle"/>
            <c:size val="10"/>
            <c:spPr>
              <a:solidFill>
                <a:srgbClr val="E89B2B"/>
              </a:solidFill>
              <a:ln w="12700">
                <a:solidFill>
                  <a:srgbClr val="FFFFFF"/>
                </a:solidFill>
              </a:ln>
            </c:spPr>
          </c:marker>
          <c:cat>
            <c:strRef>
              <c:f>Sheet1!$A$2:$A$67</c:f>
              <c:strCache>
                <c:ptCount val="66"/>
                <c:pt idx="0">
                  <c:v>Feb '14</c:v>
                </c:pt>
                <c:pt idx="1">
                  <c:v/>
                </c:pt>
                <c:pt idx="2">
                  <c:v/>
                </c:pt>
                <c:pt idx="3">
                  <c:v/>
                </c:pt>
                <c:pt idx="4">
                  <c:v/>
                </c:pt>
                <c:pt idx="5">
                  <c:v/>
                </c:pt>
                <c:pt idx="6">
                  <c:v>Mar '14</c:v>
                </c:pt>
                <c:pt idx="7">
                  <c:v/>
                </c:pt>
                <c:pt idx="8">
                  <c:v/>
                </c:pt>
                <c:pt idx="9">
                  <c:v/>
                </c:pt>
                <c:pt idx="10">
                  <c:v/>
                </c:pt>
                <c:pt idx="11">
                  <c:v/>
                </c:pt>
                <c:pt idx="12">
                  <c:v>May '14</c:v>
                </c:pt>
                <c:pt idx="13">
                  <c:v/>
                </c:pt>
                <c:pt idx="14">
                  <c:v/>
                </c:pt>
                <c:pt idx="15">
                  <c:v/>
                </c:pt>
                <c:pt idx="16">
                  <c:v/>
                </c:pt>
                <c:pt idx="17">
                  <c:v/>
                </c:pt>
                <c:pt idx="18">
                  <c:v>Jun '14</c:v>
                </c:pt>
                <c:pt idx="19">
                  <c:v/>
                </c:pt>
                <c:pt idx="20">
                  <c:v/>
                </c:pt>
                <c:pt idx="21">
                  <c:v/>
                </c:pt>
                <c:pt idx="22">
                  <c:v/>
                </c:pt>
                <c:pt idx="23">
                  <c:v/>
                </c:pt>
                <c:pt idx="24">
                  <c:v>Jul '14</c:v>
                </c:pt>
                <c:pt idx="25">
                  <c:v/>
                </c:pt>
                <c:pt idx="26">
                  <c:v/>
                </c:pt>
                <c:pt idx="27">
                  <c:v/>
                </c:pt>
                <c:pt idx="28">
                  <c:v/>
                </c:pt>
                <c:pt idx="29">
                  <c:v/>
                </c:pt>
                <c:pt idx="30">
                  <c:v>Sep '14</c:v>
                </c:pt>
                <c:pt idx="31">
                  <c:v/>
                </c:pt>
                <c:pt idx="32">
                  <c:v/>
                </c:pt>
                <c:pt idx="33">
                  <c:v/>
                </c:pt>
                <c:pt idx="34">
                  <c:v/>
                </c:pt>
                <c:pt idx="35">
                  <c:v/>
                </c:pt>
                <c:pt idx="36">
                  <c:v>Oct '14</c:v>
                </c:pt>
                <c:pt idx="37">
                  <c:v/>
                </c:pt>
                <c:pt idx="38">
                  <c:v/>
                </c:pt>
                <c:pt idx="39">
                  <c:v/>
                </c:pt>
                <c:pt idx="40">
                  <c:v/>
                </c:pt>
                <c:pt idx="41">
                  <c:v/>
                </c:pt>
                <c:pt idx="42">
                  <c:v>Nov '14</c:v>
                </c:pt>
                <c:pt idx="43">
                  <c:v/>
                </c:pt>
                <c:pt idx="44">
                  <c:v/>
                </c:pt>
                <c:pt idx="45">
                  <c:v/>
                </c:pt>
                <c:pt idx="46">
                  <c:v/>
                </c:pt>
                <c:pt idx="47">
                  <c:v/>
                </c:pt>
                <c:pt idx="48">
                  <c:v>Jan '15</c:v>
                </c:pt>
                <c:pt idx="49">
                  <c:v/>
                </c:pt>
                <c:pt idx="50">
                  <c:v/>
                </c:pt>
                <c:pt idx="51">
                  <c:v/>
                </c:pt>
                <c:pt idx="52">
                  <c:v/>
                </c:pt>
                <c:pt idx="53">
                  <c:v/>
                </c:pt>
                <c:pt idx="54">
                  <c:v>Feb '15</c:v>
                </c:pt>
                <c:pt idx="55">
                  <c:v/>
                </c:pt>
                <c:pt idx="56">
                  <c:v/>
                </c:pt>
                <c:pt idx="57">
                  <c:v/>
                </c:pt>
                <c:pt idx="58">
                  <c:v/>
                </c:pt>
                <c:pt idx="59">
                  <c:v/>
                </c:pt>
                <c:pt idx="60">
                  <c:v>Apr '15</c:v>
                </c:pt>
                <c:pt idx="61">
                  <c:v/>
                </c:pt>
                <c:pt idx="62">
                  <c:v/>
                </c:pt>
                <c:pt idx="63">
                  <c:v/>
                </c:pt>
                <c:pt idx="64">
                  <c:v/>
                </c:pt>
                <c:pt idx="65">
                  <c:v/>
                </c:pt>
              </c:strCache>
            </c:strRef>
          </c:cat>
          <c:val>
            <c:numRef>
              <c:f>Sheet1!$D$2:$D$67</c:f>
              <c:numCache>
                <c:formatCode>General</c:formatCode>
                <c:ptCount val="66"/>
                <c:pt idx="60">
                  <c:v>100.55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800">
                <a:solidFill>
                  <a:srgbClr val="6B7C8F"/>
                </a:solidFill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>
          <c:spPr>
            <a:ln w="6350">
              <a:solidFill>
                <a:srgbClr val="E4EAF1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6B7C8F"/>
                </a:solidFill>
              </a:defRPr>
            </a:pPr>
          </a:p>
        </c:txPr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1000"/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88136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8FB4E0"/>
                </a:solidFill>
                <a:latin typeface="Calibri"/>
              </a:rPr>
              <a:t>BUYOUT CASE STUDY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51560"/>
            <a:ext cx="10881360" cy="13716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>
                <a:solidFill>
                  <a:srgbClr val="FFFFFF"/>
                </a:solidFill>
                <a:latin typeface="Calibri"/>
              </a:rPr>
              <a:t>Auspex Pharmaceuticals</a:t>
            </a:r>
          </a:p>
          <a:p>
            <a:pPr algn="l">
              <a:lnSpc>
                <a:spcPct val="105000"/>
              </a:lnSpc>
            </a:pPr>
            <a:r>
              <a:rPr sz="1800" b="0">
                <a:solidFill>
                  <a:srgbClr val="CADCFC"/>
                </a:solidFill>
                <a:latin typeface="Calibri"/>
              </a:rPr>
              <a:t>ASPX  ·  acquired by Teva Pharmaceutical Industries Ltd.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834640"/>
            <a:ext cx="2606040" cy="1554480"/>
          </a:xfrm>
          <a:prstGeom prst="roundRect">
            <a:avLst/>
          </a:prstGeom>
          <a:solidFill>
            <a:srgbClr val="16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59" y="2971800"/>
            <a:ext cx="2240280" cy="9144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E89B2B"/>
                </a:solidFill>
                <a:latin typeface="Calibri"/>
              </a:rPr>
              <a:t>$101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59" y="3886200"/>
            <a:ext cx="224028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9DB2C9"/>
                </a:solidFill>
                <a:latin typeface="Calibri"/>
              </a:rPr>
              <a:t>Deal price/sh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74720" y="2834640"/>
            <a:ext cx="2606040" cy="1554480"/>
          </a:xfrm>
          <a:prstGeom prst="roundRect">
            <a:avLst/>
          </a:prstGeom>
          <a:solidFill>
            <a:srgbClr val="16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0" y="2971800"/>
            <a:ext cx="2240280" cy="9144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13A88A"/>
                </a:solidFill>
                <a:latin typeface="Calibri"/>
              </a:rPr>
              <a:t>50%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0" y="3886200"/>
            <a:ext cx="224028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9DB2C9"/>
                </a:solidFill>
                <a:latin typeface="Calibri"/>
              </a:rPr>
              <a:t>Premium (unaffected)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09360" y="2834640"/>
            <a:ext cx="2606040" cy="1554480"/>
          </a:xfrm>
          <a:prstGeom prst="roundRect">
            <a:avLst/>
          </a:prstGeom>
          <a:solidFill>
            <a:srgbClr val="16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2971800"/>
            <a:ext cx="2240280" cy="9144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E8455F"/>
                </a:solidFill>
                <a:latin typeface="Calibri"/>
              </a:rPr>
              <a:t>5%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3886200"/>
            <a:ext cx="224028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9DB2C9"/>
                </a:solidFill>
                <a:latin typeface="Calibri"/>
              </a:rPr>
              <a:t>4-wk pre-ann. run-up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144000" y="2834640"/>
            <a:ext cx="2606040" cy="1554480"/>
          </a:xfrm>
          <a:prstGeom prst="roundRect">
            <a:avLst/>
          </a:prstGeom>
          <a:solidFill>
            <a:srgbClr val="16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326880" y="2971800"/>
            <a:ext cx="2240280" cy="9144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E8455F"/>
                </a:solidFill>
                <a:latin typeface="Calibri"/>
              </a:rPr>
              <a:t>11%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326880" y="3886200"/>
            <a:ext cx="224028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9DB2C9"/>
                </a:solidFill>
                <a:latin typeface="Calibri"/>
              </a:rPr>
              <a:t>% premium pre-captured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4846320"/>
            <a:ext cx="1088136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8FB4E0"/>
                </a:solidFill>
                <a:latin typeface="Calibri"/>
              </a:rPr>
              <a:t>Announced Mar 30, 2015   ·   Closed May 05, 2015   ·   Status: completed   ·   Pre-ann. volume 1.35× normal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6263640"/>
            <a:ext cx="108813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5E7790"/>
                </a:solidFill>
                <a:latin typeface="Calibri"/>
              </a:rPr>
              <a:t>Sources: SEC SC 14D-9 filing + weekly market data. Rumor = price move with no identified filing/news.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E1A2B"/>
                </a:solidFill>
                <a:latin typeface="Calibri"/>
              </a:rPr>
              <a:t>Stock price, events &amp; rumors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6012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2E78D2"/>
                </a:solidFill>
                <a:latin typeface="Calibri"/>
              </a:rPr>
              <a:t>Auspex Pharmaceuticals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457200" y="1325880"/>
          <a:ext cx="11247120" cy="43434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48640" y="5989320"/>
            <a:ext cx="1106424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E8455F"/>
                </a:solidFill>
                <a:latin typeface="Calibri"/>
              </a:rPr>
              <a:t>red = unexplained move (rumor/leak)</a:t>
            </a:r>
            <a:r>
              <a:rPr sz="1100" b="0">
                <a:solidFill>
                  <a:srgbClr val="6B7C8F"/>
                </a:solidFill>
                <a:latin typeface="Calibri"/>
              </a:rPr>
              <a:t> · </a:t>
            </a:r>
            <a:r>
              <a:rPr sz="1100" b="1">
                <a:solidFill>
                  <a:srgbClr val="13A88A"/>
                </a:solidFill>
                <a:latin typeface="Calibri"/>
              </a:rPr>
              <a:t>teal = news-driven (event)</a:t>
            </a:r>
            <a:r>
              <a:rPr sz="1100" b="0">
                <a:solidFill>
                  <a:srgbClr val="6B7C8F"/>
                </a:solidFill>
                <a:latin typeface="Calibri"/>
              </a:rPr>
              <a:t> · </a:t>
            </a:r>
            <a:r>
              <a:rPr sz="1100" b="1">
                <a:solidFill>
                  <a:srgbClr val="E89B2B"/>
                </a:solidFill>
                <a:latin typeface="Calibri"/>
              </a:rPr>
              <a:t>gold = deal announcement</a:t>
            </a:r>
          </a:p>
          <a:p>
            <a:pPr algn="l">
              <a:lnSpc>
                <a:spcPct val="100000"/>
              </a:lnSpc>
            </a:pPr>
            <a:r>
              <a:rPr sz="950" b="0">
                <a:solidFill>
                  <a:srgbClr val="6B7C8F"/>
                </a:solidFill>
                <a:latin typeface="Calibri"/>
              </a:rPr>
              <a:t>Rumor/event markers are placed one week before the reported move week (weekly data; a reported move can lag the true move by up to a week). The deal marker is on the actual announcement week.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E1A2B"/>
                </a:solidFill>
                <a:latin typeface="Calibri"/>
              </a:rPr>
              <a:t>Interaction timeline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6012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2E78D2"/>
                </a:solidFill>
                <a:latin typeface="Calibri"/>
              </a:rPr>
              <a:t>Auspex Pharmaceuticals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40080" y="1783080"/>
            <a:ext cx="10881360" cy="0"/>
          </a:xfrm>
          <a:prstGeom prst="line">
            <a:avLst/>
          </a:prstGeom>
          <a:ln w="25400">
            <a:solidFill>
              <a:srgbClr val="E4EA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10964215" y="1463039"/>
            <a:ext cx="0" cy="640081"/>
          </a:xfrm>
          <a:prstGeom prst="line">
            <a:avLst/>
          </a:prstGeom>
          <a:ln w="19050">
            <a:solidFill>
              <a:srgbClr val="E89B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0049815" y="1399032"/>
            <a:ext cx="1828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>
                <a:solidFill>
                  <a:srgbClr val="E89B2B"/>
                </a:solidFill>
              </a:rPr>
              <a:t>Announcement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11521440" y="1463039"/>
            <a:ext cx="0" cy="640081"/>
          </a:xfrm>
          <a:prstGeom prst="line">
            <a:avLst/>
          </a:prstGeom>
          <a:ln w="19050">
            <a:solidFill>
              <a:srgbClr val="2E78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10607040" y="2057400"/>
            <a:ext cx="1828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>
                <a:solidFill>
                  <a:srgbClr val="2E78D2"/>
                </a:solidFill>
              </a:rPr>
              <a:t>Close</a:t>
            </a:r>
          </a:p>
        </p:txBody>
      </p:sp>
      <p:sp>
        <p:nvSpPr>
          <p:cNvPr id="10" name="Oval 9"/>
          <p:cNvSpPr/>
          <p:nvPr/>
        </p:nvSpPr>
        <p:spPr>
          <a:xfrm>
            <a:off x="585215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4114305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9299591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9763944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181863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0383083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0646217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0847437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0862915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893872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0909351" y="1728216"/>
            <a:ext cx="109728" cy="109728"/>
          </a:xfrm>
          <a:prstGeom prst="ellipse">
            <a:avLst/>
          </a:prstGeom>
          <a:solidFill>
            <a:srgbClr val="E89B2B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1033179" y="1728216"/>
            <a:ext cx="109728" cy="109728"/>
          </a:xfrm>
          <a:prstGeom prst="ellipse">
            <a:avLst/>
          </a:prstGeom>
          <a:solidFill>
            <a:srgbClr val="E89B2B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11466576" y="1728216"/>
            <a:ext cx="109728" cy="109728"/>
          </a:xfrm>
          <a:prstGeom prst="ellipse">
            <a:avLst/>
          </a:prstGeom>
          <a:solidFill>
            <a:srgbClr val="E89B2B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" y="1929384"/>
            <a:ext cx="12801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>
                <a:solidFill>
                  <a:srgbClr val="6B7C8F"/>
                </a:solidFill>
              </a:rPr>
              <a:t>Jun 2013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241280" y="1929384"/>
            <a:ext cx="12801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6B7C8F"/>
                </a:solidFill>
              </a:rPr>
              <a:t>May 2015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260604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Jun 01, 2013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920240" y="260604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Introductory conversation between Auspex CEO Dr. Pratik…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" y="288036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Jan 15, 2014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920240" y="288036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Auspex and Teva meet at J.P. Morgan Healthcare Conference…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8640" y="315468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Dec 16, 2014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920240" y="315468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Auspex announces positive Phase 3 results for SD-809 in…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8640" y="342900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Jan 15, 2015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920240" y="342900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Teva's Dr. Michael Hayden expresses interest in a potential…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48640" y="370332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Feb 11, 2015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920240" y="370332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Company D proposes a stock-and-cash acquisition valued…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48640" y="3977639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Feb 24, 2015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920240" y="3977639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Teva submits non-binding proposal to acquire Auspex for…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48640" y="425196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Mar 13, 2015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920240" y="425196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Company D submits revised proposals, including a $3.0…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263640" y="260604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Mar 26, 2015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635240" y="260604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Teva indicates willingness to offer up to $100 per share…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263640" y="288036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Mar 27, 2015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635240" y="288036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Teva submits final proposal of $101 per share.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263640" y="315468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Mar 29, 2015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635240" y="315468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Auspex Board unanimously approves the Merger Agreement and…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263640" y="342900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Mar 30, 2015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635240" y="342900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Public announcement of the transaction before market open.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263640" y="370332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Apr 07, 2015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635240" y="370332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Teva formally commences the tender offer.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263640" y="3977639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May 05, 2015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635240" y="3977639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Tender offer expires; Teva announces completion of the…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48640" y="644652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6B7C8F"/>
                </a:solidFill>
                <a:latin typeface="Calibri"/>
              </a:rPr>
              <a:t>13 disclosed milestones, first contact → close · dates shown at the precision the filing states (month/year where imprecise).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E1A2B"/>
                </a:solidFill>
                <a:latin typeface="Calibri"/>
              </a:rPr>
              <a:t>The rumors — unexplained pre-announcement moves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6012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2E78D2"/>
                </a:solidFill>
                <a:latin typeface="Calibri"/>
              </a:rPr>
              <a:t>Auspex Pharmaceuticals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106424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2E78D2"/>
                </a:solidFill>
                <a:latin typeface="Calibri"/>
              </a:rPr>
              <a:t>5 unexplained pre-announcement move weeks (of 6 total unexplained inflections)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011680"/>
            <a:ext cx="11064240" cy="457200"/>
          </a:xfrm>
          <a:prstGeom prst="roundRect">
            <a:avLst/>
          </a:prstGeom>
          <a:solidFill>
            <a:srgbClr val="EAF1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066544"/>
            <a:ext cx="21945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B2733"/>
                </a:solidFill>
                <a:latin typeface="Calibri"/>
              </a:rPr>
              <a:t>Week ended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26080" y="2066544"/>
            <a:ext cx="23774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B2733"/>
                </a:solidFill>
                <a:latin typeface="Calibri"/>
              </a:rPr>
              <a:t>Move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0" y="2066544"/>
            <a:ext cx="5943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B2733"/>
                </a:solidFill>
                <a:latin typeface="Calibri"/>
              </a:rPr>
              <a:t>Timing vs. announcement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514600"/>
            <a:ext cx="21945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B2733"/>
                </a:solidFill>
                <a:latin typeface="Calibri"/>
              </a:rPr>
              <a:t>2014-12-19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26080" y="2514600"/>
            <a:ext cx="246888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E8455F"/>
                </a:solidFill>
                <a:latin typeface="Calibri"/>
              </a:rPr>
              <a:t>+114%  ($24.9→$53.37)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0" y="2514600"/>
            <a:ext cx="5943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No filing/news identified · 101 days before announcement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2935224"/>
            <a:ext cx="21945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B2733"/>
                </a:solidFill>
                <a:latin typeface="Calibri"/>
              </a:rPr>
              <a:t>2014-02-14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26080" y="2935224"/>
            <a:ext cx="246888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E8455F"/>
                </a:solidFill>
                <a:latin typeface="Calibri"/>
              </a:rPr>
              <a:t>+36%  ($17.65→$23.93)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0" y="2935224"/>
            <a:ext cx="5943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No filing/news identified · 409 days before announcement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3355848"/>
            <a:ext cx="21945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B2733"/>
                </a:solidFill>
                <a:latin typeface="Calibri"/>
              </a:rPr>
              <a:t>2014-04-18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926080" y="3355848"/>
            <a:ext cx="246888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6B7C8F"/>
                </a:solidFill>
                <a:latin typeface="Calibri"/>
              </a:rPr>
              <a:t>-30%  ($29.94→$20.86)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0" y="3355848"/>
            <a:ext cx="5943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No filing/news identified · 346 days before announcement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3776472"/>
            <a:ext cx="21945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B2733"/>
                </a:solidFill>
                <a:latin typeface="Calibri"/>
              </a:rPr>
              <a:t>2014-07-11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26080" y="3776472"/>
            <a:ext cx="246888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6B7C8F"/>
                </a:solidFill>
                <a:latin typeface="Calibri"/>
              </a:rPr>
              <a:t>-21%  ($25.22→$20.01)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0" y="3776472"/>
            <a:ext cx="5943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No filing/news identified · 262 days before announcement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4197096"/>
            <a:ext cx="21945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B2733"/>
                </a:solidFill>
                <a:latin typeface="Calibri"/>
              </a:rPr>
              <a:t>2014-03-07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926080" y="4197096"/>
            <a:ext cx="246888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E8455F"/>
                </a:solidFill>
                <a:latin typeface="Calibri"/>
              </a:rPr>
              <a:t>+20%  ($24.7→$29.66)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0" y="4197096"/>
            <a:ext cx="5943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No filing/news identified · 388 days before announcement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626364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6B7C8F"/>
                </a:solidFill>
                <a:latin typeface="Calibri"/>
              </a:rPr>
              <a:t>These are weeks the stock moved materially with no disclosed catalyst — the leak/rumor footprint.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E1A2B"/>
                </a:solidFill>
                <a:latin typeface="Calibri"/>
              </a:rPr>
              <a:t>The events — disclosed catalysts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6012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2E78D2"/>
                </a:solidFill>
                <a:latin typeface="Calibri"/>
              </a:rPr>
              <a:t>Auspex Pharmaceuticals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408176"/>
            <a:ext cx="1417320" cy="310896"/>
          </a:xfrm>
          <a:prstGeom prst="roundRect">
            <a:avLst/>
          </a:prstGeom>
          <a:solidFill>
            <a:srgbClr val="13A8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426464"/>
            <a:ext cx="14173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Clinical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40280" y="1371600"/>
            <a:ext cx="1371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2025-08-20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566160" y="1371600"/>
            <a:ext cx="80467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B2733"/>
                </a:solidFill>
                <a:latin typeface="Calibri"/>
              </a:rPr>
              <a:t>Global Big Data in Healthcare Market is Predicted to Cross the USD 330 Billion Mark by 2032 - DelveInsight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35508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6B7C8F"/>
                </a:solidFill>
                <a:latin typeface="Calibri"/>
              </a:rPr>
              <a:t>Catalysts tagged by keyword from the report's Company News table.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